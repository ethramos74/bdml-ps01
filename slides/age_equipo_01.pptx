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69" r:id="rId3"/>
    <p:sldId id="265" r:id="rId4"/>
    <p:sldId id="257" r:id="rId5"/>
    <p:sldId id="258" r:id="rId6"/>
    <p:sldId id="259" r:id="rId7"/>
    <p:sldId id="261" r:id="rId8"/>
    <p:sldId id="260" r:id="rId9"/>
    <p:sldId id="262" r:id="rId10"/>
    <p:sldId id="270" r:id="rId11"/>
    <p:sldId id="264" r:id="rId12"/>
    <p:sldId id="266" r:id="rId13"/>
    <p:sldId id="267" r:id="rId14"/>
    <p:sldId id="268" r:id="rId15"/>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5033" autoAdjust="0"/>
  </p:normalViewPr>
  <p:slideViewPr>
    <p:cSldViewPr snapToGrid="0">
      <p:cViewPr varScale="1">
        <p:scale>
          <a:sx n="82" d="100"/>
          <a:sy n="82" d="100"/>
        </p:scale>
        <p:origin x="87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barChart>
        <c:barDir val="col"/>
        <c:grouping val="stacked"/>
        <c:varyColors val="0"/>
        <c:ser>
          <c:idx val="0"/>
          <c:order val="0"/>
          <c:tx>
            <c:v>Cuenta propia</c:v>
          </c:tx>
          <c:spPr>
            <a:solidFill>
              <a:srgbClr val="1463AE"/>
            </a:solidFill>
          </c:spPr>
          <c:invertIfNegative val="1"/>
          <c:cat>
            <c:strRef>
              <c:f>'Chart Data'!$A$2:$A$7</c:f>
              <c:strCache>
                <c:ptCount val="6"/>
                <c:pt idx="0">
                  <c:v>18 a 25</c:v>
                </c:pt>
                <c:pt idx="1">
                  <c:v>26 a 35</c:v>
                </c:pt>
                <c:pt idx="2">
                  <c:v>36 a 45</c:v>
                </c:pt>
                <c:pt idx="3">
                  <c:v>46 a 55</c:v>
                </c:pt>
                <c:pt idx="4">
                  <c:v>56 a 65</c:v>
                </c:pt>
                <c:pt idx="5">
                  <c:v>66 o más</c:v>
                </c:pt>
              </c:strCache>
            </c:strRef>
          </c:cat>
          <c:val>
            <c:numRef>
              <c:f>'Chart Data'!$B$2:$B$7</c:f>
              <c:numCache>
                <c:formatCode>0</c:formatCode>
                <c:ptCount val="6"/>
                <c:pt idx="0">
                  <c:v>17.862361889799999</c:v>
                </c:pt>
                <c:pt idx="1">
                  <c:v>21.896371459499999</c:v>
                </c:pt>
                <c:pt idx="2">
                  <c:v>29.163918649500001</c:v>
                </c:pt>
                <c:pt idx="3">
                  <c:v>38.305086898200003</c:v>
                </c:pt>
                <c:pt idx="4">
                  <c:v>50.099138744999998</c:v>
                </c:pt>
                <c:pt idx="5">
                  <c:v>63.392665320500001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499-47AA-9972-1613773C817B}"/>
            </c:ext>
          </c:extLst>
        </c:ser>
        <c:ser>
          <c:idx val="1"/>
          <c:order val="1"/>
          <c:tx>
            <c:v>Empleado del gobierno</c:v>
          </c:tx>
          <c:spPr>
            <a:solidFill>
              <a:srgbClr val="297E76"/>
            </a:solidFill>
          </c:spPr>
          <c:invertIfNegative val="1"/>
          <c:cat>
            <c:strRef>
              <c:f>'Chart Data'!$C$2:$C$7</c:f>
              <c:strCache>
                <c:ptCount val="6"/>
                <c:pt idx="0">
                  <c:v>18 a 25</c:v>
                </c:pt>
                <c:pt idx="1">
                  <c:v>26 a 35</c:v>
                </c:pt>
                <c:pt idx="2">
                  <c:v>36 a 45</c:v>
                </c:pt>
                <c:pt idx="3">
                  <c:v>46 a 55</c:v>
                </c:pt>
                <c:pt idx="4">
                  <c:v>56 a 65</c:v>
                </c:pt>
                <c:pt idx="5">
                  <c:v>66 o más</c:v>
                </c:pt>
              </c:strCache>
            </c:strRef>
          </c:cat>
          <c:val>
            <c:numRef>
              <c:f>'Chart Data'!$D$2:$D$7</c:f>
              <c:numCache>
                <c:formatCode>0</c:formatCode>
                <c:ptCount val="6"/>
                <c:pt idx="0">
                  <c:v>1.1356201449400001</c:v>
                </c:pt>
                <c:pt idx="1">
                  <c:v>4.3276759022800002</c:v>
                </c:pt>
                <c:pt idx="2">
                  <c:v>4.1015292941999997</c:v>
                </c:pt>
                <c:pt idx="3">
                  <c:v>4.6756030409899996</c:v>
                </c:pt>
                <c:pt idx="4">
                  <c:v>5.17756904151</c:v>
                </c:pt>
                <c:pt idx="5">
                  <c:v>0.46311976042500003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499-47AA-9972-1613773C817B}"/>
            </c:ext>
          </c:extLst>
        </c:ser>
        <c:ser>
          <c:idx val="2"/>
          <c:order val="2"/>
          <c:tx>
            <c:v>Empleado domestico</c:v>
          </c:tx>
          <c:spPr>
            <a:solidFill>
              <a:srgbClr val="A6405C"/>
            </a:solidFill>
          </c:spPr>
          <c:invertIfNegative val="1"/>
          <c:cat>
            <c:strRef>
              <c:f>'Chart Data'!$E$2:$E$7</c:f>
              <c:strCache>
                <c:ptCount val="6"/>
                <c:pt idx="0">
                  <c:v>18 a 25</c:v>
                </c:pt>
                <c:pt idx="1">
                  <c:v>26 a 35</c:v>
                </c:pt>
                <c:pt idx="2">
                  <c:v>36 a 45</c:v>
                </c:pt>
                <c:pt idx="3">
                  <c:v>46 a 55</c:v>
                </c:pt>
                <c:pt idx="4">
                  <c:v>56 a 65</c:v>
                </c:pt>
                <c:pt idx="5">
                  <c:v>66 o más</c:v>
                </c:pt>
              </c:strCache>
            </c:strRef>
          </c:cat>
          <c:val>
            <c:numRef>
              <c:f>'Chart Data'!$F$2:$F$7</c:f>
              <c:numCache>
                <c:formatCode>0</c:formatCode>
                <c:ptCount val="6"/>
                <c:pt idx="0">
                  <c:v>1.89543061542</c:v>
                </c:pt>
                <c:pt idx="1">
                  <c:v>2.1767535064599999</c:v>
                </c:pt>
                <c:pt idx="2">
                  <c:v>3.62580511128</c:v>
                </c:pt>
                <c:pt idx="3">
                  <c:v>6.4375748320400001</c:v>
                </c:pt>
                <c:pt idx="4">
                  <c:v>6.6913047182599996</c:v>
                </c:pt>
                <c:pt idx="5">
                  <c:v>6.7451509123799998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0499-47AA-9972-1613773C817B}"/>
            </c:ext>
          </c:extLst>
        </c:ser>
        <c:ser>
          <c:idx val="3"/>
          <c:order val="3"/>
          <c:tx>
            <c:v>Obrero/empleado particular</c:v>
          </c:tx>
          <c:spPr>
            <a:solidFill>
              <a:srgbClr val="A5BDD5"/>
            </a:solidFill>
          </c:spPr>
          <c:invertIfNegative val="1"/>
          <c:cat>
            <c:strRef>
              <c:f>'Chart Data'!$G$2:$G$7</c:f>
              <c:strCache>
                <c:ptCount val="6"/>
                <c:pt idx="0">
                  <c:v>18 a 25</c:v>
                </c:pt>
                <c:pt idx="1">
                  <c:v>26 a 35</c:v>
                </c:pt>
                <c:pt idx="2">
                  <c:v>36 a 45</c:v>
                </c:pt>
                <c:pt idx="3">
                  <c:v>46 a 55</c:v>
                </c:pt>
                <c:pt idx="4">
                  <c:v>56 a 65</c:v>
                </c:pt>
                <c:pt idx="5">
                  <c:v>66 o más</c:v>
                </c:pt>
              </c:strCache>
            </c:strRef>
          </c:cat>
          <c:val>
            <c:numRef>
              <c:f>'Chart Data'!$H$2:$H$7</c:f>
              <c:numCache>
                <c:formatCode>0</c:formatCode>
                <c:ptCount val="6"/>
                <c:pt idx="0">
                  <c:v>78.228677696399998</c:v>
                </c:pt>
                <c:pt idx="1">
                  <c:v>69.301286121800004</c:v>
                </c:pt>
                <c:pt idx="2">
                  <c:v>59.616810370099998</c:v>
                </c:pt>
                <c:pt idx="3">
                  <c:v>45.578450992500002</c:v>
                </c:pt>
                <c:pt idx="4">
                  <c:v>32.538226366899998</c:v>
                </c:pt>
                <c:pt idx="5">
                  <c:v>19.059050616699999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0499-47AA-9972-1613773C817B}"/>
            </c:ext>
          </c:extLst>
        </c:ser>
        <c:ser>
          <c:idx val="4"/>
          <c:order val="4"/>
          <c:tx>
            <c:v>Otro</c:v>
          </c:tx>
          <c:spPr>
            <a:solidFill>
              <a:srgbClr val="DCB2BD"/>
            </a:solidFill>
          </c:spPr>
          <c:invertIfNegative val="1"/>
          <c:cat>
            <c:strRef>
              <c:f>'Chart Data'!$I$2:$I$7</c:f>
              <c:strCache>
                <c:ptCount val="6"/>
                <c:pt idx="0">
                  <c:v>18 a 25</c:v>
                </c:pt>
                <c:pt idx="1">
                  <c:v>26 a 35</c:v>
                </c:pt>
                <c:pt idx="2">
                  <c:v>36 a 45</c:v>
                </c:pt>
                <c:pt idx="3">
                  <c:v>46 a 55</c:v>
                </c:pt>
                <c:pt idx="4">
                  <c:v>56 a 65</c:v>
                </c:pt>
                <c:pt idx="5">
                  <c:v>66 o más</c:v>
                </c:pt>
              </c:strCache>
            </c:strRef>
          </c:cat>
          <c:val>
            <c:numRef>
              <c:f>'Chart Data'!$J$2:$J$7</c:f>
              <c:numCache>
                <c:formatCode>0</c:formatCode>
                <c:ptCount val="6"/>
                <c:pt idx="0">
                  <c:v>0.20506018396299999</c:v>
                </c:pt>
                <c:pt idx="1">
                  <c:v>1.8388124968800001E-2</c:v>
                </c:pt>
                <c:pt idx="2">
                  <c:v>3.1432792839299999E-2</c:v>
                </c:pt>
                <c:pt idx="3">
                  <c:v>0</c:v>
                </c:pt>
                <c:pt idx="4">
                  <c:v>0</c:v>
                </c:pt>
                <c:pt idx="5">
                  <c:v>0.29831699391900002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0499-47AA-9972-1613773C817B}"/>
            </c:ext>
          </c:extLst>
        </c:ser>
        <c:ser>
          <c:idx val="5"/>
          <c:order val="5"/>
          <c:tx>
            <c:v>Patron/empleador</c:v>
          </c:tx>
          <c:spPr>
            <a:solidFill>
              <a:srgbClr val="C1AD73"/>
            </a:solidFill>
          </c:spPr>
          <c:invertIfNegative val="1"/>
          <c:cat>
            <c:strRef>
              <c:f>'Chart Data'!$K$2:$K$7</c:f>
              <c:strCache>
                <c:ptCount val="6"/>
                <c:pt idx="0">
                  <c:v>18 a 25</c:v>
                </c:pt>
                <c:pt idx="1">
                  <c:v>26 a 35</c:v>
                </c:pt>
                <c:pt idx="2">
                  <c:v>36 a 45</c:v>
                </c:pt>
                <c:pt idx="3">
                  <c:v>46 a 55</c:v>
                </c:pt>
                <c:pt idx="4">
                  <c:v>56 a 65</c:v>
                </c:pt>
                <c:pt idx="5">
                  <c:v>66 o más</c:v>
                </c:pt>
              </c:strCache>
            </c:strRef>
          </c:cat>
          <c:val>
            <c:numRef>
              <c:f>'Chart Data'!$L$2:$L$7</c:f>
              <c:numCache>
                <c:formatCode>0</c:formatCode>
                <c:ptCount val="6"/>
                <c:pt idx="0">
                  <c:v>0.67284946954000002</c:v>
                </c:pt>
                <c:pt idx="1">
                  <c:v>2.2795248849899998</c:v>
                </c:pt>
                <c:pt idx="2">
                  <c:v>3.46050378206</c:v>
                </c:pt>
                <c:pt idx="3">
                  <c:v>5.0032842362699999</c:v>
                </c:pt>
                <c:pt idx="4">
                  <c:v>5.4937611283200001</c:v>
                </c:pt>
                <c:pt idx="5">
                  <c:v>10.041696396000001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0499-47AA-9972-1613773C817B}"/>
            </c:ext>
          </c:extLst>
        </c:ser>
        <c:dLbls>
          <c:showLegendKey val="0"/>
          <c:showVal val="0"/>
          <c:showCatName val="0"/>
          <c:showSerName val="0"/>
          <c:showPercent val="0"/>
          <c:showBubbleSize val="0"/>
        </c:dLbls>
        <c:gapWidth val="7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425">
                <a:solidFill>
                  <a:srgbClr val="666666"/>
                </a:solidFill>
                <a:latin typeface="Arial"/>
                <a:ea typeface="Arial"/>
                <a:cs typeface="Arial"/>
              </a:defRPr>
            </a:pPr>
            <a:endParaRPr lang="es-CO"/>
          </a:p>
        </c:txPr>
        <c:crossAx val="48672768"/>
        <c:crosses val="autoZero"/>
        <c:auto val="1"/>
        <c:lblAlgn val="ctr"/>
        <c:lblOffset val="100"/>
        <c:noMultiLvlLbl val="1"/>
      </c:catAx>
      <c:valAx>
        <c:axId val="48672768"/>
        <c:scaling>
          <c:orientation val="minMax"/>
        </c:scaling>
        <c:delete val="0"/>
        <c:axPos val="l"/>
        <c:majorGridlines>
          <c:spPr>
            <a:ln w="5715">
              <a:solidFill>
                <a:srgbClr val="E6EBEF"/>
              </a:solidFill>
            </a:ln>
          </c:spPr>
        </c:majorGridlines>
        <c:title>
          <c:tx>
            <c:rich>
              <a:bodyPr/>
              <a:lstStyle/>
              <a:p>
                <a:r>
                  <a:rPr lang="es-CO">
                    <a:latin typeface="Arial"/>
                    <a:ea typeface="Arial"/>
                    <a:cs typeface="Arial"/>
                  </a:rPr>
                  <a:t>Porcentaje del grupo</a:t>
                </a:r>
              </a:p>
            </c:rich>
          </c:tx>
          <c:overlay val="0"/>
        </c:title>
        <c:numFmt formatCode="0" sourceLinked="1"/>
        <c:majorTickMark val="none"/>
        <c:minorTickMark val="none"/>
        <c:tickLblPos val="low"/>
        <c:spPr>
          <a:ln w="9525">
            <a:solidFill>
              <a:srgbClr val="D4D4D4"/>
            </a:solidFill>
            <a:prstDash val="solid"/>
          </a:ln>
        </c:spPr>
        <c:txPr>
          <a:bodyPr anchorCtr="1"/>
          <a:lstStyle/>
          <a:p>
            <a:pPr>
              <a:defRPr sz="1425">
                <a:solidFill>
                  <a:srgbClr val="666666"/>
                </a:solidFill>
                <a:latin typeface="Arial"/>
                <a:ea typeface="Arial"/>
                <a:cs typeface="Arial"/>
              </a:defRPr>
            </a:pPr>
            <a:endParaRPr lang="es-CO"/>
          </a:p>
        </c:txPr>
        <c:crossAx val="48650112"/>
        <c:crosses val="autoZero"/>
        <c:crossBetween val="between"/>
      </c:valAx>
    </c:plotArea>
    <c:legend>
      <c:legendPos val="b"/>
      <c:overlay val="0"/>
      <c:txPr>
        <a:bodyPr anchorCtr="1"/>
        <a:lstStyle/>
        <a:p>
          <a:pPr>
            <a:defRPr sz="1350">
              <a:latin typeface="Arial"/>
              <a:ea typeface="Arial"/>
              <a:cs typeface="Arial"/>
            </a:defRPr>
          </a:pPr>
          <a:endParaRPr lang="es-CO"/>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Recorrido</a:t>
            </a:r>
            <a:r>
              <a:rPr dirty="0"/>
              <a:t> principal. Tiempo </a:t>
            </a:r>
            <a:r>
              <a:rPr dirty="0" err="1"/>
              <a:t>orientativo</a:t>
            </a:r>
            <a:r>
              <a:rPr dirty="0"/>
              <a:t>: 1 a 2 </a:t>
            </a:r>
            <a:r>
              <a:rPr dirty="0" err="1"/>
              <a:t>minutos</a:t>
            </a:r>
            <a:r>
              <a:rPr dirty="0"/>
              <a:t>.</a:t>
            </a:r>
          </a:p>
          <a:p>
            <a:endParaRPr dirty="0"/>
          </a:p>
          <a:p>
            <a:r>
              <a:rPr dirty="0" err="1"/>
              <a:t>Abrir</a:t>
            </a:r>
            <a:r>
              <a:rPr dirty="0"/>
              <a:t> con el </a:t>
            </a:r>
            <a:r>
              <a:rPr dirty="0" err="1"/>
              <a:t>hallazgo</a:t>
            </a:r>
            <a:r>
              <a:rPr dirty="0"/>
              <a:t>. El </a:t>
            </a:r>
            <a:r>
              <a:rPr dirty="0" err="1"/>
              <a:t>máximo</a:t>
            </a:r>
            <a:r>
              <a:rPr dirty="0"/>
              <a:t> de la curva </a:t>
            </a:r>
            <a:r>
              <a:rPr dirty="0" err="1"/>
              <a:t>ajustada</a:t>
            </a:r>
            <a:r>
              <a:rPr dirty="0"/>
              <a:t> </a:t>
            </a:r>
            <a:r>
              <a:rPr dirty="0" err="1"/>
              <a:t>ocurre</a:t>
            </a:r>
            <a:r>
              <a:rPr dirty="0"/>
              <a:t> </a:t>
            </a:r>
            <a:r>
              <a:rPr dirty="0" err="1"/>
              <a:t>cerca</a:t>
            </a:r>
            <a:r>
              <a:rPr dirty="0"/>
              <a:t> de </a:t>
            </a:r>
            <a:r>
              <a:rPr dirty="0" err="1"/>
              <a:t>los</a:t>
            </a:r>
            <a:r>
              <a:rPr dirty="0"/>
              <a:t> 41 </a:t>
            </a:r>
            <a:r>
              <a:rPr dirty="0" err="1"/>
              <a:t>años</a:t>
            </a:r>
            <a:r>
              <a:rPr dirty="0"/>
              <a:t>. Al </a:t>
            </a:r>
            <a:r>
              <a:rPr dirty="0" err="1"/>
              <a:t>comparar</a:t>
            </a:r>
            <a:r>
              <a:rPr dirty="0"/>
              <a:t> personas con horas y </a:t>
            </a:r>
            <a:r>
              <a:rPr dirty="0" err="1"/>
              <a:t>vínculo</a:t>
            </a:r>
            <a:r>
              <a:rPr dirty="0"/>
              <a:t> </a:t>
            </a:r>
            <a:r>
              <a:rPr dirty="0" err="1"/>
              <a:t>comunes</a:t>
            </a:r>
            <a:r>
              <a:rPr dirty="0"/>
              <a:t> se </a:t>
            </a:r>
            <a:r>
              <a:rPr dirty="0" err="1"/>
              <a:t>desplaza</a:t>
            </a:r>
            <a:r>
              <a:rPr dirty="0"/>
              <a:t> </a:t>
            </a:r>
            <a:r>
              <a:rPr dirty="0" err="1"/>
              <a:t>casi</a:t>
            </a:r>
            <a:r>
              <a:rPr dirty="0"/>
              <a:t> tres </a:t>
            </a:r>
            <a:r>
              <a:rPr dirty="0" err="1"/>
              <a:t>años</a:t>
            </a:r>
            <a:r>
              <a:rPr dirty="0"/>
              <a:t>. Son </a:t>
            </a:r>
            <a:r>
              <a:rPr dirty="0" err="1"/>
              <a:t>asociaciones</a:t>
            </a:r>
            <a:r>
              <a:rPr dirty="0"/>
              <a:t> </a:t>
            </a:r>
            <a:r>
              <a:rPr dirty="0" err="1"/>
              <a:t>en</a:t>
            </a:r>
            <a:r>
              <a:rPr dirty="0"/>
              <a:t> un corte transversal, no el </a:t>
            </a:r>
            <a:r>
              <a:rPr dirty="0" err="1"/>
              <a:t>crecimiento</a:t>
            </a:r>
            <a:r>
              <a:rPr dirty="0"/>
              <a:t> de </a:t>
            </a:r>
            <a:r>
              <a:rPr dirty="0" err="1"/>
              <a:t>una</a:t>
            </a:r>
            <a:r>
              <a:rPr dirty="0"/>
              <a:t> </a:t>
            </a:r>
            <a:r>
              <a:rPr dirty="0" err="1"/>
              <a:t>misma</a:t>
            </a:r>
            <a:r>
              <a:rPr dirty="0"/>
              <a:t> persona.</a:t>
            </a:r>
          </a:p>
          <a:p>
            <a:endParaRPr dirty="0"/>
          </a:p>
          <a:p>
            <a:r>
              <a:rPr dirty="0"/>
              <a:t>Fuentes:</a:t>
            </a:r>
          </a:p>
          <a:p>
            <a:r>
              <a:rPr dirty="0"/>
              <a:t>https://github.com/SebastianVela/BigData_Taller_1/blob/37b80b9fdfadaed31cada47698c354f0405120f7/punto1_perfil_edad_ingreso/salidas/edad_pico_intervalos.csv</a:t>
            </a:r>
          </a:p>
          <a:p>
            <a:endParaRPr dirty="0"/>
          </a:p>
          <a:p>
            <a:r>
              <a:rPr dirty="0"/>
              <a:t>Los </a:t>
            </a:r>
            <a:r>
              <a:rPr dirty="0" err="1"/>
              <a:t>totales</a:t>
            </a:r>
            <a:r>
              <a:rPr dirty="0"/>
              <a:t> suman </a:t>
            </a:r>
            <a:r>
              <a:rPr dirty="0" err="1"/>
              <a:t>fex_c</a:t>
            </a:r>
            <a:r>
              <a:rPr dirty="0"/>
              <a:t> original. El IC del total no </a:t>
            </a:r>
            <a:r>
              <a:rPr dirty="0" err="1"/>
              <a:t>está</a:t>
            </a:r>
            <a:r>
              <a:rPr dirty="0"/>
              <a:t> disponible </a:t>
            </a:r>
            <a:r>
              <a:rPr dirty="0" err="1"/>
              <a:t>por</a:t>
            </a:r>
            <a:r>
              <a:rPr dirty="0"/>
              <a:t> </a:t>
            </a:r>
            <a:r>
              <a:rPr dirty="0" err="1"/>
              <a:t>información</a:t>
            </a:r>
            <a:r>
              <a:rPr dirty="0"/>
              <a:t> </a:t>
            </a:r>
            <a:r>
              <a:rPr dirty="0" err="1"/>
              <a:t>insuficiente</a:t>
            </a:r>
            <a:r>
              <a:rPr dirty="0"/>
              <a:t> del </a:t>
            </a:r>
            <a:r>
              <a:rPr dirty="0" err="1"/>
              <a:t>diseño</a:t>
            </a:r>
            <a:r>
              <a:rPr dirty="0"/>
              <a:t>. Los IC de </a:t>
            </a:r>
            <a:r>
              <a:rPr dirty="0" err="1"/>
              <a:t>estimadores</a:t>
            </a:r>
            <a:r>
              <a:rPr dirty="0"/>
              <a:t> </a:t>
            </a:r>
            <a:r>
              <a:rPr dirty="0" err="1"/>
              <a:t>usan</a:t>
            </a:r>
            <a:r>
              <a:rPr dirty="0"/>
              <a:t> la </a:t>
            </a:r>
            <a:r>
              <a:rPr dirty="0" err="1"/>
              <a:t>aproximación</a:t>
            </a:r>
            <a:r>
              <a:rPr dirty="0"/>
              <a:t> </a:t>
            </a:r>
            <a:r>
              <a:rPr dirty="0" err="1"/>
              <a:t>por</a:t>
            </a:r>
            <a:r>
              <a:rPr dirty="0"/>
              <a:t> personas del </a:t>
            </a:r>
            <a:r>
              <a:rPr dirty="0" err="1"/>
              <a:t>cuaderno</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Anexo de consulta.</a:t>
            </a:r>
          </a:p>
          <a:p>
            <a:endParaRPr/>
          </a:p>
          <a:p>
            <a:r>
              <a:t>Los diez bloques contienen 32.177 registros. Se parte de ocupados de 18 años o más y se exige ingreso positivo observado para tomar logaritmos. No se imputan ingresos ni se recortan extremos en la muestra principal. Los factores suman la población cubierta, sin corregir automáticamente la no respuesta.</a:t>
            </a:r>
          </a:p>
          <a:p>
            <a:endParaRPr/>
          </a:p>
          <a:p>
            <a:r>
              <a:t>Fuentes:</a:t>
            </a:r>
          </a:p>
          <a:p>
            <a:r>
              <a:t>https://github.com/SebastianVela/BigData_Taller_1/blob/37b80b9fdfadaed31cada47698c354f0405120f7/datos/auditoria/poblacion_ambitos.csv</a:t>
            </a:r>
          </a:p>
          <a:p>
            <a:endParaRPr/>
          </a:p>
          <a:p>
            <a:r>
              <a:t>Los totales suman fex_c original. El IC del total no está disponible por información insuficiente del diseño. Los IC de estimadores usan la aproximación por personas del cuaderno.</a:t>
            </a:r>
          </a:p>
          <a:p>
            <a:endParaRPr/>
          </a:p>
          <a:p>
            <a:r>
              <a:t>LaTeX de referencia:</a:t>
            </a:r>
          </a:p>
          <a:p>
            <a:r>
              <a:t>n=\sum_i 1,\quad\hat N=\sum_i w_i,\quad w_i=\mathrm{fex\_c}_i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La media ponderada se calcula por edad. Se muestran edades con al menos 20 registros, con IC puntuales de la media. Los intervalos no son predicciones individuales ni bandas simultáneas. La dispersión en edades avanzadas requiere cautela.</a:t>
            </a:r>
          </a:p>
          <a:p>
            <a:endParaRPr/>
          </a:p>
          <a:p>
            <a:r>
              <a:t>Fuentes:</a:t>
            </a:r>
          </a:p>
          <a:p>
            <a:r>
              <a:t>https://github.com/SebastianVela/BigData_Taller_1/blob/37b80b9fdfadaed31cada47698c354f0405120f7/punto1_perfil_edad_ingreso/salidas/medias_edad.csv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Definir y como log del ingreso laboral mensual, A como edad y w como fex_c. El factor expande la muestra a la población cubierta de Bogotá. Una curvatura negativa y un máximo interior permiten hablar de pico. El modelo no separa experiencia, cohorte y selección laboral.</a:t>
            </a:r>
          </a:p>
          <a:p>
            <a:endParaRPr/>
          </a:p>
          <a:p>
            <a:r>
              <a:t>Fuentes:</a:t>
            </a:r>
          </a:p>
          <a:p>
            <a:r>
              <a:t>https://github.com/SebastianVela/BigData_Taller_1/blob/37b80b9fdfadaed31cada47698c354f0405120f7/punto1_perfil_edad_ingreso/salidas/edad_pico_intervalos.csv</a:t>
            </a:r>
          </a:p>
          <a:p>
            <a:endParaRPr/>
          </a:p>
          <a:p>
            <a:r>
              <a:t>Los totales suman fex_c original. El IC del total no está disponible por información insuficiente del diseño. Los IC de estimadores usan la aproximación por personas del cuaderno.</a:t>
            </a:r>
          </a:p>
          <a:p>
            <a:endParaRPr/>
          </a:p>
          <a:p>
            <a:r>
              <a:t>LaTeX de referencia:</a:t>
            </a:r>
          </a:p>
          <a:p>
            <a:r>
              <a:t>y_i=\beta_0+\beta_1 A_i+\beta_2 A_i^2+u_i</a:t>
            </a:r>
          </a:p>
          <a:p>
            <a:endParaRPr/>
          </a:p>
          <a:p>
            <a:r>
              <a:t>LaTeX de referencia:</a:t>
            </a:r>
          </a:p>
          <a:p>
            <a:r>
              <a:t>\hat\beta=\arg\min_b\sum_i w_i(y_i-x_i'b)^2,\quad w_i=\mathrm{fex\_c}_i</a:t>
            </a:r>
          </a:p>
          <a:p>
            <a:endParaRPr/>
          </a:p>
          <a:p>
            <a:r>
              <a:t>LaTeX de referencia:</a:t>
            </a:r>
          </a:p>
          <a:p>
            <a:r>
              <a:t>\frac{\partial\hat y}{\partial A}=\hat\beta_1+2\hat\beta_2 A,\quad \hat A^*=-\frac{\hat\beta_1}{2\hat\beta_2}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Repetir 2.000 remuestras de filas, con reemplazo y probabilidad uniforme. Cada fila conserva su fex_c. Reestimar el modelo y guardar el pico. Semilla 2026. Ninguna réplica perdió la concavidad. La lógica es la del paquete boot del curso, implementada en Python. Esta aproximación no reproduce el diseño completo de la encuesta.</a:t>
            </a:r>
          </a:p>
          <a:p>
            <a:endParaRPr/>
          </a:p>
          <a:p>
            <a:r>
              <a:t>Fuentes:</a:t>
            </a:r>
          </a:p>
          <a:p>
            <a:r>
              <a:t>https://github.com/SebastianVela/BigData_Taller_1/blob/37b80b9fdfadaed31cada47698c354f0405120f7/punto1_perfil_edad_ingreso/salidas/edad_pico_intervalos.csv</a:t>
            </a:r>
          </a:p>
          <a:p>
            <a:r>
              <a:t>https://github.com/ignaciomsarmiento/BDML_2026_20/blob/main/Lecture03/Lecture_03_bootstrap.ipynb</a:t>
            </a:r>
          </a:p>
          <a:p>
            <a:endParaRPr/>
          </a:p>
          <a:p>
            <a:r>
              <a:t>Los totales suman fex_c original. El IC del total no está disponible por información insuficiente del diseño. Los IC de estimadores usan la aproximación por personas del cuaderno.</a:t>
            </a:r>
          </a:p>
          <a:p>
            <a:endParaRPr/>
          </a:p>
          <a:p>
            <a:r>
              <a:t>LaTeX de referencia:</a:t>
            </a:r>
          </a:p>
          <a:p>
            <a:r>
              <a:t>IC_{95\%}^{\mathrm{percentil}}=[Q_{0.025}(\hat A^{*(b)}),Q_{0.975}(\hat A^{*(b)})]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Las predicciones condicionales fijan horas y dummies de vínculo en sus medias ponderadas. Esta decisión cambia el nivel de comparación, no la fórmula del pico. La diferencia entre curvas no se presenta como una descomposición exacta.</a:t>
            </a:r>
          </a:p>
          <a:p>
            <a:endParaRPr/>
          </a:p>
          <a:p>
            <a:r>
              <a:t>Fuentes:</a:t>
            </a:r>
          </a:p>
          <a:p>
            <a:r>
              <a:t>https://github.com/SebastianVela/BigData_Taller_1/blob/37b80b9fdfadaed31cada47698c354f0405120f7/punto1_perfil_edad_ingreso/salidas/perfiles_predichos.csv</a:t>
            </a:r>
          </a:p>
          <a:p>
            <a:endParaRPr/>
          </a:p>
          <a:p>
            <a:r>
              <a:t>Los totales suman fex_c original. El IC del total no está disponible por información insuficiente del diseño. Los IC de estimadores usan la aproximación por personas del cuaderno.</a:t>
            </a:r>
          </a:p>
          <a:p>
            <a:endParaRPr/>
          </a:p>
          <a:p>
            <a:r>
              <a:t>LaTeX de referencia:</a:t>
            </a:r>
          </a:p>
          <a:p>
            <a:r>
              <a:t>y_i=\beta_0+\beta_1 A_i+\beta_2 A_i^2+\gamma H_i+\sum_k\delta_k R_{ik}+u_i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El vínculo laboral puede alterar el perfil mensual por composición del empleo. Cada columna suma 100% de la población representada de su grupo. Las personas representadas por grupo están en la tabla fuente. Las horas también entran al modelo condicional, como exige el enunciado.</a:t>
            </a:r>
          </a:p>
          <a:p>
            <a:endParaRPr/>
          </a:p>
          <a:p>
            <a:r>
              <a:t>Fuentes:</a:t>
            </a:r>
          </a:p>
          <a:p>
            <a:r>
              <a:t>https://github.com/SebastianVela/BigData_Taller_1/blob/37b80b9fdfadaed31cada47698c354f0405120f7/punto1_perfil_edad_ingreso/salidas/poblacion_edad_empleo.csv</a:t>
            </a:r>
          </a:p>
          <a:p>
            <a:r>
              <a:t>https://github.com/SebastianVela/BigData_Taller_1/blob/37b80b9fdfadaed31cada47698c354f0405120f7/punto1_perfil_edad_ingreso/salidas/horas_edad.csv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Comparación en la misma muestra. EE analíticos HC1 entre paréntesis. La tabla incluye el intercepto, edad, edad al cuadrado y horas. Los coeficientes de categorías de empleo aparecen en el anexo. R cuadrado y RMSE son ponderados e internos a la muestra.</a:t>
            </a:r>
          </a:p>
          <a:p>
            <a:endParaRPr/>
          </a:p>
          <a:p>
            <a:r>
              <a:t>Fuentes:</a:t>
            </a:r>
          </a:p>
          <a:p>
            <a:r>
              <a:t>https://github.com/SebastianVela/BigData_Taller_1/blob/37b80b9fdfadaed31cada47698c354f0405120f7/punto1_perfil_edad_ingreso/salidas/comparacion_regresiones.csv</a:t>
            </a:r>
          </a:p>
          <a:p>
            <a:r>
              <a:t>https://github.com/SebastianVela/BigData_Taller_1/blob/37b80b9fdfadaed31cada47698c354f0405120f7/punto1_perfil_edad_ingreso/salidas/edad_pico_intervalos.csv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1406C-1A70-C202-0BDE-9CBAF257F3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275B5F-8196-F01F-D9AA-ABCD6312D9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DC6D7-9ACB-2FCC-1610-BE45842261A9}"/>
              </a:ext>
            </a:extLst>
          </p:cNvPr>
          <p:cNvSpPr>
            <a:spLocks noGrp="1"/>
          </p:cNvSpPr>
          <p:nvPr>
            <p:ph type="body" idx="1"/>
          </p:nvPr>
        </p:nvSpPr>
        <p:spPr/>
        <p:txBody>
          <a:bodyPr/>
          <a:lstStyle/>
          <a:p>
            <a:r>
              <a:t>Recorrido principal. Tiempo orientativo: 1 a 2 minutos.</a:t>
            </a:r>
          </a:p>
          <a:p>
            <a:endParaRPr/>
          </a:p>
          <a:p>
            <a:r>
              <a:t>Comparación en la misma muestra. EE analíticos HC1 entre paréntesis. La tabla incluye el intercepto, edad, edad al cuadrado y horas. Los coeficientes de categorías de empleo aparecen en el anexo. R cuadrado y RMSE son ponderados e internos a la muestra.</a:t>
            </a:r>
          </a:p>
          <a:p>
            <a:endParaRPr/>
          </a:p>
          <a:p>
            <a:r>
              <a:t>Fuentes:</a:t>
            </a:r>
          </a:p>
          <a:p>
            <a:r>
              <a:t>https://github.com/SebastianVela/BigData_Taller_1/blob/37b80b9fdfadaed31cada47698c354f0405120f7/punto1_perfil_edad_ingreso/salidas/comparacion_regresiones.csv</a:t>
            </a:r>
          </a:p>
          <a:p>
            <a:r>
              <a:t>https://github.com/SebastianVela/BigData_Taller_1/blob/37b80b9fdfadaed31cada47698c354f0405120f7/punto1_perfil_edad_ingreso/salidas/edad_pico_intervalos.csv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a:extLst>
              <a:ext uri="{FF2B5EF4-FFF2-40B4-BE49-F238E27FC236}">
                <a16:creationId xmlns:a16="http://schemas.microsoft.com/office/drawing/2014/main" id="{AB80CB2E-C257-9201-A786-BBBE99B639F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5919239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Cerrar la exposición principal. El perfil es coherente con capital humano, pero un corte transversal mezcla cohortes y selección en empleo. Una discrepancia individual puede reflejar heterogeneidad o ruido. Para uso tributario se necesita corroboración y validación fuera de muestra.</a:t>
            </a:r>
          </a:p>
          <a:p>
            <a:endParaRPr/>
          </a:p>
          <a:p>
            <a:r>
              <a:t>Fuentes:</a:t>
            </a:r>
          </a:p>
          <a:p>
            <a:r>
              <a:t>https://github.com/SebastianVela/BigData_Taller_1/blob/37b80b9fdfadaed31cada47698c354f0405120f7/punto1_perfil_edad_ingreso/salidas/edad_pico_intervalos.csv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Anexo de consulta.</a:t>
            </a:r>
          </a:p>
          <a:p>
            <a:endParaRPr/>
          </a:p>
          <a:p>
            <a:r>
              <a:t>El gradiente se evalúa en los coeficientes estimados. V es la matriz HC1 ponderada. El intervalo normal aproxima la distribución del cociente. Puede ser poco fiable si la curvatura está cerca de cero. Aquí se complementa con bootstrap percentil.</a:t>
            </a:r>
          </a:p>
          <a:p>
            <a:endParaRPr/>
          </a:p>
          <a:p>
            <a:r>
              <a:t>Fuentes:</a:t>
            </a:r>
          </a:p>
          <a:p>
            <a:r>
              <a:t>https://github.com/SebastianVela/BigData_Taller_1/blob/37b80b9fdfadaed31cada47698c354f0405120f7/punto1_perfil_edad_ingreso/salidas/edad_pico_intervalos.csv</a:t>
            </a:r>
          </a:p>
          <a:p>
            <a:endParaRPr/>
          </a:p>
          <a:p>
            <a:r>
              <a:t>Los totales suman fex_c original. El IC del total no está disponible por información insuficiente del diseño. Los IC de estimadores usan la aproximación por personas del cuaderno.</a:t>
            </a:r>
          </a:p>
          <a:p>
            <a:endParaRPr/>
          </a:p>
          <a:p>
            <a:r>
              <a:t>LaTeX de referencia:</a:t>
            </a:r>
          </a:p>
          <a:p>
            <a:r>
              <a:t>g(\beta_1,\beta_2)=-\frac{\beta_1}{2\beta_2},\quad\nabla g=\left(-\frac{1}{2\beta_2},\frac{\beta_1}{2\beta_2^2}\right)'</a:t>
            </a:r>
          </a:p>
          <a:p>
            <a:endParaRPr/>
          </a:p>
          <a:p>
            <a:r>
              <a:t>LaTeX de referencia:</a:t>
            </a:r>
          </a:p>
          <a:p>
            <a:r>
              <a:t>EE_{\mathrm{delta}}=\sqrt{\nabla g'\hat V_{\mathrm{HC1}}\nabla g}</a:t>
            </a:r>
          </a:p>
          <a:p>
            <a:endParaRPr/>
          </a:p>
          <a:p>
            <a:r>
              <a:t>LaTeX de referencia:</a:t>
            </a:r>
          </a:p>
          <a:p>
            <a:r>
              <a:t>IC_{95\%}=\hat A^*\pm 1.96\,EE_{\mathrm{delta}}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Anexo de consulta.</a:t>
            </a:r>
          </a:p>
          <a:p>
            <a:endParaRPr/>
          </a:p>
          <a:p>
            <a:r>
              <a:t>Los indicadores de vínculo se interpretan respecto a la categoría omitida. Estos coeficientes ajustan diferencias de nivel. El pico depende de los coeficientes de edad y edad al cuadrado.</a:t>
            </a:r>
          </a:p>
          <a:p>
            <a:endParaRPr/>
          </a:p>
          <a:p>
            <a:r>
              <a:t>Fuentes:</a:t>
            </a:r>
          </a:p>
          <a:p>
            <a:r>
              <a:t>https://github.com/SebastianVela/BigData_Taller_1/blob/37b80b9fdfadaed31cada47698c354f0405120f7/punto1_perfil_edad_ingreso/salidas/coeficientes_condicional.csv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Anexo de consulta.</a:t>
            </a:r>
          </a:p>
          <a:p>
            <a:endParaRPr/>
          </a:p>
          <a:p>
            <a:r>
              <a:t>Cada diapositiva incluye enlaces a tablas de precisión completa en sus notas. Todos los integrantes deben poder defender la muestra, el estimador, los intervalos y la interpretación. Recorrido principal: diapositivas 1 a 9, aproximadamente 15 minutos.</a:t>
            </a:r>
          </a:p>
          <a:p>
            <a:endParaRPr/>
          </a:p>
          <a:p>
            <a:r>
              <a:t>Fuentes:</a:t>
            </a:r>
          </a:p>
          <a:p>
            <a:r>
              <a:t>https://github.com/SebastianVela/BigData_Taller_1/blob/37b80b9fdfadaed31cada47698c354f0405120f7/punto1_perfil_edad_ingreso/salidas/edad_pico_intervalos.csv</a:t>
            </a:r>
          </a:p>
          <a:p>
            <a:r>
              <a:t>https://github.com/ignaciomsarmiento/BDML_2026_20</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B6E685AF-7B3F-40AA-8CA3-4009E9AF62DC}"/>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Perfil edad-ingreso en Bogotá: resultados</a:t>
            </a:r>
          </a:p>
        </p:txBody>
      </p:sp>
      <p:sp>
        <p:nvSpPr>
          <p:cNvPr id="2" name="Rectángulo 1">
            <a:extLst>
              <a:ext uri="{FF2B5EF4-FFF2-40B4-BE49-F238E27FC236}">
                <a16:creationId xmlns:a16="http://schemas.microsoft.com/office/drawing/2014/main" id="{0CA4EBB0-9ABA-4924-9834-D96C4BE311D5}"/>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n = 14.764. Población representada ≈ 3.686.676 personas. Fuente: GEIH 2018, Bogotá.</a:t>
            </a:r>
          </a:p>
        </p:txBody>
      </p:sp>
      <p:sp>
        <p:nvSpPr>
          <p:cNvPr id="3" name="Rectángulo 2">
            <a:extLst>
              <a:ext uri="{FF2B5EF4-FFF2-40B4-BE49-F238E27FC236}">
                <a16:creationId xmlns:a16="http://schemas.microsoft.com/office/drawing/2014/main" id="{5B8906B2-F67F-469F-BE18-33CDFADA4157}"/>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1</a:t>
            </a:r>
          </a:p>
        </p:txBody>
      </p:sp>
      <p:sp>
        <p:nvSpPr>
          <p:cNvPr id="4" name="Rectángulo 3">
            <a:extLst>
              <a:ext uri="{FF2B5EF4-FFF2-40B4-BE49-F238E27FC236}">
                <a16:creationId xmlns:a16="http://schemas.microsoft.com/office/drawing/2014/main" id="{215A6416-2443-4A2C-837E-EFC5CA4A53E8}"/>
              </a:ext>
            </a:extLst>
          </p:cNvPr>
          <p:cNvSpPr>
            <a:spLocks noGrp="1"/>
          </p:cNvSpPr>
          <p:nvPr/>
        </p:nvSpPr>
        <p:spPr>
          <a:xfrm>
            <a:off x="685800" y="1476375"/>
            <a:ext cx="5095875" cy="904875"/>
          </a:xfrm>
          <a:prstGeom prst="rect">
            <a:avLst/>
          </a:prstGeom>
          <a:noFill/>
          <a:ln w="0">
            <a:noFill/>
          </a:ln>
        </p:spPr>
        <p:txBody>
          <a:bodyPr>
            <a:noAutofit/>
          </a:bodyPr>
          <a:lstStyle/>
          <a:p>
            <a:pPr>
              <a:defRPr sz="5100" b="0">
                <a:solidFill>
                  <a:srgbClr val="1463AE"/>
                </a:solidFill>
                <a:latin typeface="Arial"/>
                <a:ea typeface="Arial"/>
                <a:cs typeface="Arial"/>
              </a:defRPr>
            </a:pPr>
            <a:r>
              <a:rPr sz="5100" b="0">
                <a:solidFill>
                  <a:srgbClr val="1463AE"/>
                </a:solidFill>
                <a:latin typeface="Arial"/>
                <a:ea typeface="Arial"/>
                <a:cs typeface="Arial"/>
              </a:rPr>
              <a:t>40,72 años</a:t>
            </a:r>
          </a:p>
        </p:txBody>
      </p:sp>
      <p:sp>
        <p:nvSpPr>
          <p:cNvPr id="5" name="Rectángulo 4">
            <a:extLst>
              <a:ext uri="{FF2B5EF4-FFF2-40B4-BE49-F238E27FC236}">
                <a16:creationId xmlns:a16="http://schemas.microsoft.com/office/drawing/2014/main" id="{DC4ED622-A36F-44BD-9605-663D3017094F}"/>
              </a:ext>
            </a:extLst>
          </p:cNvPr>
          <p:cNvSpPr>
            <a:spLocks noGrp="1"/>
          </p:cNvSpPr>
          <p:nvPr/>
        </p:nvSpPr>
        <p:spPr>
          <a:xfrm>
            <a:off x="685800" y="2524125"/>
            <a:ext cx="5095875" cy="952500"/>
          </a:xfrm>
          <a:prstGeom prst="rect">
            <a:avLst/>
          </a:prstGeom>
          <a:noFill/>
          <a:ln w="0">
            <a:noFill/>
          </a:ln>
        </p:spPr>
        <p:txBody>
          <a:bodyPr>
            <a:noAutofit/>
          </a:bodyPr>
          <a:lstStyle/>
          <a:p>
            <a:pPr>
              <a:defRPr sz="2100" b="0">
                <a:solidFill>
                  <a:srgbClr val="172F42"/>
                </a:solidFill>
                <a:latin typeface="Arial"/>
                <a:ea typeface="Arial"/>
                <a:cs typeface="Arial"/>
              </a:defRPr>
            </a:pPr>
            <a:r>
              <a:rPr sz="2100" b="0">
                <a:solidFill>
                  <a:srgbClr val="172F42"/>
                </a:solidFill>
                <a:latin typeface="Arial"/>
                <a:ea typeface="Arial"/>
                <a:cs typeface="Arial"/>
              </a:rPr>
              <a:t>Pico incondicional</a:t>
            </a:r>
          </a:p>
          <a:p>
            <a:pPr>
              <a:defRPr sz="2100" b="0">
                <a:solidFill>
                  <a:srgbClr val="172F42"/>
                </a:solidFill>
                <a:latin typeface="Arial"/>
                <a:ea typeface="Arial"/>
                <a:cs typeface="Arial"/>
              </a:defRPr>
            </a:pPr>
            <a:r>
              <a:rPr sz="2100" b="0">
                <a:solidFill>
                  <a:srgbClr val="172F42"/>
                </a:solidFill>
                <a:latin typeface="Arial"/>
                <a:ea typeface="Arial"/>
                <a:cs typeface="Arial"/>
              </a:rPr>
              <a:t>IC 95% percentil: [40,19, 41,27]</a:t>
            </a:r>
          </a:p>
        </p:txBody>
      </p:sp>
      <p:sp>
        <p:nvSpPr>
          <p:cNvPr id="6" name="Rectángulo 5">
            <a:extLst>
              <a:ext uri="{FF2B5EF4-FFF2-40B4-BE49-F238E27FC236}">
                <a16:creationId xmlns:a16="http://schemas.microsoft.com/office/drawing/2014/main" id="{39DE1732-F8CF-4B74-8BFB-FDC2BF34663B}"/>
              </a:ext>
            </a:extLst>
          </p:cNvPr>
          <p:cNvSpPr>
            <a:spLocks noGrp="1"/>
          </p:cNvSpPr>
          <p:nvPr/>
        </p:nvSpPr>
        <p:spPr>
          <a:xfrm>
            <a:off x="6438900" y="1476375"/>
            <a:ext cx="5095875" cy="904875"/>
          </a:xfrm>
          <a:prstGeom prst="rect">
            <a:avLst/>
          </a:prstGeom>
          <a:noFill/>
          <a:ln w="0">
            <a:noFill/>
          </a:ln>
        </p:spPr>
        <p:txBody>
          <a:bodyPr>
            <a:noAutofit/>
          </a:bodyPr>
          <a:lstStyle/>
          <a:p>
            <a:pPr>
              <a:defRPr sz="5100" b="0">
                <a:solidFill>
                  <a:srgbClr val="297E76"/>
                </a:solidFill>
                <a:latin typeface="Arial"/>
                <a:ea typeface="Arial"/>
                <a:cs typeface="Arial"/>
              </a:defRPr>
            </a:pPr>
            <a:r>
              <a:rPr sz="5100" b="0">
                <a:solidFill>
                  <a:srgbClr val="297E76"/>
                </a:solidFill>
                <a:latin typeface="Arial"/>
                <a:ea typeface="Arial"/>
                <a:cs typeface="Arial"/>
              </a:rPr>
              <a:t>43,63 años</a:t>
            </a:r>
          </a:p>
        </p:txBody>
      </p:sp>
      <p:sp>
        <p:nvSpPr>
          <p:cNvPr id="7" name="Rectángulo 6">
            <a:extLst>
              <a:ext uri="{FF2B5EF4-FFF2-40B4-BE49-F238E27FC236}">
                <a16:creationId xmlns:a16="http://schemas.microsoft.com/office/drawing/2014/main" id="{5133562B-E66E-4B90-9ABF-D7C7D6165176}"/>
              </a:ext>
            </a:extLst>
          </p:cNvPr>
          <p:cNvSpPr>
            <a:spLocks noGrp="1"/>
          </p:cNvSpPr>
          <p:nvPr/>
        </p:nvSpPr>
        <p:spPr>
          <a:xfrm>
            <a:off x="6438900" y="2524125"/>
            <a:ext cx="5095875" cy="952500"/>
          </a:xfrm>
          <a:prstGeom prst="rect">
            <a:avLst/>
          </a:prstGeom>
          <a:noFill/>
          <a:ln w="0">
            <a:noFill/>
          </a:ln>
        </p:spPr>
        <p:txBody>
          <a:bodyPr>
            <a:noAutofit/>
          </a:bodyPr>
          <a:lstStyle/>
          <a:p>
            <a:pPr>
              <a:defRPr sz="2100" b="0">
                <a:solidFill>
                  <a:srgbClr val="172F42"/>
                </a:solidFill>
                <a:latin typeface="Arial"/>
                <a:ea typeface="Arial"/>
                <a:cs typeface="Arial"/>
              </a:defRPr>
            </a:pPr>
            <a:r>
              <a:rPr sz="2100" b="0">
                <a:solidFill>
                  <a:srgbClr val="172F42"/>
                </a:solidFill>
                <a:latin typeface="Arial"/>
                <a:ea typeface="Arial"/>
                <a:cs typeface="Arial"/>
              </a:rPr>
              <a:t>Pico condicional</a:t>
            </a:r>
          </a:p>
          <a:p>
            <a:pPr>
              <a:defRPr sz="2100" b="0">
                <a:solidFill>
                  <a:srgbClr val="172F42"/>
                </a:solidFill>
                <a:latin typeface="Arial"/>
                <a:ea typeface="Arial"/>
                <a:cs typeface="Arial"/>
              </a:defRPr>
            </a:pPr>
            <a:r>
              <a:rPr sz="2100" b="0">
                <a:solidFill>
                  <a:srgbClr val="172F42"/>
                </a:solidFill>
                <a:latin typeface="Arial"/>
                <a:ea typeface="Arial"/>
                <a:cs typeface="Arial"/>
              </a:rPr>
              <a:t>IC 95% percentil: [42,94, 44,38]</a:t>
            </a:r>
          </a:p>
        </p:txBody>
      </p:sp>
      <p:sp>
        <p:nvSpPr>
          <p:cNvPr id="8" name="Rectángulo 7">
            <a:extLst>
              <a:ext uri="{FF2B5EF4-FFF2-40B4-BE49-F238E27FC236}">
                <a16:creationId xmlns:a16="http://schemas.microsoft.com/office/drawing/2014/main" id="{5BDFF082-201D-4F4E-9439-54B54DF3732E}"/>
              </a:ext>
            </a:extLst>
          </p:cNvPr>
          <p:cNvSpPr>
            <a:spLocks noGrp="1"/>
          </p:cNvSpPr>
          <p:nvPr/>
        </p:nvSpPr>
        <p:spPr>
          <a:xfrm>
            <a:off x="685800" y="4286250"/>
            <a:ext cx="10620375" cy="1143000"/>
          </a:xfrm>
          <a:prstGeom prst="rect">
            <a:avLst/>
          </a:prstGeom>
          <a:noFill/>
          <a:ln w="0">
            <a:noFill/>
          </a:ln>
        </p:spPr>
        <p:txBody>
          <a:bodyPr>
            <a:noAutofit/>
          </a:bodyPr>
          <a:lstStyle/>
          <a:p>
            <a:pPr>
              <a:defRPr sz="2550" b="0">
                <a:solidFill>
                  <a:srgbClr val="172F42"/>
                </a:solidFill>
                <a:latin typeface="Arial"/>
                <a:ea typeface="Arial"/>
                <a:cs typeface="Arial"/>
              </a:defRPr>
            </a:pPr>
            <a:r>
              <a:rPr sz="2550" b="0">
                <a:solidFill>
                  <a:srgbClr val="172F42"/>
                </a:solidFill>
                <a:latin typeface="Arial"/>
                <a:ea typeface="Arial"/>
                <a:cs typeface="Arial"/>
              </a:rPr>
              <a:t>La edad organiza el perfil medio. Las horas y el vínculo laboral cambian la comparación económica.</a:t>
            </a:r>
          </a:p>
        </p:txBody>
      </p:sp>
    </p:spTree>
    <p:extLst>
      <p:ext uri="{BB962C8B-B14F-4D97-AF65-F5344CB8AC3E}">
        <p14:creationId xmlns:p14="http://schemas.microsoft.com/office/powerpoint/2010/main" val="1559804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FCC2144-F3B5-200E-74C7-1B8F2AFDE1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61" y="1074469"/>
            <a:ext cx="12182739" cy="4187995"/>
          </a:xfrm>
          <a:prstGeom prst="rect">
            <a:avLst/>
          </a:prstGeom>
        </p:spPr>
      </p:pic>
    </p:spTree>
    <p:extLst>
      <p:ext uri="{BB962C8B-B14F-4D97-AF65-F5344CB8AC3E}">
        <p14:creationId xmlns:p14="http://schemas.microsoft.com/office/powerpoint/2010/main" val="2867067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CA6F6FB0-4CE6-40D3-8696-EEBFE5671BB8}"/>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lang="es-CO" sz="3150" b="1" dirty="0">
                <a:solidFill>
                  <a:srgbClr val="172F42"/>
                </a:solidFill>
                <a:latin typeface="Arial"/>
                <a:ea typeface="Arial"/>
                <a:cs typeface="Arial"/>
              </a:rPr>
              <a:t>M</a:t>
            </a:r>
            <a:r>
              <a:rPr sz="3150" b="1" dirty="0" err="1">
                <a:solidFill>
                  <a:srgbClr val="172F42"/>
                </a:solidFill>
                <a:latin typeface="Arial"/>
                <a:ea typeface="Arial"/>
                <a:cs typeface="Arial"/>
              </a:rPr>
              <a:t>uestra</a:t>
            </a:r>
            <a:r>
              <a:rPr sz="3150" b="1" dirty="0">
                <a:solidFill>
                  <a:srgbClr val="172F42"/>
                </a:solidFill>
                <a:latin typeface="Arial"/>
                <a:ea typeface="Arial"/>
                <a:cs typeface="Arial"/>
              </a:rPr>
              <a:t> y población </a:t>
            </a:r>
            <a:r>
              <a:rPr sz="3150" b="1" dirty="0" err="1">
                <a:solidFill>
                  <a:srgbClr val="172F42"/>
                </a:solidFill>
                <a:latin typeface="Arial"/>
                <a:ea typeface="Arial"/>
                <a:cs typeface="Arial"/>
              </a:rPr>
              <a:t>representada</a:t>
            </a:r>
            <a:endParaRPr sz="3150" b="1" dirty="0">
              <a:solidFill>
                <a:srgbClr val="172F42"/>
              </a:solidFill>
              <a:latin typeface="Arial"/>
              <a:ea typeface="Arial"/>
              <a:cs typeface="Arial"/>
            </a:endParaRPr>
          </a:p>
        </p:txBody>
      </p:sp>
      <p:sp>
        <p:nvSpPr>
          <p:cNvPr id="2" name="Rectángulo 1">
            <a:extLst>
              <a:ext uri="{FF2B5EF4-FFF2-40B4-BE49-F238E27FC236}">
                <a16:creationId xmlns:a16="http://schemas.microsoft.com/office/drawing/2014/main" id="{7C413B90-7588-4DA8-BAC9-DC63D5E5B460}"/>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dirty="0">
                <a:solidFill>
                  <a:srgbClr val="526471"/>
                </a:solidFill>
                <a:latin typeface="Arial"/>
                <a:ea typeface="Arial"/>
                <a:cs typeface="Arial"/>
              </a:rPr>
              <a:t>n = 14.764. Población </a:t>
            </a:r>
            <a:r>
              <a:rPr sz="1125" b="0" dirty="0" err="1">
                <a:solidFill>
                  <a:srgbClr val="526471"/>
                </a:solidFill>
                <a:latin typeface="Arial"/>
                <a:ea typeface="Arial"/>
                <a:cs typeface="Arial"/>
              </a:rPr>
              <a:t>representada</a:t>
            </a:r>
            <a:r>
              <a:rPr lang="es-CO" sz="1125" b="0" dirty="0">
                <a:solidFill>
                  <a:srgbClr val="526471"/>
                </a:solidFill>
                <a:latin typeface="Arial"/>
                <a:ea typeface="Arial"/>
                <a:cs typeface="Arial"/>
              </a:rPr>
              <a:t> por Factor de Expansión</a:t>
            </a:r>
            <a:r>
              <a:rPr sz="1125" b="0" dirty="0">
                <a:solidFill>
                  <a:srgbClr val="526471"/>
                </a:solidFill>
                <a:latin typeface="Arial"/>
                <a:ea typeface="Arial"/>
                <a:cs typeface="Arial"/>
              </a:rPr>
              <a:t> ≈ 3.686.676 personas. Fuente: GEIH 2018, Bogotá.</a:t>
            </a:r>
          </a:p>
        </p:txBody>
      </p:sp>
      <p:sp>
        <p:nvSpPr>
          <p:cNvPr id="3" name="Rectángulo 2">
            <a:extLst>
              <a:ext uri="{FF2B5EF4-FFF2-40B4-BE49-F238E27FC236}">
                <a16:creationId xmlns:a16="http://schemas.microsoft.com/office/drawing/2014/main" id="{3AEAD05E-B12A-4BE4-9FD8-478F4477DC4F}"/>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10</a:t>
            </a:r>
          </a:p>
        </p:txBody>
      </p:sp>
      <mc:AlternateContent xmlns:mc="http://schemas.openxmlformats.org/markup-compatibility/2006" xmlns:a14="http://schemas.microsoft.com/office/drawing/2010/main">
        <mc:Choice Requires="a14">
          <p:sp>
            <p:nvSpPr>
              <p:cNvPr id="4" name="EQ_age_10_6">
                <a:extLst>
                  <a:ext uri="{FF2B5EF4-FFF2-40B4-BE49-F238E27FC236}">
                    <a16:creationId xmlns:a16="http://schemas.microsoft.com/office/drawing/2014/main" id="{BB626DA8-06B5-4347-8161-2E3FA276E00B}"/>
                  </a:ext>
                </a:extLst>
              </p:cNvPr>
              <p:cNvSpPr>
                <a:spLocks noGrp="1"/>
              </p:cNvSpPr>
              <p:nvPr/>
            </p:nvSpPr>
            <p:spPr>
              <a:xfrm>
                <a:off x="685800" y="1190625"/>
                <a:ext cx="10763250" cy="809625"/>
              </a:xfrm>
              <a:prstGeom prst="rect">
                <a:avLst/>
              </a:prstGeom>
              <a:noFill/>
              <a:ln w="0">
                <a:noFill/>
              </a:ln>
            </p:spPr>
            <p:txBody>
              <a:bodyPr/>
              <a:lstStyle/>
              <a:p>
                <a:pPr algn="l"/>
                <a14:m>
                  <m:oMathPara xmlns:m="http://schemas.openxmlformats.org/officeDocument/2006/math">
                    <m:oMath>
                      <m:r>
                        <a:rPr>
                          <a:latin typeface="Cambria Math" panose="02040503050406030204" pitchFamily="18" charset="0"/>
                        </a:rPr>
                        <m:t>𝑛</m:t>
                      </m:r>
                      <m:r>
                        <a:rPr>
                          <a:latin typeface="Cambria Math" panose="02040503050406030204" pitchFamily="18" charset="0"/>
                        </a:rPr>
                        <m:t>=</m:t>
                      </m:r>
                      <m:nary>
                        <m:naryPr>
                          <m:chr m:val="∑"/>
                          <m:limLoc m:val="subSup"/>
                          <m:grow m:val="on"/>
                          <m:supHide m:val="on"/>
                          <m:ctrlPr>
                            <a:rPr>
                              <a:latin typeface="Cambria Math" panose="02040503050406030204" pitchFamily="18" charset="0"/>
                            </a:rPr>
                          </m:ctrlPr>
                        </m:naryPr>
                        <m:sub>
                          <m:r>
                            <a:rPr>
                              <a:latin typeface="Cambria Math" panose="02040503050406030204" pitchFamily="18" charset="0"/>
                            </a:rPr>
                            <m:t>𝑖</m:t>
                          </m:r>
                        </m:sub>
                        <m:sup/>
                        <m:e>
                          <m:r>
                            <a:rPr>
                              <a:latin typeface="Cambria Math" panose="02040503050406030204" pitchFamily="18" charset="0"/>
                            </a:rPr>
                            <m:t>1,</m:t>
                          </m:r>
                          <m:r>
                            <m:rPr>
                              <m:nor/>
                            </m:rPr>
                            <a:rPr i="0"/>
                            <m:t> </m:t>
                          </m:r>
                        </m:e>
                      </m:nary>
                      <m:acc>
                        <m:accPr>
                          <m:chr m:val="ˆ"/>
                          <m:ctrlPr>
                            <a:rPr>
                              <a:latin typeface="Cambria Math" panose="02040503050406030204" pitchFamily="18" charset="0"/>
                            </a:rPr>
                          </m:ctrlPr>
                        </m:accPr>
                        <m:e>
                          <m:r>
                            <a:rPr>
                              <a:latin typeface="Cambria Math" panose="02040503050406030204" pitchFamily="18" charset="0"/>
                            </a:rPr>
                            <m:t>𝑁</m:t>
                          </m:r>
                        </m:e>
                      </m:acc>
                      <m:r>
                        <a:rPr>
                          <a:latin typeface="Cambria Math" panose="02040503050406030204" pitchFamily="18" charset="0"/>
                        </a:rPr>
                        <m:t>=</m:t>
                      </m:r>
                      <m:nary>
                        <m:naryPr>
                          <m:chr m:val="∑"/>
                          <m:limLoc m:val="subSup"/>
                          <m:grow m:val="on"/>
                          <m:supHide m:val="on"/>
                          <m:ctrlPr>
                            <a:rPr>
                              <a:latin typeface="Cambria Math" panose="02040503050406030204" pitchFamily="18" charset="0"/>
                            </a:rPr>
                          </m:ctrlPr>
                        </m:naryPr>
                        <m:sub>
                          <m:r>
                            <a:rPr>
                              <a:latin typeface="Cambria Math" panose="02040503050406030204" pitchFamily="18" charset="0"/>
                            </a:rPr>
                            <m:t>𝑖</m:t>
                          </m:r>
                        </m:sub>
                        <m:sup/>
                        <m:e>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𝑖</m:t>
                              </m:r>
                            </m:sub>
                          </m:sSub>
                        </m:e>
                      </m:nary>
                      <m:r>
                        <a:rPr>
                          <a:latin typeface="Cambria Math" panose="02040503050406030204" pitchFamily="18" charset="0"/>
                        </a:rPr>
                        <m:t>,</m:t>
                      </m:r>
                      <m:r>
                        <m:rPr>
                          <m:nor/>
                        </m:rPr>
                        <a:rPr i="0"/>
                        <m:t> </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m:rPr>
                              <m:sty m:val="p"/>
                            </m:rPr>
                            <a:rPr>
                              <a:latin typeface="Cambria Math" panose="02040503050406030204" pitchFamily="18" charset="0"/>
                            </a:rPr>
                            <m:t>fex</m:t>
                          </m:r>
                          <m:r>
                            <a:rPr>
                              <a:latin typeface="Cambria Math" panose="02040503050406030204" pitchFamily="18" charset="0"/>
                            </a:rPr>
                            <m:t>_</m:t>
                          </m:r>
                          <m:r>
                            <m:rPr>
                              <m:sty m:val="p"/>
                            </m:rPr>
                            <a:rPr>
                              <a:latin typeface="Cambria Math" panose="02040503050406030204" pitchFamily="18" charset="0"/>
                            </a:rPr>
                            <m:t>c</m:t>
                          </m:r>
                        </m:e>
                        <m:sub>
                          <m:r>
                            <a:rPr>
                              <a:latin typeface="Cambria Math" panose="02040503050406030204" pitchFamily="18" charset="0"/>
                            </a:rPr>
                            <m:t>𝑖</m:t>
                          </m:r>
                        </m:sub>
                      </m:sSub>
                    </m:oMath>
                  </m:oMathPara>
                </a14:m>
                <a:endParaRPr sz="2800"/>
              </a:p>
            </p:txBody>
          </p:sp>
        </mc:Choice>
        <mc:Fallback xmlns="">
          <p:sp>
            <p:nvSpPr>
              <p:cNvPr id="4" name="EQ_age_10_6">
                <a:extLst>
                  <a:ext uri="{FF2B5EF4-FFF2-40B4-BE49-F238E27FC236}">
                    <a16:creationId xmlns:a16="http://schemas.microsoft.com/office/drawing/2014/main" id="{BB626DA8-06B5-4347-8161-2E3FA276E00B}"/>
                  </a:ext>
                </a:extLst>
              </p:cNvPr>
              <p:cNvSpPr>
                <a:spLocks noGrp="1" noRot="1" noChangeAspect="1" noMove="1" noResize="1" noEditPoints="1" noAdjustHandles="1" noChangeArrowheads="1" noChangeShapeType="1" noTextEdit="1"/>
              </p:cNvSpPr>
              <p:nvPr/>
            </p:nvSpPr>
            <p:spPr>
              <a:xfrm>
                <a:off x="685800" y="1190625"/>
                <a:ext cx="10763250" cy="809625"/>
              </a:xfrm>
              <a:prstGeom prst="rect">
                <a:avLst/>
              </a:prstGeom>
              <a:blipFill>
                <a:blip r:embed="rId3"/>
                <a:stretch>
                  <a:fillRect/>
                </a:stretch>
              </a:blipFill>
              <a:ln w="0">
                <a:noFill/>
              </a:ln>
            </p:spPr>
            <p:txBody>
              <a:bodyPr/>
              <a:lstStyle/>
              <a:p>
                <a:r>
                  <a:rPr lang="es-CO">
                    <a:noFill/>
                  </a:rPr>
                  <a:t> </a:t>
                </a:r>
              </a:p>
            </p:txBody>
          </p:sp>
        </mc:Fallback>
      </mc:AlternateContent>
      <p:graphicFrame>
        <p:nvGraphicFramePr>
          <p:cNvPr id="11" name="Tabla 10"/>
          <p:cNvGraphicFramePr/>
          <p:nvPr/>
        </p:nvGraphicFramePr>
        <p:xfrm>
          <a:off x="609600" y="2476500"/>
          <a:ext cx="10972800" cy="2333624"/>
        </p:xfrm>
        <a:graphic>
          <a:graphicData uri="http://schemas.openxmlformats.org/drawingml/2006/table">
            <a:tbl>
              <a:tblPr/>
              <a:tblGrid>
                <a:gridCol w="5334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352800">
                  <a:extLst>
                    <a:ext uri="{9D8B030D-6E8A-4147-A177-3AD203B41FA5}">
                      <a16:colId xmlns:a16="http://schemas.microsoft.com/office/drawing/2014/main" val="20002"/>
                    </a:ext>
                  </a:extLst>
                </a:gridCol>
              </a:tblGrid>
              <a:tr h="583406">
                <a:tc>
                  <a:txBody>
                    <a:bodyPr/>
                    <a:lstStyle/>
                    <a:p>
                      <a:r>
                        <a:rPr sz="1875" b="0">
                          <a:solidFill>
                            <a:srgbClr val="172F42"/>
                          </a:solidFill>
                          <a:latin typeface="Arial"/>
                          <a:ea typeface="Arial"/>
                          <a:cs typeface="Arial"/>
                        </a:rPr>
                        <a:t>Población cubierta</a:t>
                      </a:r>
                    </a:p>
                  </a:txBody>
                  <a:tcPr marL="95250" marR="95250" marT="57150" marB="57150">
                    <a:solidFill>
                      <a:srgbClr val="EDF3F7"/>
                    </a:solidFill>
                  </a:tcPr>
                </a:tc>
                <a:tc>
                  <a:txBody>
                    <a:bodyPr/>
                    <a:lstStyle/>
                    <a:p>
                      <a:r>
                        <a:rPr sz="1875" b="0">
                          <a:solidFill>
                            <a:srgbClr val="172F42"/>
                          </a:solidFill>
                          <a:latin typeface="Arial"/>
                          <a:ea typeface="Arial"/>
                          <a:cs typeface="Arial"/>
                        </a:rPr>
                        <a:t>Registros</a:t>
                      </a:r>
                    </a:p>
                  </a:txBody>
                  <a:tcPr marL="95250" marR="95250" marT="57150" marB="57150">
                    <a:solidFill>
                      <a:srgbClr val="EDF3F7"/>
                    </a:solidFill>
                  </a:tcPr>
                </a:tc>
                <a:tc>
                  <a:txBody>
                    <a:bodyPr/>
                    <a:lstStyle/>
                    <a:p>
                      <a:r>
                        <a:rPr sz="1875" b="0">
                          <a:solidFill>
                            <a:srgbClr val="172F42"/>
                          </a:solidFill>
                          <a:latin typeface="Arial"/>
                          <a:ea typeface="Arial"/>
                          <a:cs typeface="Arial"/>
                        </a:rPr>
                        <a:t>Personas representadas</a:t>
                      </a:r>
                    </a:p>
                  </a:txBody>
                  <a:tcPr marL="95250" marR="95250" marT="57150" marB="57150">
                    <a:solidFill>
                      <a:srgbClr val="EDF3F7"/>
                    </a:solidFill>
                  </a:tcPr>
                </a:tc>
                <a:extLst>
                  <a:ext uri="{0D108BD9-81ED-4DB2-BD59-A6C34878D82A}">
                    <a16:rowId xmlns:a16="http://schemas.microsoft.com/office/drawing/2014/main" val="10000"/>
                  </a:ext>
                </a:extLst>
              </a:tr>
              <a:tr h="583406">
                <a:tc>
                  <a:txBody>
                    <a:bodyPr/>
                    <a:lstStyle/>
                    <a:p>
                      <a:r>
                        <a:rPr sz="1875" b="0">
                          <a:solidFill>
                            <a:srgbClr val="172F42"/>
                          </a:solidFill>
                          <a:latin typeface="Arial"/>
                          <a:ea typeface="Arial"/>
                          <a:cs typeface="Arial"/>
                        </a:rPr>
                        <a:t>Base consolidada</a:t>
                      </a:r>
                    </a:p>
                  </a:txBody>
                  <a:tcPr marL="95250" marR="95250" marT="57150" marB="57150">
                    <a:solidFill>
                      <a:srgbClr val="FFFFFF"/>
                    </a:solidFill>
                  </a:tcPr>
                </a:tc>
                <a:tc>
                  <a:txBody>
                    <a:bodyPr/>
                    <a:lstStyle/>
                    <a:p>
                      <a:r>
                        <a:rPr sz="1875" b="0" dirty="0">
                          <a:solidFill>
                            <a:srgbClr val="172F42"/>
                          </a:solidFill>
                          <a:latin typeface="Arial"/>
                          <a:ea typeface="Arial"/>
                          <a:cs typeface="Arial"/>
                        </a:rPr>
                        <a:t>32.177</a:t>
                      </a:r>
                    </a:p>
                  </a:txBody>
                  <a:tcPr marL="95250" marR="95250" marT="57150" marB="57150">
                    <a:solidFill>
                      <a:srgbClr val="FFFFFF"/>
                    </a:solidFill>
                  </a:tcPr>
                </a:tc>
                <a:tc>
                  <a:txBody>
                    <a:bodyPr/>
                    <a:lstStyle/>
                    <a:p>
                      <a:r>
                        <a:rPr sz="1875" b="0" dirty="0">
                          <a:solidFill>
                            <a:srgbClr val="172F42"/>
                          </a:solidFill>
                          <a:latin typeface="Arial"/>
                          <a:ea typeface="Arial"/>
                          <a:cs typeface="Arial"/>
                        </a:rPr>
                        <a:t>8.164.164</a:t>
                      </a:r>
                    </a:p>
                  </a:txBody>
                  <a:tcPr marL="95250" marR="95250" marT="57150" marB="57150">
                    <a:solidFill>
                      <a:srgbClr val="FFFFFF"/>
                    </a:solidFill>
                  </a:tcPr>
                </a:tc>
                <a:extLst>
                  <a:ext uri="{0D108BD9-81ED-4DB2-BD59-A6C34878D82A}">
                    <a16:rowId xmlns:a16="http://schemas.microsoft.com/office/drawing/2014/main" val="10001"/>
                  </a:ext>
                </a:extLst>
              </a:tr>
              <a:tr h="583406">
                <a:tc>
                  <a:txBody>
                    <a:bodyPr/>
                    <a:lstStyle/>
                    <a:p>
                      <a:r>
                        <a:rPr sz="1875" b="0" dirty="0" err="1">
                          <a:solidFill>
                            <a:srgbClr val="172F42"/>
                          </a:solidFill>
                          <a:latin typeface="Arial"/>
                          <a:ea typeface="Arial"/>
                          <a:cs typeface="Arial"/>
                        </a:rPr>
                        <a:t>Ocupados</a:t>
                      </a:r>
                      <a:r>
                        <a:rPr sz="1875" b="0" dirty="0">
                          <a:solidFill>
                            <a:srgbClr val="172F42"/>
                          </a:solidFill>
                          <a:latin typeface="Arial"/>
                          <a:ea typeface="Arial"/>
                          <a:cs typeface="Arial"/>
                        </a:rPr>
                        <a:t> de 18 </a:t>
                      </a:r>
                      <a:r>
                        <a:rPr sz="1875" b="0" dirty="0" err="1">
                          <a:solidFill>
                            <a:srgbClr val="172F42"/>
                          </a:solidFill>
                          <a:latin typeface="Arial"/>
                          <a:ea typeface="Arial"/>
                          <a:cs typeface="Arial"/>
                        </a:rPr>
                        <a:t>años</a:t>
                      </a:r>
                      <a:r>
                        <a:rPr sz="1875" b="0" dirty="0">
                          <a:solidFill>
                            <a:srgbClr val="172F42"/>
                          </a:solidFill>
                          <a:latin typeface="Arial"/>
                          <a:ea typeface="Arial"/>
                          <a:cs typeface="Arial"/>
                        </a:rPr>
                        <a:t> o </a:t>
                      </a:r>
                      <a:r>
                        <a:rPr sz="1875" b="0" dirty="0" err="1">
                          <a:solidFill>
                            <a:srgbClr val="172F42"/>
                          </a:solidFill>
                          <a:latin typeface="Arial"/>
                          <a:ea typeface="Arial"/>
                          <a:cs typeface="Arial"/>
                        </a:rPr>
                        <a:t>más</a:t>
                      </a:r>
                      <a:endParaRPr sz="1875" b="0" dirty="0">
                        <a:solidFill>
                          <a:srgbClr val="172F42"/>
                        </a:solidFill>
                        <a:latin typeface="Arial"/>
                        <a:ea typeface="Arial"/>
                        <a:cs typeface="Arial"/>
                      </a:endParaRPr>
                    </a:p>
                  </a:txBody>
                  <a:tcPr marL="95250" marR="95250" marT="57150" marB="57150">
                    <a:solidFill>
                      <a:srgbClr val="FFFFFF"/>
                    </a:solidFill>
                  </a:tcPr>
                </a:tc>
                <a:tc>
                  <a:txBody>
                    <a:bodyPr/>
                    <a:lstStyle/>
                    <a:p>
                      <a:r>
                        <a:rPr sz="1875" b="0">
                          <a:solidFill>
                            <a:srgbClr val="172F42"/>
                          </a:solidFill>
                          <a:latin typeface="Arial"/>
                          <a:ea typeface="Arial"/>
                          <a:cs typeface="Arial"/>
                        </a:rPr>
                        <a:t>16.542</a:t>
                      </a:r>
                    </a:p>
                  </a:txBody>
                  <a:tcPr marL="95250" marR="95250" marT="57150" marB="57150">
                    <a:solidFill>
                      <a:srgbClr val="FFFFFF"/>
                    </a:solidFill>
                  </a:tcPr>
                </a:tc>
                <a:tc>
                  <a:txBody>
                    <a:bodyPr/>
                    <a:lstStyle/>
                    <a:p>
                      <a:r>
                        <a:rPr sz="1875" b="0">
                          <a:solidFill>
                            <a:srgbClr val="172F42"/>
                          </a:solidFill>
                          <a:latin typeface="Arial"/>
                          <a:ea typeface="Arial"/>
                          <a:cs typeface="Arial"/>
                        </a:rPr>
                        <a:t>4.120.583</a:t>
                      </a:r>
                    </a:p>
                  </a:txBody>
                  <a:tcPr marL="95250" marR="95250" marT="57150" marB="57150">
                    <a:solidFill>
                      <a:srgbClr val="FFFFFF"/>
                    </a:solidFill>
                  </a:tcPr>
                </a:tc>
                <a:extLst>
                  <a:ext uri="{0D108BD9-81ED-4DB2-BD59-A6C34878D82A}">
                    <a16:rowId xmlns:a16="http://schemas.microsoft.com/office/drawing/2014/main" val="10002"/>
                  </a:ext>
                </a:extLst>
              </a:tr>
              <a:tr h="583406">
                <a:tc>
                  <a:txBody>
                    <a:bodyPr/>
                    <a:lstStyle/>
                    <a:p>
                      <a:r>
                        <a:rPr sz="1875" b="0">
                          <a:solidFill>
                            <a:srgbClr val="172F42"/>
                          </a:solidFill>
                          <a:latin typeface="Arial"/>
                          <a:ea typeface="Arial"/>
                          <a:cs typeface="Arial"/>
                        </a:rPr>
                        <a:t>Ingreso positivo observado</a:t>
                      </a:r>
                    </a:p>
                  </a:txBody>
                  <a:tcPr marL="95250" marR="95250" marT="57150" marB="57150">
                    <a:solidFill>
                      <a:srgbClr val="FFFFFF"/>
                    </a:solidFill>
                  </a:tcPr>
                </a:tc>
                <a:tc>
                  <a:txBody>
                    <a:bodyPr/>
                    <a:lstStyle/>
                    <a:p>
                      <a:r>
                        <a:rPr sz="1875" b="0" dirty="0">
                          <a:solidFill>
                            <a:srgbClr val="172F42"/>
                          </a:solidFill>
                          <a:latin typeface="Arial"/>
                          <a:ea typeface="Arial"/>
                          <a:cs typeface="Arial"/>
                        </a:rPr>
                        <a:t>14.764</a:t>
                      </a:r>
                    </a:p>
                  </a:txBody>
                  <a:tcPr marL="95250" marR="95250" marT="57150" marB="57150">
                    <a:solidFill>
                      <a:srgbClr val="FFFFFF"/>
                    </a:solidFill>
                  </a:tcPr>
                </a:tc>
                <a:tc>
                  <a:txBody>
                    <a:bodyPr/>
                    <a:lstStyle/>
                    <a:p>
                      <a:r>
                        <a:rPr sz="1875" b="0" dirty="0">
                          <a:solidFill>
                            <a:srgbClr val="172F42"/>
                          </a:solidFill>
                          <a:latin typeface="Arial"/>
                          <a:ea typeface="Arial"/>
                          <a:cs typeface="Arial"/>
                        </a:rPr>
                        <a:t>3.686.676</a:t>
                      </a:r>
                    </a:p>
                  </a:txBody>
                  <a:tcPr marL="95250" marR="95250" marT="57150" marB="57150">
                    <a:solidFill>
                      <a:srgbClr val="FFFFFF"/>
                    </a:solidFill>
                  </a:tcPr>
                </a:tc>
                <a:extLst>
                  <a:ext uri="{0D108BD9-81ED-4DB2-BD59-A6C34878D82A}">
                    <a16:rowId xmlns:a16="http://schemas.microsoft.com/office/drawing/2014/main" val="10003"/>
                  </a:ext>
                </a:extLst>
              </a:tr>
            </a:tbl>
          </a:graphicData>
        </a:graphic>
      </p:graphicFrame>
      <p:sp>
        <p:nvSpPr>
          <p:cNvPr id="6" name="Rectángulo 5">
            <a:extLst>
              <a:ext uri="{FF2B5EF4-FFF2-40B4-BE49-F238E27FC236}">
                <a16:creationId xmlns:a16="http://schemas.microsoft.com/office/drawing/2014/main" id="{0434FEBC-EE36-42BD-8739-0EE1AF044DE7}"/>
              </a:ext>
            </a:extLst>
          </p:cNvPr>
          <p:cNvSpPr>
            <a:spLocks noGrp="1"/>
          </p:cNvSpPr>
          <p:nvPr/>
        </p:nvSpPr>
        <p:spPr>
          <a:xfrm>
            <a:off x="685800" y="5191125"/>
            <a:ext cx="10763250" cy="733425"/>
          </a:xfrm>
          <a:prstGeom prst="rect">
            <a:avLst/>
          </a:prstGeom>
          <a:noFill/>
          <a:ln w="0">
            <a:noFill/>
          </a:ln>
        </p:spPr>
        <p:txBody>
          <a:bodyPr>
            <a:noAutofit/>
          </a:bodyPr>
          <a:lstStyle/>
          <a:p>
            <a:pPr>
              <a:defRPr sz="1875" b="0">
                <a:solidFill>
                  <a:srgbClr val="172F42"/>
                </a:solidFill>
                <a:latin typeface="Arial"/>
                <a:ea typeface="Arial"/>
                <a:cs typeface="Arial"/>
              </a:defRPr>
            </a:pPr>
            <a:r>
              <a:rPr sz="1875" b="0">
                <a:solidFill>
                  <a:srgbClr val="172F42"/>
                </a:solidFill>
                <a:latin typeface="Arial"/>
                <a:ea typeface="Arial"/>
                <a:cs typeface="Arial"/>
              </a:rPr>
              <a:t>IC del total: no estimable con el diseño disponible. Faltan estratos, conglomerados completos o pesos replicados.</a:t>
            </a:r>
          </a:p>
        </p:txBody>
      </p:sp>
    </p:spTree>
    <p:extLst>
      <p:ext uri="{BB962C8B-B14F-4D97-AF65-F5344CB8AC3E}">
        <p14:creationId xmlns:p14="http://schemas.microsoft.com/office/powerpoint/2010/main" val="261622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2CA50EF7-DA6E-4E8B-BA9D-D31E5AA7B7BA}"/>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2</a:t>
            </a:r>
          </a:p>
        </p:txBody>
      </p:sp>
      <p:pic>
        <p:nvPicPr>
          <p:cNvPr id="7" name="Imagen 6">
            <a:extLst>
              <a:ext uri="{FF2B5EF4-FFF2-40B4-BE49-F238E27FC236}">
                <a16:creationId xmlns:a16="http://schemas.microsoft.com/office/drawing/2014/main" id="{BD4D396D-B471-3C9F-E67F-3C4AA890AA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0560" y="0"/>
            <a:ext cx="9570880" cy="6858000"/>
          </a:xfrm>
          <a:prstGeom prst="rect">
            <a:avLst/>
          </a:prstGeom>
        </p:spPr>
      </p:pic>
    </p:spTree>
    <p:extLst>
      <p:ext uri="{BB962C8B-B14F-4D97-AF65-F5344CB8AC3E}">
        <p14:creationId xmlns:p14="http://schemas.microsoft.com/office/powerpoint/2010/main" val="99818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3AD1800C-739E-4BB4-A10C-DECC93104F87}"/>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La parábola traduce el perfil en una edad pico</a:t>
            </a:r>
          </a:p>
        </p:txBody>
      </p:sp>
      <p:sp>
        <p:nvSpPr>
          <p:cNvPr id="2" name="Rectángulo 1">
            <a:extLst>
              <a:ext uri="{FF2B5EF4-FFF2-40B4-BE49-F238E27FC236}">
                <a16:creationId xmlns:a16="http://schemas.microsoft.com/office/drawing/2014/main" id="{8717BE7B-50C4-480B-A06B-EF2396405F00}"/>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dirty="0">
                <a:solidFill>
                  <a:srgbClr val="526471"/>
                </a:solidFill>
                <a:latin typeface="Arial"/>
                <a:ea typeface="Arial"/>
                <a:cs typeface="Arial"/>
              </a:rPr>
              <a:t>n = 14.764. Población </a:t>
            </a:r>
            <a:r>
              <a:rPr sz="1125" b="0" dirty="0" err="1">
                <a:solidFill>
                  <a:srgbClr val="526471"/>
                </a:solidFill>
                <a:latin typeface="Arial"/>
                <a:ea typeface="Arial"/>
                <a:cs typeface="Arial"/>
              </a:rPr>
              <a:t>representada</a:t>
            </a:r>
            <a:r>
              <a:rPr sz="1125" b="0" dirty="0">
                <a:solidFill>
                  <a:srgbClr val="526471"/>
                </a:solidFill>
                <a:latin typeface="Arial"/>
                <a:ea typeface="Arial"/>
                <a:cs typeface="Arial"/>
              </a:rPr>
              <a:t> </a:t>
            </a:r>
            <a:r>
              <a:rPr lang="es-CO" sz="1125" dirty="0">
                <a:solidFill>
                  <a:srgbClr val="526471"/>
                </a:solidFill>
                <a:latin typeface="Arial"/>
                <a:ea typeface="Arial"/>
                <a:cs typeface="Arial"/>
              </a:rPr>
              <a:t>por Factor de Expansión </a:t>
            </a:r>
            <a:r>
              <a:rPr sz="1125" b="0" dirty="0">
                <a:solidFill>
                  <a:srgbClr val="526471"/>
                </a:solidFill>
                <a:latin typeface="Arial"/>
                <a:ea typeface="Arial"/>
                <a:cs typeface="Arial"/>
              </a:rPr>
              <a:t>≈ 3.686.676 personas. Fuente: GEIH 2018, Bogotá.</a:t>
            </a:r>
          </a:p>
        </p:txBody>
      </p:sp>
      <p:sp>
        <p:nvSpPr>
          <p:cNvPr id="3" name="Rectángulo 2">
            <a:extLst>
              <a:ext uri="{FF2B5EF4-FFF2-40B4-BE49-F238E27FC236}">
                <a16:creationId xmlns:a16="http://schemas.microsoft.com/office/drawing/2014/main" id="{7260A09D-0BE0-4184-BA32-AD9FE720F25E}"/>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3</a:t>
            </a:r>
          </a:p>
        </p:txBody>
      </p:sp>
      <mc:AlternateContent xmlns:mc="http://schemas.openxmlformats.org/markup-compatibility/2006" xmlns:a14="http://schemas.microsoft.com/office/drawing/2010/main">
        <mc:Choice Requires="a14">
          <p:sp>
            <p:nvSpPr>
              <p:cNvPr id="4" name="EQ_age_3_0">
                <a:extLst>
                  <a:ext uri="{FF2B5EF4-FFF2-40B4-BE49-F238E27FC236}">
                    <a16:creationId xmlns:a16="http://schemas.microsoft.com/office/drawing/2014/main" id="{60890C51-A4DB-4E04-9E8C-5500C4414BAF}"/>
                  </a:ext>
                </a:extLst>
              </p:cNvPr>
              <p:cNvSpPr>
                <a:spLocks noGrp="1"/>
              </p:cNvSpPr>
              <p:nvPr/>
            </p:nvSpPr>
            <p:spPr>
              <a:xfrm>
                <a:off x="685800" y="1381125"/>
                <a:ext cx="10763250" cy="714375"/>
              </a:xfrm>
              <a:prstGeom prst="rect">
                <a:avLst/>
              </a:prstGeom>
              <a:noFill/>
              <a:ln w="0">
                <a:noFill/>
              </a:ln>
            </p:spPr>
            <p:txBody>
              <a:bodyPr/>
              <a:lstStyle/>
              <a:p>
                <a:pPr algn="l"/>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0</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1</m:t>
                          </m:r>
                        </m:sub>
                      </m:sSub>
                      <m:sSub>
                        <m:sSubPr>
                          <m:ctrlPr>
                            <a:rPr>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2</m:t>
                          </m:r>
                        </m:sub>
                      </m:sSub>
                      <m:sSubSup>
                        <m:sSubSupPr>
                          <m:ctrlPr>
                            <a:rPr>
                              <a:latin typeface="Cambria Math" panose="02040503050406030204" pitchFamily="18" charset="0"/>
                            </a:rPr>
                          </m:ctrlPr>
                        </m:sSubSupPr>
                        <m:e>
                          <m:r>
                            <a:rPr>
                              <a:latin typeface="Cambria Math" panose="02040503050406030204" pitchFamily="18" charset="0"/>
                            </a:rPr>
                            <m:t>𝐴</m:t>
                          </m:r>
                        </m:e>
                        <m:sub>
                          <m:r>
                            <a:rPr>
                              <a:latin typeface="Cambria Math" panose="02040503050406030204" pitchFamily="18" charset="0"/>
                            </a:rPr>
                            <m:t>𝑖</m:t>
                          </m:r>
                        </m:sub>
                        <m:sup>
                          <m:r>
                            <a:rPr>
                              <a:latin typeface="Cambria Math" panose="02040503050406030204" pitchFamily="18" charset="0"/>
                            </a:rPr>
                            <m:t>2</m:t>
                          </m:r>
                        </m:sup>
                      </m:sSubSup>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𝑢</m:t>
                          </m:r>
                        </m:e>
                        <m:sub>
                          <m:r>
                            <a:rPr>
                              <a:latin typeface="Cambria Math" panose="02040503050406030204" pitchFamily="18" charset="0"/>
                            </a:rPr>
                            <m:t>𝑖</m:t>
                          </m:r>
                        </m:sub>
                      </m:sSub>
                    </m:oMath>
                  </m:oMathPara>
                </a14:m>
                <a:endParaRPr sz="2800"/>
              </a:p>
            </p:txBody>
          </p:sp>
        </mc:Choice>
        <mc:Fallback xmlns="">
          <p:sp>
            <p:nvSpPr>
              <p:cNvPr id="4" name="EQ_age_3_0">
                <a:extLst>
                  <a:ext uri="{FF2B5EF4-FFF2-40B4-BE49-F238E27FC236}">
                    <a16:creationId xmlns:a16="http://schemas.microsoft.com/office/drawing/2014/main" id="{60890C51-A4DB-4E04-9E8C-5500C4414BAF}"/>
                  </a:ext>
                </a:extLst>
              </p:cNvPr>
              <p:cNvSpPr>
                <a:spLocks noGrp="1" noRot="1" noChangeAspect="1" noMove="1" noResize="1" noEditPoints="1" noAdjustHandles="1" noChangeArrowheads="1" noChangeShapeType="1" noTextEdit="1"/>
              </p:cNvSpPr>
              <p:nvPr/>
            </p:nvSpPr>
            <p:spPr>
              <a:xfrm>
                <a:off x="685800" y="1381125"/>
                <a:ext cx="10763250" cy="714375"/>
              </a:xfrm>
              <a:prstGeom prst="rect">
                <a:avLst/>
              </a:prstGeom>
              <a:blipFill>
                <a:blip r:embed="rId3"/>
                <a:stretch>
                  <a:fillRect/>
                </a:stretch>
              </a:blipFill>
              <a:ln w="0">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 name="EQ_age_3_1">
                <a:extLst>
                  <a:ext uri="{FF2B5EF4-FFF2-40B4-BE49-F238E27FC236}">
                    <a16:creationId xmlns:a16="http://schemas.microsoft.com/office/drawing/2014/main" id="{B34694ED-0C7F-4666-BF85-2409C07CC52B}"/>
                  </a:ext>
                </a:extLst>
              </p:cNvPr>
              <p:cNvSpPr>
                <a:spLocks noGrp="1"/>
              </p:cNvSpPr>
              <p:nvPr/>
            </p:nvSpPr>
            <p:spPr>
              <a:xfrm>
                <a:off x="685800" y="2333625"/>
                <a:ext cx="10763250" cy="857250"/>
              </a:xfrm>
              <a:prstGeom prst="rect">
                <a:avLst/>
              </a:prstGeom>
              <a:noFill/>
              <a:ln w="0">
                <a:noFill/>
              </a:ln>
            </p:spPr>
            <p:txBody>
              <a:bodyPr/>
              <a:lstStyle/>
              <a:p>
                <a:pPr algn="l"/>
                <a14:m>
                  <m:oMathPara xmlns:m="http://schemas.openxmlformats.org/officeDocument/2006/math">
                    <m:oMath>
                      <m:acc>
                        <m:accPr>
                          <m:chr m:val="ˆ"/>
                          <m:ctrlPr>
                            <a:rPr>
                              <a:latin typeface="Cambria Math" panose="02040503050406030204" pitchFamily="18" charset="0"/>
                            </a:rPr>
                          </m:ctrlPr>
                        </m:accPr>
                        <m:e>
                          <m:r>
                            <a:rPr>
                              <a:latin typeface="Cambria Math" panose="02040503050406030204" pitchFamily="18" charset="0"/>
                            </a:rPr>
                            <m:t>𝛽</m:t>
                          </m:r>
                        </m:e>
                      </m:acc>
                      <m:r>
                        <a:rPr>
                          <a:latin typeface="Cambria Math" panose="02040503050406030204" pitchFamily="18" charset="0"/>
                        </a:rPr>
                        <m:t>=</m:t>
                      </m:r>
                      <m:r>
                        <m:rPr>
                          <m:sty m:val="p"/>
                        </m:rPr>
                        <a:rPr>
                          <a:latin typeface="Cambria Math" panose="02040503050406030204" pitchFamily="18" charset="0"/>
                        </a:rPr>
                        <m:t>arg</m:t>
                      </m:r>
                      <m:sSub>
                        <m:sSubPr>
                          <m:ctrlPr>
                            <a:rPr>
                              <a:latin typeface="Cambria Math" panose="02040503050406030204" pitchFamily="18" charset="0"/>
                            </a:rPr>
                          </m:ctrlPr>
                        </m:sSubPr>
                        <m:e>
                          <m:r>
                            <m:rPr>
                              <m:sty m:val="p"/>
                            </m:rPr>
                            <a:rPr>
                              <a:latin typeface="Cambria Math" panose="02040503050406030204" pitchFamily="18" charset="0"/>
                            </a:rPr>
                            <m:t>min</m:t>
                          </m:r>
                        </m:e>
                        <m:sub>
                          <m:r>
                            <a:rPr>
                              <a:latin typeface="Cambria Math" panose="02040503050406030204" pitchFamily="18" charset="0"/>
                            </a:rPr>
                            <m:t>𝑏</m:t>
                          </m:r>
                        </m:sub>
                      </m:sSub>
                      <m:nary>
                        <m:naryPr>
                          <m:chr m:val="∑"/>
                          <m:limLoc m:val="subSup"/>
                          <m:grow m:val="on"/>
                          <m:supHide m:val="on"/>
                          <m:ctrlPr>
                            <a:rPr>
                              <a:latin typeface="Cambria Math" panose="02040503050406030204" pitchFamily="18" charset="0"/>
                            </a:rPr>
                          </m:ctrlPr>
                        </m:naryPr>
                        <m:sub>
                          <m:r>
                            <a:rPr>
                              <a:latin typeface="Cambria Math" panose="02040503050406030204" pitchFamily="18" charset="0"/>
                            </a:rPr>
                            <m:t>𝑖</m:t>
                          </m:r>
                        </m:sub>
                        <m:sup/>
                        <m:e>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𝑖</m:t>
                              </m:r>
                            </m:sub>
                          </m:sSub>
                        </m:e>
                      </m:nary>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m:t>
                      </m:r>
                      <m:r>
                        <a:rPr>
                          <a:latin typeface="Cambria Math" panose="02040503050406030204" pitchFamily="18" charset="0"/>
                        </a:rPr>
                        <m:t>𝑏</m:t>
                      </m:r>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r>
                        <a:rPr>
                          <a:latin typeface="Cambria Math" panose="02040503050406030204" pitchFamily="18" charset="0"/>
                        </a:rPr>
                        <m:t>,</m:t>
                      </m:r>
                      <m:r>
                        <m:rPr>
                          <m:nor/>
                        </m:rPr>
                        <a:rPr i="0"/>
                        <m:t> </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m:rPr>
                              <m:sty m:val="p"/>
                            </m:rPr>
                            <a:rPr>
                              <a:latin typeface="Cambria Math" panose="02040503050406030204" pitchFamily="18" charset="0"/>
                            </a:rPr>
                            <m:t>fex</m:t>
                          </m:r>
                          <m:r>
                            <a:rPr>
                              <a:latin typeface="Cambria Math" panose="02040503050406030204" pitchFamily="18" charset="0"/>
                            </a:rPr>
                            <m:t>_</m:t>
                          </m:r>
                          <m:r>
                            <m:rPr>
                              <m:sty m:val="p"/>
                            </m:rPr>
                            <a:rPr>
                              <a:latin typeface="Cambria Math" panose="02040503050406030204" pitchFamily="18" charset="0"/>
                            </a:rPr>
                            <m:t>c</m:t>
                          </m:r>
                        </m:e>
                        <m:sub>
                          <m:r>
                            <a:rPr>
                              <a:latin typeface="Cambria Math" panose="02040503050406030204" pitchFamily="18" charset="0"/>
                            </a:rPr>
                            <m:t>𝑖</m:t>
                          </m:r>
                        </m:sub>
                      </m:sSub>
                    </m:oMath>
                  </m:oMathPara>
                </a14:m>
                <a:endParaRPr sz="2700"/>
              </a:p>
            </p:txBody>
          </p:sp>
        </mc:Choice>
        <mc:Fallback xmlns="">
          <p:sp>
            <p:nvSpPr>
              <p:cNvPr id="5" name="EQ_age_3_1">
                <a:extLst>
                  <a:ext uri="{FF2B5EF4-FFF2-40B4-BE49-F238E27FC236}">
                    <a16:creationId xmlns:a16="http://schemas.microsoft.com/office/drawing/2014/main" id="{B34694ED-0C7F-4666-BF85-2409C07CC52B}"/>
                  </a:ext>
                </a:extLst>
              </p:cNvPr>
              <p:cNvSpPr>
                <a:spLocks noGrp="1" noRot="1" noChangeAspect="1" noMove="1" noResize="1" noEditPoints="1" noAdjustHandles="1" noChangeArrowheads="1" noChangeShapeType="1" noTextEdit="1"/>
              </p:cNvSpPr>
              <p:nvPr/>
            </p:nvSpPr>
            <p:spPr>
              <a:xfrm>
                <a:off x="685800" y="2333625"/>
                <a:ext cx="10763250" cy="857250"/>
              </a:xfrm>
              <a:prstGeom prst="rect">
                <a:avLst/>
              </a:prstGeom>
              <a:blipFill>
                <a:blip r:embed="rId4"/>
                <a:stretch>
                  <a:fillRect/>
                </a:stretch>
              </a:blipFill>
              <a:ln w="0">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 name="EQ_age_3_2">
                <a:extLst>
                  <a:ext uri="{FF2B5EF4-FFF2-40B4-BE49-F238E27FC236}">
                    <a16:creationId xmlns:a16="http://schemas.microsoft.com/office/drawing/2014/main" id="{CF4266C5-BDAA-4807-B05C-B87C3098FD49}"/>
                  </a:ext>
                </a:extLst>
              </p:cNvPr>
              <p:cNvSpPr>
                <a:spLocks noGrp="1"/>
              </p:cNvSpPr>
              <p:nvPr/>
            </p:nvSpPr>
            <p:spPr>
              <a:xfrm>
                <a:off x="685800" y="3429000"/>
                <a:ext cx="10763250" cy="904875"/>
              </a:xfrm>
              <a:prstGeom prst="rect">
                <a:avLst/>
              </a:prstGeom>
              <a:noFill/>
              <a:ln w="0">
                <a:noFill/>
              </a:ln>
            </p:spPr>
            <p:txBody>
              <a:bodyPr/>
              <a:lstStyle/>
              <a:p>
                <a:pPr algn="l"/>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m:t>
                          </m:r>
                          <m:acc>
                            <m:accPr>
                              <m:chr m:val="ˆ"/>
                              <m:ctrlPr>
                                <a:rPr>
                                  <a:latin typeface="Cambria Math" panose="02040503050406030204" pitchFamily="18" charset="0"/>
                                </a:rPr>
                              </m:ctrlPr>
                            </m:accPr>
                            <m:e>
                              <m:r>
                                <a:rPr>
                                  <a:latin typeface="Cambria Math" panose="02040503050406030204" pitchFamily="18" charset="0"/>
                                </a:rPr>
                                <m:t>𝑦</m:t>
                              </m:r>
                            </m:e>
                          </m:acc>
                        </m:num>
                        <m:den>
                          <m:r>
                            <a:rPr>
                              <a:latin typeface="Cambria Math" panose="02040503050406030204" pitchFamily="18" charset="0"/>
                            </a:rPr>
                            <m:t>𝜕</m:t>
                          </m:r>
                          <m:r>
                            <a:rPr>
                              <a:latin typeface="Cambria Math" panose="02040503050406030204" pitchFamily="18" charset="0"/>
                            </a:rPr>
                            <m:t>𝐴</m:t>
                          </m:r>
                        </m:den>
                      </m:f>
                      <m:r>
                        <a:rPr>
                          <a:latin typeface="Cambria Math" panose="02040503050406030204" pitchFamily="18" charset="0"/>
                        </a:rPr>
                        <m:t>=</m:t>
                      </m:r>
                      <m:sSub>
                        <m:sSubPr>
                          <m:ctrlPr>
                            <a:rPr i="1">
                              <a:latin typeface="Cambria Math" panose="02040503050406030204" pitchFamily="18" charset="0"/>
                            </a:rPr>
                          </m:ctrlPr>
                        </m:sSubPr>
                        <m:e>
                          <m:acc>
                            <m:accPr>
                              <m:chr m:val="ˆ"/>
                              <m:ctrlPr>
                                <a:rPr>
                                  <a:latin typeface="Cambria Math" panose="02040503050406030204" pitchFamily="18" charset="0"/>
                                </a:rPr>
                              </m:ctrlPr>
                            </m:accPr>
                            <m:e>
                              <m:r>
                                <a:rPr>
                                  <a:latin typeface="Cambria Math" panose="02040503050406030204" pitchFamily="18" charset="0"/>
                                </a:rPr>
                                <m:t>𝛽</m:t>
                              </m:r>
                            </m:e>
                          </m:acc>
                        </m:e>
                        <m:sub>
                          <m:r>
                            <a:rPr>
                              <a:latin typeface="Cambria Math" panose="02040503050406030204" pitchFamily="18" charset="0"/>
                            </a:rPr>
                            <m:t>1</m:t>
                          </m:r>
                        </m:sub>
                      </m:sSub>
                      <m:r>
                        <a:rPr>
                          <a:latin typeface="Cambria Math" panose="02040503050406030204" pitchFamily="18" charset="0"/>
                        </a:rPr>
                        <m:t>+2</m:t>
                      </m:r>
                      <m:sSub>
                        <m:sSubPr>
                          <m:ctrlPr>
                            <a:rPr i="1">
                              <a:latin typeface="Cambria Math" panose="02040503050406030204" pitchFamily="18" charset="0"/>
                            </a:rPr>
                          </m:ctrlPr>
                        </m:sSubPr>
                        <m:e>
                          <m:acc>
                            <m:accPr>
                              <m:chr m:val="ˆ"/>
                              <m:ctrlPr>
                                <a:rPr>
                                  <a:latin typeface="Cambria Math" panose="02040503050406030204" pitchFamily="18" charset="0"/>
                                </a:rPr>
                              </m:ctrlPr>
                            </m:accPr>
                            <m:e>
                              <m:r>
                                <a:rPr>
                                  <a:latin typeface="Cambria Math" panose="02040503050406030204" pitchFamily="18" charset="0"/>
                                </a:rPr>
                                <m:t>𝛽</m:t>
                              </m:r>
                            </m:e>
                          </m:acc>
                        </m:e>
                        <m:sub>
                          <m:r>
                            <a:rPr>
                              <a:latin typeface="Cambria Math" panose="02040503050406030204" pitchFamily="18" charset="0"/>
                            </a:rPr>
                            <m:t>2</m:t>
                          </m:r>
                        </m:sub>
                      </m:sSub>
                      <m:r>
                        <a:rPr>
                          <a:latin typeface="Cambria Math" panose="02040503050406030204" pitchFamily="18" charset="0"/>
                        </a:rPr>
                        <m:t>𝐴</m:t>
                      </m:r>
                      <m:r>
                        <a:rPr>
                          <a:latin typeface="Cambria Math" panose="02040503050406030204" pitchFamily="18" charset="0"/>
                        </a:rPr>
                        <m:t>,</m:t>
                      </m:r>
                      <m:r>
                        <m:rPr>
                          <m:nor/>
                        </m:rPr>
                        <a:rPr i="0"/>
                        <m:t> </m:t>
                      </m:r>
                      <m:sSup>
                        <m:sSupPr>
                          <m:ctrlPr>
                            <a:rPr i="1">
                              <a:latin typeface="Cambria Math" panose="02040503050406030204" pitchFamily="18" charset="0"/>
                            </a:rPr>
                          </m:ctrlPr>
                        </m:sSupPr>
                        <m:e>
                          <m:acc>
                            <m:accPr>
                              <m:chr m:val="ˆ"/>
                              <m:ctrlPr>
                                <a:rPr>
                                  <a:latin typeface="Cambria Math" panose="02040503050406030204" pitchFamily="18" charset="0"/>
                                </a:rPr>
                              </m:ctrlPr>
                            </m:accPr>
                            <m:e>
                              <m:r>
                                <a:rPr>
                                  <a:latin typeface="Cambria Math" panose="02040503050406030204" pitchFamily="18" charset="0"/>
                                </a:rPr>
                                <m:t>𝐴</m:t>
                              </m:r>
                            </m:e>
                          </m:acc>
                        </m:e>
                        <m:sup>
                          <m:r>
                            <a:rPr>
                              <a:latin typeface="Cambria Math" panose="02040503050406030204" pitchFamily="18" charset="0"/>
                            </a:rPr>
                            <m:t>∗</m:t>
                          </m:r>
                        </m:sup>
                      </m:sSup>
                      <m:r>
                        <a:rPr>
                          <a:latin typeface="Cambria Math" panose="02040503050406030204" pitchFamily="18" charset="0"/>
                        </a:rPr>
                        <m:t>=−</m:t>
                      </m:r>
                      <m:f>
                        <m:fPr>
                          <m:ctrlPr>
                            <a:rPr i="1">
                              <a:latin typeface="Cambria Math" panose="02040503050406030204" pitchFamily="18" charset="0"/>
                            </a:rPr>
                          </m:ctrlPr>
                        </m:fPr>
                        <m:num>
                          <m:sSub>
                            <m:sSubPr>
                              <m:ctrlPr>
                                <a:rPr i="1">
                                  <a:latin typeface="Cambria Math" panose="02040503050406030204" pitchFamily="18" charset="0"/>
                                </a:rPr>
                              </m:ctrlPr>
                            </m:sSubPr>
                            <m:e>
                              <m:acc>
                                <m:accPr>
                                  <m:chr m:val="ˆ"/>
                                  <m:ctrlPr>
                                    <a:rPr>
                                      <a:latin typeface="Cambria Math" panose="02040503050406030204" pitchFamily="18" charset="0"/>
                                    </a:rPr>
                                  </m:ctrlPr>
                                </m:accPr>
                                <m:e>
                                  <m:r>
                                    <a:rPr>
                                      <a:latin typeface="Cambria Math" panose="02040503050406030204" pitchFamily="18" charset="0"/>
                                    </a:rPr>
                                    <m:t>𝛽</m:t>
                                  </m:r>
                                </m:e>
                              </m:acc>
                            </m:e>
                            <m:sub>
                              <m:r>
                                <a:rPr>
                                  <a:latin typeface="Cambria Math" panose="02040503050406030204" pitchFamily="18" charset="0"/>
                                </a:rPr>
                                <m:t>1</m:t>
                              </m:r>
                            </m:sub>
                          </m:sSub>
                        </m:num>
                        <m:den>
                          <m:r>
                            <a:rPr>
                              <a:latin typeface="Cambria Math" panose="02040503050406030204" pitchFamily="18" charset="0"/>
                            </a:rPr>
                            <m:t>2</m:t>
                          </m:r>
                          <m:sSub>
                            <m:sSubPr>
                              <m:ctrlPr>
                                <a:rPr i="1">
                                  <a:latin typeface="Cambria Math" panose="02040503050406030204" pitchFamily="18" charset="0"/>
                                </a:rPr>
                              </m:ctrlPr>
                            </m:sSubPr>
                            <m:e>
                              <m:acc>
                                <m:accPr>
                                  <m:chr m:val="ˆ"/>
                                  <m:ctrlPr>
                                    <a:rPr>
                                      <a:latin typeface="Cambria Math" panose="02040503050406030204" pitchFamily="18" charset="0"/>
                                    </a:rPr>
                                  </m:ctrlPr>
                                </m:accPr>
                                <m:e>
                                  <m:r>
                                    <a:rPr>
                                      <a:latin typeface="Cambria Math" panose="02040503050406030204" pitchFamily="18" charset="0"/>
                                    </a:rPr>
                                    <m:t>𝛽</m:t>
                                  </m:r>
                                </m:e>
                              </m:acc>
                            </m:e>
                            <m:sub>
                              <m:r>
                                <a:rPr>
                                  <a:latin typeface="Cambria Math" panose="02040503050406030204" pitchFamily="18" charset="0"/>
                                </a:rPr>
                                <m:t>2</m:t>
                              </m:r>
                            </m:sub>
                          </m:sSub>
                        </m:den>
                      </m:f>
                    </m:oMath>
                  </m:oMathPara>
                </a14:m>
                <a:endParaRPr sz="2800"/>
              </a:p>
            </p:txBody>
          </p:sp>
        </mc:Choice>
        <mc:Fallback xmlns="">
          <p:sp>
            <p:nvSpPr>
              <p:cNvPr id="6" name="EQ_age_3_2">
                <a:extLst>
                  <a:ext uri="{FF2B5EF4-FFF2-40B4-BE49-F238E27FC236}">
                    <a16:creationId xmlns:a16="http://schemas.microsoft.com/office/drawing/2014/main" id="{CF4266C5-BDAA-4807-B05C-B87C3098FD49}"/>
                  </a:ext>
                </a:extLst>
              </p:cNvPr>
              <p:cNvSpPr>
                <a:spLocks noGrp="1" noRot="1" noChangeAspect="1" noMove="1" noResize="1" noEditPoints="1" noAdjustHandles="1" noChangeArrowheads="1" noChangeShapeType="1" noTextEdit="1"/>
              </p:cNvSpPr>
              <p:nvPr/>
            </p:nvSpPr>
            <p:spPr>
              <a:xfrm>
                <a:off x="685800" y="3429000"/>
                <a:ext cx="10763250" cy="904875"/>
              </a:xfrm>
              <a:prstGeom prst="rect">
                <a:avLst/>
              </a:prstGeom>
              <a:blipFill>
                <a:blip r:embed="rId5"/>
                <a:stretch>
                  <a:fillRect/>
                </a:stretch>
              </a:blipFill>
              <a:ln w="0">
                <a:noFill/>
              </a:ln>
            </p:spPr>
            <p:txBody>
              <a:bodyPr/>
              <a:lstStyle/>
              <a:p>
                <a:r>
                  <a:rPr lang="es-CO">
                    <a:noFill/>
                  </a:rPr>
                  <a:t> </a:t>
                </a:r>
              </a:p>
            </p:txBody>
          </p:sp>
        </mc:Fallback>
      </mc:AlternateContent>
      <p:sp>
        <p:nvSpPr>
          <p:cNvPr id="7" name="Rectángulo 6">
            <a:extLst>
              <a:ext uri="{FF2B5EF4-FFF2-40B4-BE49-F238E27FC236}">
                <a16:creationId xmlns:a16="http://schemas.microsoft.com/office/drawing/2014/main" id="{EB049379-1422-4C03-B9A5-A59E891576FD}"/>
              </a:ext>
            </a:extLst>
          </p:cNvPr>
          <p:cNvSpPr>
            <a:spLocks noGrp="1"/>
          </p:cNvSpPr>
          <p:nvPr/>
        </p:nvSpPr>
        <p:spPr>
          <a:xfrm>
            <a:off x="685800" y="4953000"/>
            <a:ext cx="10763250" cy="857250"/>
          </a:xfrm>
          <a:prstGeom prst="rect">
            <a:avLst/>
          </a:prstGeom>
          <a:noFill/>
          <a:ln w="0">
            <a:noFill/>
          </a:ln>
        </p:spPr>
        <p:txBody>
          <a:bodyPr>
            <a:noAutofit/>
          </a:bodyPr>
          <a:lstStyle/>
          <a:p>
            <a:pPr>
              <a:defRPr sz="1950" b="0">
                <a:solidFill>
                  <a:srgbClr val="172F42"/>
                </a:solidFill>
                <a:latin typeface="Arial"/>
                <a:ea typeface="Arial"/>
                <a:cs typeface="Arial"/>
              </a:defRPr>
            </a:pPr>
            <a:r>
              <a:rPr sz="1950" b="0" dirty="0">
                <a:solidFill>
                  <a:srgbClr val="172F42"/>
                </a:solidFill>
                <a:latin typeface="Arial"/>
                <a:ea typeface="Arial"/>
                <a:cs typeface="Arial"/>
              </a:rPr>
              <a:t>El </a:t>
            </a:r>
            <a:r>
              <a:rPr sz="1950" b="0" dirty="0" err="1">
                <a:solidFill>
                  <a:srgbClr val="172F42"/>
                </a:solidFill>
                <a:latin typeface="Arial"/>
                <a:ea typeface="Arial"/>
                <a:cs typeface="Arial"/>
              </a:rPr>
              <a:t>ingreso</a:t>
            </a:r>
            <a:r>
              <a:rPr sz="1950" b="0" dirty="0">
                <a:solidFill>
                  <a:srgbClr val="172F42"/>
                </a:solidFill>
                <a:latin typeface="Arial"/>
                <a:ea typeface="Arial"/>
                <a:cs typeface="Arial"/>
              </a:rPr>
              <a:t> es </a:t>
            </a:r>
            <a:r>
              <a:rPr sz="1950" b="0" dirty="0" err="1">
                <a:solidFill>
                  <a:srgbClr val="172F42"/>
                </a:solidFill>
                <a:latin typeface="Arial"/>
                <a:ea typeface="Arial"/>
                <a:cs typeface="Arial"/>
              </a:rPr>
              <a:t>mensual</a:t>
            </a:r>
            <a:r>
              <a:rPr sz="1950" b="0" dirty="0">
                <a:solidFill>
                  <a:srgbClr val="172F42"/>
                </a:solidFill>
                <a:latin typeface="Arial"/>
                <a:ea typeface="Arial"/>
                <a:cs typeface="Arial"/>
              </a:rPr>
              <a:t>. El </a:t>
            </a:r>
            <a:r>
              <a:rPr sz="1950" b="0" dirty="0" err="1">
                <a:solidFill>
                  <a:srgbClr val="172F42"/>
                </a:solidFill>
                <a:latin typeface="Arial"/>
                <a:ea typeface="Arial"/>
                <a:cs typeface="Arial"/>
              </a:rPr>
              <a:t>máximo</a:t>
            </a:r>
            <a:r>
              <a:rPr sz="1950" b="0" dirty="0">
                <a:solidFill>
                  <a:srgbClr val="172F42"/>
                </a:solidFill>
                <a:latin typeface="Arial"/>
                <a:ea typeface="Arial"/>
                <a:cs typeface="Arial"/>
              </a:rPr>
              <a:t> </a:t>
            </a:r>
            <a:r>
              <a:rPr sz="1950" b="0" dirty="0" err="1">
                <a:solidFill>
                  <a:srgbClr val="172F42"/>
                </a:solidFill>
                <a:latin typeface="Arial"/>
                <a:ea typeface="Arial"/>
                <a:cs typeface="Arial"/>
              </a:rPr>
              <a:t>requiere</a:t>
            </a:r>
            <a:r>
              <a:rPr sz="1950" b="0" dirty="0">
                <a:solidFill>
                  <a:srgbClr val="172F42"/>
                </a:solidFill>
                <a:latin typeface="Arial"/>
                <a:ea typeface="Arial"/>
                <a:cs typeface="Arial"/>
              </a:rPr>
              <a:t> β₂ &lt; 0 y </a:t>
            </a:r>
            <a:r>
              <a:rPr sz="1950" b="0" dirty="0" err="1">
                <a:solidFill>
                  <a:srgbClr val="172F42"/>
                </a:solidFill>
                <a:latin typeface="Arial"/>
                <a:ea typeface="Arial"/>
                <a:cs typeface="Arial"/>
              </a:rPr>
              <a:t>debe</a:t>
            </a:r>
            <a:r>
              <a:rPr sz="1950" b="0" dirty="0">
                <a:solidFill>
                  <a:srgbClr val="172F42"/>
                </a:solidFill>
                <a:latin typeface="Arial"/>
                <a:ea typeface="Arial"/>
                <a:cs typeface="Arial"/>
              </a:rPr>
              <a:t> </a:t>
            </a:r>
            <a:r>
              <a:rPr sz="1950" b="0" dirty="0" err="1">
                <a:solidFill>
                  <a:srgbClr val="172F42"/>
                </a:solidFill>
                <a:latin typeface="Arial"/>
                <a:ea typeface="Arial"/>
                <a:cs typeface="Arial"/>
              </a:rPr>
              <a:t>estar</a:t>
            </a:r>
            <a:r>
              <a:rPr sz="1950" b="0" dirty="0">
                <a:solidFill>
                  <a:srgbClr val="172F42"/>
                </a:solidFill>
                <a:latin typeface="Arial"/>
                <a:ea typeface="Arial"/>
                <a:cs typeface="Arial"/>
              </a:rPr>
              <a:t> </a:t>
            </a:r>
            <a:r>
              <a:rPr sz="1950" b="0" dirty="0" err="1">
                <a:solidFill>
                  <a:srgbClr val="172F42"/>
                </a:solidFill>
                <a:latin typeface="Arial"/>
                <a:ea typeface="Arial"/>
                <a:cs typeface="Arial"/>
              </a:rPr>
              <a:t>dentro</a:t>
            </a:r>
            <a:r>
              <a:rPr sz="1950" b="0" dirty="0">
                <a:solidFill>
                  <a:srgbClr val="172F42"/>
                </a:solidFill>
                <a:latin typeface="Arial"/>
                <a:ea typeface="Arial"/>
                <a:cs typeface="Arial"/>
              </a:rPr>
              <a:t> del </a:t>
            </a:r>
            <a:r>
              <a:rPr sz="1950" b="0" dirty="0" err="1">
                <a:solidFill>
                  <a:srgbClr val="172F42"/>
                </a:solidFill>
                <a:latin typeface="Arial"/>
                <a:ea typeface="Arial"/>
                <a:cs typeface="Arial"/>
              </a:rPr>
              <a:t>rango</a:t>
            </a:r>
            <a:r>
              <a:rPr sz="1950" b="0" dirty="0">
                <a:solidFill>
                  <a:srgbClr val="172F42"/>
                </a:solidFill>
                <a:latin typeface="Arial"/>
                <a:ea typeface="Arial"/>
                <a:cs typeface="Arial"/>
              </a:rPr>
              <a:t> de </a:t>
            </a:r>
            <a:r>
              <a:rPr sz="1950" b="0" dirty="0" err="1">
                <a:solidFill>
                  <a:srgbClr val="172F42"/>
                </a:solidFill>
                <a:latin typeface="Arial"/>
                <a:ea typeface="Arial"/>
                <a:cs typeface="Arial"/>
              </a:rPr>
              <a:t>edad</a:t>
            </a:r>
            <a:r>
              <a:rPr sz="1950" b="0" dirty="0">
                <a:solidFill>
                  <a:srgbClr val="172F42"/>
                </a:solidFill>
                <a:latin typeface="Arial"/>
                <a:ea typeface="Arial"/>
                <a:cs typeface="Arial"/>
              </a:rPr>
              <a:t> </a:t>
            </a:r>
            <a:r>
              <a:rPr sz="1950" b="0" dirty="0" err="1">
                <a:solidFill>
                  <a:srgbClr val="172F42"/>
                </a:solidFill>
                <a:latin typeface="Arial"/>
                <a:ea typeface="Arial"/>
                <a:cs typeface="Arial"/>
              </a:rPr>
              <a:t>observado</a:t>
            </a:r>
            <a:r>
              <a:rPr sz="1950" b="0" dirty="0">
                <a:solidFill>
                  <a:srgbClr val="172F42"/>
                </a:solidFill>
                <a:latin typeface="Arial"/>
                <a:ea typeface="Arial"/>
                <a:cs typeface="Arial"/>
              </a:rPr>
              <a:t>.</a:t>
            </a:r>
          </a:p>
        </p:txBody>
      </p:sp>
    </p:spTree>
    <p:extLst>
      <p:ext uri="{BB962C8B-B14F-4D97-AF65-F5344CB8AC3E}">
        <p14:creationId xmlns:p14="http://schemas.microsoft.com/office/powerpoint/2010/main" val="1435909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165B1DC4-63C3-47DF-B922-7B5C19DBCC32}"/>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El intervalo percentil hace visible la incertidumbre</a:t>
            </a:r>
          </a:p>
        </p:txBody>
      </p:sp>
      <p:sp>
        <p:nvSpPr>
          <p:cNvPr id="2" name="Rectángulo 1">
            <a:extLst>
              <a:ext uri="{FF2B5EF4-FFF2-40B4-BE49-F238E27FC236}">
                <a16:creationId xmlns:a16="http://schemas.microsoft.com/office/drawing/2014/main" id="{20EF3B78-C9A7-4FF8-A85B-2EB347648AC4}"/>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dirty="0">
                <a:solidFill>
                  <a:srgbClr val="526471"/>
                </a:solidFill>
                <a:latin typeface="Arial"/>
                <a:ea typeface="Arial"/>
                <a:cs typeface="Arial"/>
              </a:rPr>
              <a:t>n = 14.764. Población </a:t>
            </a:r>
            <a:r>
              <a:rPr sz="1125" b="0" dirty="0" err="1">
                <a:solidFill>
                  <a:srgbClr val="526471"/>
                </a:solidFill>
                <a:latin typeface="Arial"/>
                <a:ea typeface="Arial"/>
                <a:cs typeface="Arial"/>
              </a:rPr>
              <a:t>representada</a:t>
            </a:r>
            <a:r>
              <a:rPr lang="es-CO" sz="1125" dirty="0">
                <a:solidFill>
                  <a:srgbClr val="526471"/>
                </a:solidFill>
                <a:latin typeface="Arial"/>
                <a:ea typeface="Arial"/>
                <a:cs typeface="Arial"/>
              </a:rPr>
              <a:t> por Factor de Expansión</a:t>
            </a:r>
            <a:r>
              <a:rPr sz="1125" b="0" dirty="0">
                <a:solidFill>
                  <a:srgbClr val="526471"/>
                </a:solidFill>
                <a:latin typeface="Arial"/>
                <a:ea typeface="Arial"/>
                <a:cs typeface="Arial"/>
              </a:rPr>
              <a:t> ≈ 3.686.676 personas. Fuente: GEIH 2018, Bogotá.</a:t>
            </a:r>
          </a:p>
        </p:txBody>
      </p:sp>
      <p:sp>
        <p:nvSpPr>
          <p:cNvPr id="3" name="Rectángulo 2">
            <a:extLst>
              <a:ext uri="{FF2B5EF4-FFF2-40B4-BE49-F238E27FC236}">
                <a16:creationId xmlns:a16="http://schemas.microsoft.com/office/drawing/2014/main" id="{F9DBFD4C-C4E0-4BF4-A8CD-83AEB762ED80}"/>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4</a:t>
            </a:r>
          </a:p>
        </p:txBody>
      </p:sp>
      <mc:AlternateContent xmlns:mc="http://schemas.openxmlformats.org/markup-compatibility/2006" xmlns:a14="http://schemas.microsoft.com/office/drawing/2010/main">
        <mc:Choice Requires="a14">
          <p:sp>
            <p:nvSpPr>
              <p:cNvPr id="4" name="EQ_age_4_3">
                <a:extLst>
                  <a:ext uri="{FF2B5EF4-FFF2-40B4-BE49-F238E27FC236}">
                    <a16:creationId xmlns:a16="http://schemas.microsoft.com/office/drawing/2014/main" id="{65A16C7D-7706-47B7-B667-E633DFAF8B43}"/>
                  </a:ext>
                </a:extLst>
              </p:cNvPr>
              <p:cNvSpPr>
                <a:spLocks noGrp="1"/>
              </p:cNvSpPr>
              <p:nvPr/>
            </p:nvSpPr>
            <p:spPr>
              <a:xfrm>
                <a:off x="685800" y="1238250"/>
                <a:ext cx="10763250" cy="904875"/>
              </a:xfrm>
              <a:prstGeom prst="rect">
                <a:avLst/>
              </a:prstGeom>
              <a:noFill/>
              <a:ln w="0">
                <a:noFill/>
              </a:ln>
            </p:spPr>
            <p:txBody>
              <a:bodyPr/>
              <a:lstStyle/>
              <a:p>
                <a:pPr algn="l"/>
                <a14:m>
                  <m:oMathPara xmlns:m="http://schemas.openxmlformats.org/officeDocument/2006/math">
                    <m:oMath>
                      <m:r>
                        <a:rPr>
                          <a:latin typeface="Cambria Math" panose="02040503050406030204" pitchFamily="18" charset="0"/>
                        </a:rPr>
                        <m:t>𝐼</m:t>
                      </m:r>
                      <m:sSubSup>
                        <m:sSubSupPr>
                          <m:ctrlPr>
                            <a:rPr>
                              <a:latin typeface="Cambria Math" panose="02040503050406030204" pitchFamily="18" charset="0"/>
                            </a:rPr>
                          </m:ctrlPr>
                        </m:sSubSupPr>
                        <m:e>
                          <m:r>
                            <a:rPr>
                              <a:latin typeface="Cambria Math" panose="02040503050406030204" pitchFamily="18" charset="0"/>
                            </a:rPr>
                            <m:t>𝐶</m:t>
                          </m:r>
                        </m:e>
                        <m:sub>
                          <m:r>
                            <a:rPr>
                              <a:latin typeface="Cambria Math" panose="02040503050406030204" pitchFamily="18" charset="0"/>
                            </a:rPr>
                            <m:t>95%</m:t>
                          </m:r>
                        </m:sub>
                        <m:sup>
                          <m:r>
                            <m:rPr>
                              <m:sty m:val="p"/>
                            </m:rPr>
                            <a:rPr>
                              <a:latin typeface="Cambria Math" panose="02040503050406030204" pitchFamily="18" charset="0"/>
                            </a:rPr>
                            <m:t>percentil</m:t>
                          </m:r>
                        </m:sup>
                      </m:sSubSup>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𝑄</m:t>
                          </m:r>
                        </m:e>
                        <m:sub>
                          <m:r>
                            <a:rPr>
                              <a:latin typeface="Cambria Math" panose="02040503050406030204" pitchFamily="18" charset="0"/>
                            </a:rPr>
                            <m:t>0.025</m:t>
                          </m:r>
                        </m:sub>
                      </m:sSub>
                      <m:r>
                        <a:rPr>
                          <a:latin typeface="Cambria Math" panose="02040503050406030204" pitchFamily="18" charset="0"/>
                        </a:rPr>
                        <m:t>(</m:t>
                      </m:r>
                      <m:sSup>
                        <m:sSupPr>
                          <m:ctrlPr>
                            <a:rPr i="1">
                              <a:latin typeface="Cambria Math" panose="02040503050406030204" pitchFamily="18" charset="0"/>
                            </a:rPr>
                          </m:ctrlPr>
                        </m:sSupPr>
                        <m:e>
                          <m:acc>
                            <m:accPr>
                              <m:chr m:val="ˆ"/>
                              <m:ctrlPr>
                                <a:rPr>
                                  <a:latin typeface="Cambria Math" panose="02040503050406030204" pitchFamily="18" charset="0"/>
                                </a:rPr>
                              </m:ctrlPr>
                            </m:accPr>
                            <m:e>
                              <m:r>
                                <a:rPr>
                                  <a:latin typeface="Cambria Math" panose="02040503050406030204" pitchFamily="18" charset="0"/>
                                </a:rPr>
                                <m:t>𝐴</m:t>
                              </m:r>
                            </m:e>
                          </m:acc>
                        </m:e>
                        <m:sup>
                          <m:r>
                            <a:rPr>
                              <a:latin typeface="Cambria Math" panose="02040503050406030204" pitchFamily="18" charset="0"/>
                            </a:rPr>
                            <m:t>∗(</m:t>
                          </m:r>
                          <m:r>
                            <a:rPr>
                              <a:latin typeface="Cambria Math" panose="02040503050406030204" pitchFamily="18" charset="0"/>
                            </a:rPr>
                            <m:t>𝑏</m:t>
                          </m:r>
                          <m:r>
                            <a:rPr>
                              <a:latin typeface="Cambria Math" panose="02040503050406030204" pitchFamily="18" charset="0"/>
                            </a:rPr>
                            <m:t>)</m:t>
                          </m:r>
                        </m:sup>
                      </m:sSup>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𝑄</m:t>
                          </m:r>
                        </m:e>
                        <m:sub>
                          <m:r>
                            <a:rPr>
                              <a:latin typeface="Cambria Math" panose="02040503050406030204" pitchFamily="18" charset="0"/>
                            </a:rPr>
                            <m:t>0.975</m:t>
                          </m:r>
                        </m:sub>
                      </m:sSub>
                      <m:r>
                        <a:rPr>
                          <a:latin typeface="Cambria Math" panose="02040503050406030204" pitchFamily="18" charset="0"/>
                        </a:rPr>
                        <m:t>(</m:t>
                      </m:r>
                      <m:sSup>
                        <m:sSupPr>
                          <m:ctrlPr>
                            <a:rPr i="1">
                              <a:latin typeface="Cambria Math" panose="02040503050406030204" pitchFamily="18" charset="0"/>
                            </a:rPr>
                          </m:ctrlPr>
                        </m:sSupPr>
                        <m:e>
                          <m:acc>
                            <m:accPr>
                              <m:chr m:val="ˆ"/>
                              <m:ctrlPr>
                                <a:rPr>
                                  <a:latin typeface="Cambria Math" panose="02040503050406030204" pitchFamily="18" charset="0"/>
                                </a:rPr>
                              </m:ctrlPr>
                            </m:accPr>
                            <m:e>
                              <m:r>
                                <a:rPr>
                                  <a:latin typeface="Cambria Math" panose="02040503050406030204" pitchFamily="18" charset="0"/>
                                </a:rPr>
                                <m:t>𝐴</m:t>
                              </m:r>
                            </m:e>
                          </m:acc>
                        </m:e>
                        <m:sup>
                          <m:r>
                            <a:rPr>
                              <a:latin typeface="Cambria Math" panose="02040503050406030204" pitchFamily="18" charset="0"/>
                            </a:rPr>
                            <m:t>∗(</m:t>
                          </m:r>
                          <m:r>
                            <a:rPr>
                              <a:latin typeface="Cambria Math" panose="02040503050406030204" pitchFamily="18" charset="0"/>
                            </a:rPr>
                            <m:t>𝑏</m:t>
                          </m:r>
                          <m:r>
                            <a:rPr>
                              <a:latin typeface="Cambria Math" panose="02040503050406030204" pitchFamily="18" charset="0"/>
                            </a:rPr>
                            <m:t>)</m:t>
                          </m:r>
                        </m:sup>
                      </m:sSup>
                      <m:r>
                        <a:rPr>
                          <a:latin typeface="Cambria Math" panose="02040503050406030204" pitchFamily="18" charset="0"/>
                        </a:rPr>
                        <m:t>)]</m:t>
                      </m:r>
                    </m:oMath>
                  </m:oMathPara>
                </a14:m>
                <a:endParaRPr sz="2700"/>
              </a:p>
            </p:txBody>
          </p:sp>
        </mc:Choice>
        <mc:Fallback xmlns="">
          <p:sp>
            <p:nvSpPr>
              <p:cNvPr id="4" name="EQ_age_4_3">
                <a:extLst>
                  <a:ext uri="{FF2B5EF4-FFF2-40B4-BE49-F238E27FC236}">
                    <a16:creationId xmlns:a16="http://schemas.microsoft.com/office/drawing/2014/main" id="{65A16C7D-7706-47B7-B667-E633DFAF8B43}"/>
                  </a:ext>
                </a:extLst>
              </p:cNvPr>
              <p:cNvSpPr>
                <a:spLocks noGrp="1" noRot="1" noChangeAspect="1" noMove="1" noResize="1" noEditPoints="1" noAdjustHandles="1" noChangeArrowheads="1" noChangeShapeType="1" noTextEdit="1"/>
              </p:cNvSpPr>
              <p:nvPr/>
            </p:nvSpPr>
            <p:spPr>
              <a:xfrm>
                <a:off x="685800" y="1238250"/>
                <a:ext cx="10763250" cy="904875"/>
              </a:xfrm>
              <a:prstGeom prst="rect">
                <a:avLst/>
              </a:prstGeom>
              <a:blipFill>
                <a:blip r:embed="rId3"/>
                <a:stretch>
                  <a:fillRect/>
                </a:stretch>
              </a:blipFill>
              <a:ln w="0">
                <a:noFill/>
              </a:ln>
            </p:spPr>
            <p:txBody>
              <a:bodyPr/>
              <a:lstStyle/>
              <a:p>
                <a:r>
                  <a:rPr lang="es-CO">
                    <a:noFill/>
                  </a:rPr>
                  <a:t> </a:t>
                </a:r>
              </a:p>
            </p:txBody>
          </p:sp>
        </mc:Fallback>
      </mc:AlternateContent>
      <p:graphicFrame>
        <p:nvGraphicFramePr>
          <p:cNvPr id="11" name="Tabla 10"/>
          <p:cNvGraphicFramePr/>
          <p:nvPr/>
        </p:nvGraphicFramePr>
        <p:xfrm>
          <a:off x="609600" y="2571750"/>
          <a:ext cx="10972800" cy="1762125"/>
        </p:xfrm>
        <a:graphic>
          <a:graphicData uri="http://schemas.openxmlformats.org/drawingml/2006/table">
            <a:tbl>
              <a:tblPr/>
              <a:tblGrid>
                <a:gridCol w="276225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3190875">
                  <a:extLst>
                    <a:ext uri="{9D8B030D-6E8A-4147-A177-3AD203B41FA5}">
                      <a16:colId xmlns:a16="http://schemas.microsoft.com/office/drawing/2014/main" val="20002"/>
                    </a:ext>
                  </a:extLst>
                </a:gridCol>
                <a:gridCol w="3305175">
                  <a:extLst>
                    <a:ext uri="{9D8B030D-6E8A-4147-A177-3AD203B41FA5}">
                      <a16:colId xmlns:a16="http://schemas.microsoft.com/office/drawing/2014/main" val="20003"/>
                    </a:ext>
                  </a:extLst>
                </a:gridCol>
              </a:tblGrid>
              <a:tr h="587375">
                <a:tc>
                  <a:txBody>
                    <a:bodyPr/>
                    <a:lstStyle/>
                    <a:p>
                      <a:r>
                        <a:rPr sz="1800" b="0">
                          <a:solidFill>
                            <a:srgbClr val="172F42"/>
                          </a:solidFill>
                          <a:latin typeface="Arial"/>
                          <a:ea typeface="Arial"/>
                          <a:cs typeface="Arial"/>
                        </a:rPr>
                        <a:t>Modelo</a:t>
                      </a:r>
                    </a:p>
                  </a:txBody>
                  <a:tcPr marL="95250" marR="95250" marT="57150" marB="57150">
                    <a:solidFill>
                      <a:srgbClr val="EDF3F7"/>
                    </a:solidFill>
                  </a:tcPr>
                </a:tc>
                <a:tc>
                  <a:txBody>
                    <a:bodyPr/>
                    <a:lstStyle/>
                    <a:p>
                      <a:r>
                        <a:rPr sz="1800" b="0">
                          <a:solidFill>
                            <a:srgbClr val="172F42"/>
                          </a:solidFill>
                          <a:latin typeface="Arial"/>
                          <a:ea typeface="Arial"/>
                          <a:cs typeface="Arial"/>
                        </a:rPr>
                        <a:t>Pico (años)</a:t>
                      </a:r>
                    </a:p>
                  </a:txBody>
                  <a:tcPr marL="95250" marR="95250" marT="57150" marB="57150">
                    <a:solidFill>
                      <a:srgbClr val="EDF3F7"/>
                    </a:solidFill>
                  </a:tcPr>
                </a:tc>
                <a:tc>
                  <a:txBody>
                    <a:bodyPr/>
                    <a:lstStyle/>
                    <a:p>
                      <a:r>
                        <a:rPr sz="1800" b="0">
                          <a:solidFill>
                            <a:srgbClr val="172F42"/>
                          </a:solidFill>
                          <a:latin typeface="Arial"/>
                          <a:ea typeface="Arial"/>
                          <a:cs typeface="Arial"/>
                        </a:rPr>
                        <a:t>IC 95% percentil</a:t>
                      </a:r>
                    </a:p>
                  </a:txBody>
                  <a:tcPr marL="95250" marR="95250" marT="57150" marB="57150">
                    <a:solidFill>
                      <a:srgbClr val="EDF3F7"/>
                    </a:solidFill>
                  </a:tcPr>
                </a:tc>
                <a:tc>
                  <a:txBody>
                    <a:bodyPr/>
                    <a:lstStyle/>
                    <a:p>
                      <a:r>
                        <a:rPr sz="1800" b="0">
                          <a:solidFill>
                            <a:srgbClr val="172F42"/>
                          </a:solidFill>
                          <a:latin typeface="Arial"/>
                          <a:ea typeface="Arial"/>
                          <a:cs typeface="Arial"/>
                        </a:rPr>
                        <a:t>IC 95% delta</a:t>
                      </a:r>
                    </a:p>
                  </a:txBody>
                  <a:tcPr marL="95250" marR="95250" marT="57150" marB="57150">
                    <a:solidFill>
                      <a:srgbClr val="EDF3F7"/>
                    </a:solidFill>
                  </a:tcPr>
                </a:tc>
                <a:extLst>
                  <a:ext uri="{0D108BD9-81ED-4DB2-BD59-A6C34878D82A}">
                    <a16:rowId xmlns:a16="http://schemas.microsoft.com/office/drawing/2014/main" val="10000"/>
                  </a:ext>
                </a:extLst>
              </a:tr>
              <a:tr h="587375">
                <a:tc>
                  <a:txBody>
                    <a:bodyPr/>
                    <a:lstStyle/>
                    <a:p>
                      <a:r>
                        <a:rPr sz="1800" b="0">
                          <a:solidFill>
                            <a:srgbClr val="172F42"/>
                          </a:solidFill>
                          <a:latin typeface="Arial"/>
                          <a:ea typeface="Arial"/>
                          <a:cs typeface="Arial"/>
                        </a:rPr>
                        <a:t>Incondicional</a:t>
                      </a:r>
                    </a:p>
                  </a:txBody>
                  <a:tcPr marL="95250" marR="95250" marT="57150" marB="57150">
                    <a:solidFill>
                      <a:srgbClr val="FFFFFF"/>
                    </a:solidFill>
                  </a:tcPr>
                </a:tc>
                <a:tc>
                  <a:txBody>
                    <a:bodyPr/>
                    <a:lstStyle/>
                    <a:p>
                      <a:r>
                        <a:rPr sz="1800" b="0">
                          <a:solidFill>
                            <a:srgbClr val="172F42"/>
                          </a:solidFill>
                          <a:latin typeface="Arial"/>
                          <a:ea typeface="Arial"/>
                          <a:cs typeface="Arial"/>
                        </a:rPr>
                        <a:t>40,72</a:t>
                      </a:r>
                    </a:p>
                  </a:txBody>
                  <a:tcPr marL="95250" marR="95250" marT="57150" marB="57150">
                    <a:solidFill>
                      <a:srgbClr val="FFFFFF"/>
                    </a:solidFill>
                  </a:tcPr>
                </a:tc>
                <a:tc>
                  <a:txBody>
                    <a:bodyPr/>
                    <a:lstStyle/>
                    <a:p>
                      <a:r>
                        <a:rPr sz="1800" b="0">
                          <a:solidFill>
                            <a:srgbClr val="172F42"/>
                          </a:solidFill>
                          <a:latin typeface="Arial"/>
                          <a:ea typeface="Arial"/>
                          <a:cs typeface="Arial"/>
                        </a:rPr>
                        <a:t>[40,19, 41,27]</a:t>
                      </a:r>
                    </a:p>
                  </a:txBody>
                  <a:tcPr marL="95250" marR="95250" marT="57150" marB="57150">
                    <a:solidFill>
                      <a:srgbClr val="FFFFFF"/>
                    </a:solidFill>
                  </a:tcPr>
                </a:tc>
                <a:tc>
                  <a:txBody>
                    <a:bodyPr/>
                    <a:lstStyle/>
                    <a:p>
                      <a:r>
                        <a:rPr sz="1800" b="0">
                          <a:solidFill>
                            <a:srgbClr val="172F42"/>
                          </a:solidFill>
                          <a:latin typeface="Arial"/>
                          <a:ea typeface="Arial"/>
                          <a:cs typeface="Arial"/>
                        </a:rPr>
                        <a:t>[40,18, 41,27]</a:t>
                      </a:r>
                    </a:p>
                  </a:txBody>
                  <a:tcPr marL="95250" marR="95250" marT="57150" marB="57150">
                    <a:solidFill>
                      <a:srgbClr val="FFFFFF"/>
                    </a:solidFill>
                  </a:tcPr>
                </a:tc>
                <a:extLst>
                  <a:ext uri="{0D108BD9-81ED-4DB2-BD59-A6C34878D82A}">
                    <a16:rowId xmlns:a16="http://schemas.microsoft.com/office/drawing/2014/main" val="10001"/>
                  </a:ext>
                </a:extLst>
              </a:tr>
              <a:tr h="587375">
                <a:tc>
                  <a:txBody>
                    <a:bodyPr/>
                    <a:lstStyle/>
                    <a:p>
                      <a:r>
                        <a:rPr sz="1800" b="0" dirty="0" err="1">
                          <a:solidFill>
                            <a:srgbClr val="172F42"/>
                          </a:solidFill>
                          <a:latin typeface="Arial"/>
                          <a:ea typeface="Arial"/>
                          <a:cs typeface="Arial"/>
                        </a:rPr>
                        <a:t>Condicional</a:t>
                      </a:r>
                      <a:endParaRPr sz="1800" b="0" dirty="0">
                        <a:solidFill>
                          <a:srgbClr val="172F42"/>
                        </a:solidFill>
                        <a:latin typeface="Arial"/>
                        <a:ea typeface="Arial"/>
                        <a:cs typeface="Arial"/>
                      </a:endParaRPr>
                    </a:p>
                  </a:txBody>
                  <a:tcPr marL="95250" marR="95250" marT="57150" marB="57150">
                    <a:solidFill>
                      <a:srgbClr val="FFFFFF"/>
                    </a:solidFill>
                  </a:tcPr>
                </a:tc>
                <a:tc>
                  <a:txBody>
                    <a:bodyPr/>
                    <a:lstStyle/>
                    <a:p>
                      <a:r>
                        <a:rPr sz="1800" b="0">
                          <a:solidFill>
                            <a:srgbClr val="172F42"/>
                          </a:solidFill>
                          <a:latin typeface="Arial"/>
                          <a:ea typeface="Arial"/>
                          <a:cs typeface="Arial"/>
                        </a:rPr>
                        <a:t>43,63</a:t>
                      </a:r>
                    </a:p>
                  </a:txBody>
                  <a:tcPr marL="95250" marR="95250" marT="57150" marB="57150">
                    <a:solidFill>
                      <a:srgbClr val="FFFFFF"/>
                    </a:solidFill>
                  </a:tcPr>
                </a:tc>
                <a:tc>
                  <a:txBody>
                    <a:bodyPr/>
                    <a:lstStyle/>
                    <a:p>
                      <a:r>
                        <a:rPr sz="1800" b="0">
                          <a:solidFill>
                            <a:srgbClr val="172F42"/>
                          </a:solidFill>
                          <a:latin typeface="Arial"/>
                          <a:ea typeface="Arial"/>
                          <a:cs typeface="Arial"/>
                        </a:rPr>
                        <a:t>[42,94, 44,38]</a:t>
                      </a:r>
                    </a:p>
                  </a:txBody>
                  <a:tcPr marL="95250" marR="95250" marT="57150" marB="57150">
                    <a:solidFill>
                      <a:srgbClr val="FFFFFF"/>
                    </a:solidFill>
                  </a:tcPr>
                </a:tc>
                <a:tc>
                  <a:txBody>
                    <a:bodyPr/>
                    <a:lstStyle/>
                    <a:p>
                      <a:r>
                        <a:rPr sz="1800" b="0" dirty="0">
                          <a:solidFill>
                            <a:srgbClr val="172F42"/>
                          </a:solidFill>
                          <a:latin typeface="Arial"/>
                          <a:ea typeface="Arial"/>
                          <a:cs typeface="Arial"/>
                        </a:rPr>
                        <a:t>[42,88, 44,37]</a:t>
                      </a:r>
                    </a:p>
                  </a:txBody>
                  <a:tcPr marL="95250" marR="95250" marT="57150" marB="57150">
                    <a:solidFill>
                      <a:srgbClr val="FFFFFF"/>
                    </a:solidFill>
                  </a:tcPr>
                </a:tc>
                <a:extLst>
                  <a:ext uri="{0D108BD9-81ED-4DB2-BD59-A6C34878D82A}">
                    <a16:rowId xmlns:a16="http://schemas.microsoft.com/office/drawing/2014/main" val="10002"/>
                  </a:ext>
                </a:extLst>
              </a:tr>
            </a:tbl>
          </a:graphicData>
        </a:graphic>
      </p:graphicFrame>
      <p:sp>
        <p:nvSpPr>
          <p:cNvPr id="6" name="Rectángulo 5">
            <a:extLst>
              <a:ext uri="{FF2B5EF4-FFF2-40B4-BE49-F238E27FC236}">
                <a16:creationId xmlns:a16="http://schemas.microsoft.com/office/drawing/2014/main" id="{D1BC4585-CD31-412B-A116-F343767E167F}"/>
              </a:ext>
            </a:extLst>
          </p:cNvPr>
          <p:cNvSpPr>
            <a:spLocks noGrp="1"/>
          </p:cNvSpPr>
          <p:nvPr/>
        </p:nvSpPr>
        <p:spPr>
          <a:xfrm>
            <a:off x="685800" y="4857750"/>
            <a:ext cx="10763250" cy="838200"/>
          </a:xfrm>
          <a:prstGeom prst="rect">
            <a:avLst/>
          </a:prstGeom>
          <a:noFill/>
          <a:ln w="0">
            <a:noFill/>
          </a:ln>
        </p:spPr>
        <p:txBody>
          <a:bodyPr>
            <a:noAutofit/>
          </a:bodyPr>
          <a:lstStyle/>
          <a:p>
            <a:pPr>
              <a:defRPr sz="2025" b="0">
                <a:solidFill>
                  <a:srgbClr val="172F42"/>
                </a:solidFill>
                <a:latin typeface="Arial"/>
                <a:ea typeface="Arial"/>
                <a:cs typeface="Arial"/>
              </a:defRPr>
            </a:pPr>
            <a:r>
              <a:rPr sz="2025" b="0">
                <a:solidFill>
                  <a:srgbClr val="172F42"/>
                </a:solidFill>
                <a:latin typeface="Arial"/>
                <a:ea typeface="Arial"/>
                <a:cs typeface="Arial"/>
              </a:rPr>
              <a:t>Los dos métodos entregan resultados próximos. El intervalo describe precisión del pico estimado.</a:t>
            </a:r>
          </a:p>
        </p:txBody>
      </p:sp>
    </p:spTree>
    <p:extLst>
      <p:ext uri="{BB962C8B-B14F-4D97-AF65-F5344CB8AC3E}">
        <p14:creationId xmlns:p14="http://schemas.microsoft.com/office/powerpoint/2010/main" val="583991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26F27441-2D3D-45F9-A633-6E60502019D9}"/>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Al fijar horas y vínculo, el pico se desplaza</a:t>
            </a:r>
          </a:p>
        </p:txBody>
      </p:sp>
      <p:sp>
        <p:nvSpPr>
          <p:cNvPr id="2" name="Rectángulo 1">
            <a:extLst>
              <a:ext uri="{FF2B5EF4-FFF2-40B4-BE49-F238E27FC236}">
                <a16:creationId xmlns:a16="http://schemas.microsoft.com/office/drawing/2014/main" id="{25B88E8C-2541-4D6B-8CFF-C5153457DCF8}"/>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dirty="0">
                <a:solidFill>
                  <a:srgbClr val="526471"/>
                </a:solidFill>
                <a:latin typeface="Arial"/>
                <a:ea typeface="Arial"/>
                <a:cs typeface="Arial"/>
              </a:rPr>
              <a:t>n = 14.764. Población </a:t>
            </a:r>
            <a:r>
              <a:rPr sz="1125" b="0" dirty="0" err="1">
                <a:solidFill>
                  <a:srgbClr val="526471"/>
                </a:solidFill>
                <a:latin typeface="Arial"/>
                <a:ea typeface="Arial"/>
                <a:cs typeface="Arial"/>
              </a:rPr>
              <a:t>representada</a:t>
            </a:r>
            <a:r>
              <a:rPr lang="es-CO" sz="1125" dirty="0">
                <a:solidFill>
                  <a:srgbClr val="526471"/>
                </a:solidFill>
                <a:latin typeface="Arial"/>
                <a:ea typeface="Arial"/>
                <a:cs typeface="Arial"/>
              </a:rPr>
              <a:t> por Factor de Expansión</a:t>
            </a:r>
            <a:r>
              <a:rPr sz="1125" b="0" dirty="0">
                <a:solidFill>
                  <a:srgbClr val="526471"/>
                </a:solidFill>
                <a:latin typeface="Arial"/>
                <a:ea typeface="Arial"/>
                <a:cs typeface="Arial"/>
              </a:rPr>
              <a:t> ≈ 3.686.676 personas. Fuente: GEIH 2018, Bogotá.</a:t>
            </a:r>
          </a:p>
        </p:txBody>
      </p:sp>
      <p:sp>
        <p:nvSpPr>
          <p:cNvPr id="3" name="Rectángulo 2">
            <a:extLst>
              <a:ext uri="{FF2B5EF4-FFF2-40B4-BE49-F238E27FC236}">
                <a16:creationId xmlns:a16="http://schemas.microsoft.com/office/drawing/2014/main" id="{CB83D70F-EE39-4AEC-9FCE-52DA708847F3}"/>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6</a:t>
            </a:r>
          </a:p>
        </p:txBody>
      </p:sp>
      <mc:AlternateContent xmlns:mc="http://schemas.openxmlformats.org/markup-compatibility/2006" xmlns:a14="http://schemas.microsoft.com/office/drawing/2010/main">
        <mc:Choice Requires="a14">
          <p:sp>
            <p:nvSpPr>
              <p:cNvPr id="4" name="EQ_age_6_4">
                <a:extLst>
                  <a:ext uri="{FF2B5EF4-FFF2-40B4-BE49-F238E27FC236}">
                    <a16:creationId xmlns:a16="http://schemas.microsoft.com/office/drawing/2014/main" id="{1EB0EBEC-1121-4D16-A609-E11423A9CCDF}"/>
                  </a:ext>
                </a:extLst>
              </p:cNvPr>
              <p:cNvSpPr>
                <a:spLocks noGrp="1"/>
              </p:cNvSpPr>
              <p:nvPr/>
            </p:nvSpPr>
            <p:spPr>
              <a:xfrm>
                <a:off x="685800" y="1123950"/>
                <a:ext cx="10763250" cy="666750"/>
              </a:xfrm>
              <a:prstGeom prst="rect">
                <a:avLst/>
              </a:prstGeom>
              <a:noFill/>
              <a:ln w="0">
                <a:noFill/>
              </a:ln>
            </p:spPr>
            <p:txBody>
              <a:bodyPr/>
              <a:lstStyle/>
              <a:p>
                <a:pPr algn="l"/>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0</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1</m:t>
                          </m:r>
                        </m:sub>
                      </m:sSub>
                      <m:sSub>
                        <m:sSubPr>
                          <m:ctrlPr>
                            <a:rPr>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2</m:t>
                          </m:r>
                        </m:sub>
                      </m:sSub>
                      <m:sSubSup>
                        <m:sSubSupPr>
                          <m:ctrlPr>
                            <a:rPr>
                              <a:latin typeface="Cambria Math" panose="02040503050406030204" pitchFamily="18" charset="0"/>
                            </a:rPr>
                          </m:ctrlPr>
                        </m:sSubSupPr>
                        <m:e>
                          <m:r>
                            <a:rPr>
                              <a:latin typeface="Cambria Math" panose="02040503050406030204" pitchFamily="18" charset="0"/>
                            </a:rPr>
                            <m:t>𝐴</m:t>
                          </m:r>
                        </m:e>
                        <m:sub>
                          <m:r>
                            <a:rPr>
                              <a:latin typeface="Cambria Math" panose="02040503050406030204" pitchFamily="18" charset="0"/>
                            </a:rPr>
                            <m:t>𝑖</m:t>
                          </m:r>
                        </m:sub>
                        <m:sup>
                          <m:r>
                            <a:rPr>
                              <a:latin typeface="Cambria Math" panose="02040503050406030204" pitchFamily="18" charset="0"/>
                            </a:rPr>
                            <m:t>2</m:t>
                          </m:r>
                        </m:sup>
                      </m:sSubSup>
                      <m:r>
                        <a:rPr>
                          <a:latin typeface="Cambria Math" panose="02040503050406030204" pitchFamily="18" charset="0"/>
                        </a:rPr>
                        <m:t>+</m:t>
                      </m:r>
                      <m:r>
                        <a:rPr>
                          <a:latin typeface="Cambria Math" panose="02040503050406030204" pitchFamily="18" charset="0"/>
                        </a:rPr>
                        <m:t>𝛾</m:t>
                      </m:r>
                      <m:sSub>
                        <m:sSubPr>
                          <m:ctrlPr>
                            <a:rPr>
                              <a:latin typeface="Cambria Math" panose="02040503050406030204" pitchFamily="18" charset="0"/>
                            </a:rPr>
                          </m:ctrlPr>
                        </m:sSubPr>
                        <m:e>
                          <m:r>
                            <a:rPr>
                              <a:latin typeface="Cambria Math" panose="02040503050406030204" pitchFamily="18" charset="0"/>
                            </a:rPr>
                            <m:t>𝐻</m:t>
                          </m:r>
                        </m:e>
                        <m:sub>
                          <m:r>
                            <a:rPr>
                              <a:latin typeface="Cambria Math" panose="02040503050406030204" pitchFamily="18" charset="0"/>
                            </a:rPr>
                            <m:t>𝑖</m:t>
                          </m:r>
                        </m:sub>
                      </m:sSub>
                      <m:r>
                        <a:rPr>
                          <a:latin typeface="Cambria Math" panose="02040503050406030204" pitchFamily="18" charset="0"/>
                        </a:rPr>
                        <m:t>+</m:t>
                      </m:r>
                      <m:nary>
                        <m:naryPr>
                          <m:chr m:val="∑"/>
                          <m:limLoc m:val="subSup"/>
                          <m:grow m:val="on"/>
                          <m:supHide m:val="on"/>
                          <m:ctrlPr>
                            <a:rPr>
                              <a:latin typeface="Cambria Math" panose="02040503050406030204" pitchFamily="18" charset="0"/>
                            </a:rPr>
                          </m:ctrlPr>
                        </m:naryPr>
                        <m:sub>
                          <m:r>
                            <a:rPr>
                              <a:latin typeface="Cambria Math" panose="02040503050406030204" pitchFamily="18" charset="0"/>
                            </a:rPr>
                            <m:t>𝑘</m:t>
                          </m:r>
                        </m:sub>
                        <m:sup/>
                        <m:e>
                          <m:sSub>
                            <m:sSubPr>
                              <m:ctrlPr>
                                <a:rPr>
                                  <a:latin typeface="Cambria Math" panose="02040503050406030204" pitchFamily="18" charset="0"/>
                                </a:rPr>
                              </m:ctrlPr>
                            </m:sSubPr>
                            <m:e>
                              <m:r>
                                <a:rPr>
                                  <a:latin typeface="Cambria Math" panose="02040503050406030204" pitchFamily="18" charset="0"/>
                                </a:rPr>
                                <m:t>𝛿</m:t>
                              </m:r>
                            </m:e>
                            <m:sub>
                              <m:r>
                                <a:rPr>
                                  <a:latin typeface="Cambria Math" panose="02040503050406030204" pitchFamily="18" charset="0"/>
                                </a:rPr>
                                <m:t>𝑘</m:t>
                              </m:r>
                            </m:sub>
                          </m:sSub>
                        </m:e>
                      </m:nary>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𝑖𝑘</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𝑢</m:t>
                          </m:r>
                        </m:e>
                        <m:sub>
                          <m:r>
                            <a:rPr>
                              <a:latin typeface="Cambria Math" panose="02040503050406030204" pitchFamily="18" charset="0"/>
                            </a:rPr>
                            <m:t>𝑖</m:t>
                          </m:r>
                        </m:sub>
                      </m:sSub>
                    </m:oMath>
                  </m:oMathPara>
                </a14:m>
                <a:endParaRPr sz="2500"/>
              </a:p>
            </p:txBody>
          </p:sp>
        </mc:Choice>
        <mc:Fallback xmlns="">
          <p:sp>
            <p:nvSpPr>
              <p:cNvPr id="4" name="EQ_age_6_4">
                <a:extLst>
                  <a:ext uri="{FF2B5EF4-FFF2-40B4-BE49-F238E27FC236}">
                    <a16:creationId xmlns:a16="http://schemas.microsoft.com/office/drawing/2014/main" id="{1EB0EBEC-1121-4D16-A609-E11423A9CCDF}"/>
                  </a:ext>
                </a:extLst>
              </p:cNvPr>
              <p:cNvSpPr>
                <a:spLocks noGrp="1" noRot="1" noChangeAspect="1" noMove="1" noResize="1" noEditPoints="1" noAdjustHandles="1" noChangeArrowheads="1" noChangeShapeType="1" noTextEdit="1"/>
              </p:cNvSpPr>
              <p:nvPr/>
            </p:nvSpPr>
            <p:spPr>
              <a:xfrm>
                <a:off x="685800" y="1123950"/>
                <a:ext cx="10763250" cy="666750"/>
              </a:xfrm>
              <a:prstGeom prst="rect">
                <a:avLst/>
              </a:prstGeom>
              <a:blipFill>
                <a:blip r:embed="rId3"/>
                <a:stretch>
                  <a:fillRect/>
                </a:stretch>
              </a:blipFill>
              <a:ln w="0">
                <a:noFill/>
              </a:ln>
            </p:spPr>
            <p:txBody>
              <a:bodyPr/>
              <a:lstStyle/>
              <a:p>
                <a:r>
                  <a:rPr lang="es-CO">
                    <a:noFill/>
                  </a:rPr>
                  <a:t> </a:t>
                </a:r>
              </a:p>
            </p:txBody>
          </p:sp>
        </mc:Fallback>
      </mc:AlternateContent>
      <p:pic>
        <p:nvPicPr>
          <p:cNvPr id="7" name="Imagen 6">
            <a:extLst>
              <a:ext uri="{FF2B5EF4-FFF2-40B4-BE49-F238E27FC236}">
                <a16:creationId xmlns:a16="http://schemas.microsoft.com/office/drawing/2014/main" id="{94D4C233-3CE4-888A-851B-1AEDCE7084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378" y="1719040"/>
            <a:ext cx="11989243" cy="4491260"/>
          </a:xfrm>
          <a:prstGeom prst="rect">
            <a:avLst/>
          </a:prstGeom>
        </p:spPr>
      </p:pic>
    </p:spTree>
    <p:extLst>
      <p:ext uri="{BB962C8B-B14F-4D97-AF65-F5344CB8AC3E}">
        <p14:creationId xmlns:p14="http://schemas.microsoft.com/office/powerpoint/2010/main" val="1380548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FB0ACC0E-CC18-45E5-8E42-ECB653F84CEB}"/>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El tipo de empleo cambia con la edad</a:t>
            </a:r>
          </a:p>
        </p:txBody>
      </p:sp>
      <p:sp>
        <p:nvSpPr>
          <p:cNvPr id="2" name="Rectángulo 1">
            <a:extLst>
              <a:ext uri="{FF2B5EF4-FFF2-40B4-BE49-F238E27FC236}">
                <a16:creationId xmlns:a16="http://schemas.microsoft.com/office/drawing/2014/main" id="{27FFB2F4-94BF-4297-8178-C5132711F50A}"/>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dirty="0">
                <a:solidFill>
                  <a:srgbClr val="526471"/>
                </a:solidFill>
                <a:latin typeface="Arial"/>
                <a:ea typeface="Arial"/>
                <a:cs typeface="Arial"/>
              </a:rPr>
              <a:t>n = 14.764. Población </a:t>
            </a:r>
            <a:r>
              <a:rPr sz="1125" b="0" dirty="0" err="1">
                <a:solidFill>
                  <a:srgbClr val="526471"/>
                </a:solidFill>
                <a:latin typeface="Arial"/>
                <a:ea typeface="Arial"/>
                <a:cs typeface="Arial"/>
              </a:rPr>
              <a:t>representada</a:t>
            </a:r>
            <a:r>
              <a:rPr lang="es-CO" sz="1125" dirty="0">
                <a:solidFill>
                  <a:srgbClr val="526471"/>
                </a:solidFill>
                <a:latin typeface="Arial"/>
                <a:ea typeface="Arial"/>
                <a:cs typeface="Arial"/>
              </a:rPr>
              <a:t> por Factor de Expansión</a:t>
            </a:r>
            <a:r>
              <a:rPr sz="1125" b="0" dirty="0">
                <a:solidFill>
                  <a:srgbClr val="526471"/>
                </a:solidFill>
                <a:latin typeface="Arial"/>
                <a:ea typeface="Arial"/>
                <a:cs typeface="Arial"/>
              </a:rPr>
              <a:t> ≈ 3.686.676 personas. Fuente: GEIH 2018, Bogotá.</a:t>
            </a:r>
          </a:p>
        </p:txBody>
      </p:sp>
      <p:sp>
        <p:nvSpPr>
          <p:cNvPr id="3" name="Rectángulo 2">
            <a:extLst>
              <a:ext uri="{FF2B5EF4-FFF2-40B4-BE49-F238E27FC236}">
                <a16:creationId xmlns:a16="http://schemas.microsoft.com/office/drawing/2014/main" id="{0FA25223-E6CE-4B2F-80B4-FC55B29F0010}"/>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5</a:t>
            </a:r>
          </a:p>
        </p:txBody>
      </p:sp>
      <p:graphicFrame>
        <p:nvGraphicFramePr>
          <p:cNvPr id="9" name="Chart"/>
          <p:cNvGraphicFramePr/>
          <p:nvPr/>
        </p:nvGraphicFramePr>
        <p:xfrm>
          <a:off x="666750" y="1333500"/>
          <a:ext cx="10839450" cy="414337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ángulo 4">
            <a:extLst>
              <a:ext uri="{FF2B5EF4-FFF2-40B4-BE49-F238E27FC236}">
                <a16:creationId xmlns:a16="http://schemas.microsoft.com/office/drawing/2014/main" id="{6C616F54-2060-44B8-8051-4A5A612C88EC}"/>
              </a:ext>
            </a:extLst>
          </p:cNvPr>
          <p:cNvSpPr>
            <a:spLocks noGrp="1"/>
          </p:cNvSpPr>
          <p:nvPr/>
        </p:nvSpPr>
        <p:spPr>
          <a:xfrm>
            <a:off x="685800" y="5619750"/>
            <a:ext cx="10763250" cy="381000"/>
          </a:xfrm>
          <a:prstGeom prst="rect">
            <a:avLst/>
          </a:prstGeom>
          <a:noFill/>
          <a:ln w="0">
            <a:noFill/>
          </a:ln>
        </p:spPr>
        <p:txBody>
          <a:bodyPr>
            <a:noAutofit/>
          </a:bodyPr>
          <a:lstStyle/>
          <a:p>
            <a:pPr>
              <a:defRPr sz="1800" b="0">
                <a:solidFill>
                  <a:srgbClr val="172F42"/>
                </a:solidFill>
                <a:latin typeface="Arial"/>
                <a:ea typeface="Arial"/>
                <a:cs typeface="Arial"/>
              </a:defRPr>
            </a:pPr>
            <a:r>
              <a:rPr sz="1800" b="0">
                <a:solidFill>
                  <a:srgbClr val="172F42"/>
                </a:solidFill>
                <a:latin typeface="Arial"/>
                <a:ea typeface="Arial"/>
                <a:cs typeface="Arial"/>
              </a:rPr>
              <a:t>La comparación condicional incorpora únicamente horas totales y tipo de empleo.</a:t>
            </a:r>
          </a:p>
        </p:txBody>
      </p:sp>
    </p:spTree>
    <p:extLst>
      <p:ext uri="{BB962C8B-B14F-4D97-AF65-F5344CB8AC3E}">
        <p14:creationId xmlns:p14="http://schemas.microsoft.com/office/powerpoint/2010/main" val="1017025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546E05B8-20CF-4CA7-826B-1BF9809D80F0}"/>
              </a:ext>
            </a:extLst>
          </p:cNvPr>
          <p:cNvSpPr>
            <a:spLocks noGrp="1"/>
          </p:cNvSpPr>
          <p:nvPr/>
        </p:nvSpPr>
        <p:spPr>
          <a:xfrm>
            <a:off x="609600" y="514350"/>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dirty="0">
                <a:solidFill>
                  <a:srgbClr val="172F42"/>
                </a:solidFill>
                <a:latin typeface="Arial"/>
                <a:ea typeface="Arial"/>
                <a:cs typeface="Arial"/>
              </a:rPr>
              <a:t>El </a:t>
            </a:r>
            <a:r>
              <a:rPr sz="3150" b="1" dirty="0" err="1">
                <a:solidFill>
                  <a:srgbClr val="172F42"/>
                </a:solidFill>
                <a:latin typeface="Arial"/>
                <a:ea typeface="Arial"/>
                <a:cs typeface="Arial"/>
              </a:rPr>
              <a:t>ajuste</a:t>
            </a:r>
            <a:r>
              <a:rPr sz="3150" b="1" dirty="0">
                <a:solidFill>
                  <a:srgbClr val="172F42"/>
                </a:solidFill>
                <a:latin typeface="Arial"/>
                <a:ea typeface="Arial"/>
                <a:cs typeface="Arial"/>
              </a:rPr>
              <a:t> </a:t>
            </a:r>
            <a:r>
              <a:rPr sz="3150" b="1" dirty="0" err="1">
                <a:solidFill>
                  <a:srgbClr val="172F42"/>
                </a:solidFill>
                <a:latin typeface="Arial"/>
                <a:ea typeface="Arial"/>
                <a:cs typeface="Arial"/>
              </a:rPr>
              <a:t>mejora</a:t>
            </a:r>
            <a:r>
              <a:rPr sz="3150" b="1" dirty="0">
                <a:solidFill>
                  <a:srgbClr val="172F42"/>
                </a:solidFill>
                <a:latin typeface="Arial"/>
                <a:ea typeface="Arial"/>
                <a:cs typeface="Arial"/>
              </a:rPr>
              <a:t> y la </a:t>
            </a:r>
            <a:r>
              <a:rPr sz="3150" b="1" dirty="0" err="1">
                <a:solidFill>
                  <a:srgbClr val="172F42"/>
                </a:solidFill>
                <a:latin typeface="Arial"/>
                <a:ea typeface="Arial"/>
                <a:cs typeface="Arial"/>
              </a:rPr>
              <a:t>concavidad</a:t>
            </a:r>
            <a:r>
              <a:rPr sz="3150" b="1" dirty="0">
                <a:solidFill>
                  <a:srgbClr val="172F42"/>
                </a:solidFill>
                <a:latin typeface="Arial"/>
                <a:ea typeface="Arial"/>
                <a:cs typeface="Arial"/>
              </a:rPr>
              <a:t> se </a:t>
            </a:r>
            <a:r>
              <a:rPr sz="3150" b="1" dirty="0" err="1">
                <a:solidFill>
                  <a:srgbClr val="172F42"/>
                </a:solidFill>
                <a:latin typeface="Arial"/>
                <a:ea typeface="Arial"/>
                <a:cs typeface="Arial"/>
              </a:rPr>
              <a:t>mantiene</a:t>
            </a:r>
            <a:endParaRPr sz="3150" b="1" dirty="0">
              <a:solidFill>
                <a:srgbClr val="172F42"/>
              </a:solidFill>
              <a:latin typeface="Arial"/>
              <a:ea typeface="Arial"/>
              <a:cs typeface="Arial"/>
            </a:endParaRPr>
          </a:p>
        </p:txBody>
      </p:sp>
      <p:sp>
        <p:nvSpPr>
          <p:cNvPr id="2" name="Rectángulo 1">
            <a:extLst>
              <a:ext uri="{FF2B5EF4-FFF2-40B4-BE49-F238E27FC236}">
                <a16:creationId xmlns:a16="http://schemas.microsoft.com/office/drawing/2014/main" id="{7D4CA741-2D21-49F3-8015-CD0742AC8E45}"/>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dirty="0">
                <a:solidFill>
                  <a:srgbClr val="526471"/>
                </a:solidFill>
                <a:latin typeface="Arial"/>
                <a:ea typeface="Arial"/>
                <a:cs typeface="Arial"/>
              </a:rPr>
              <a:t>n = 14.764. Población </a:t>
            </a:r>
            <a:r>
              <a:rPr sz="1125" b="0" dirty="0" err="1">
                <a:solidFill>
                  <a:srgbClr val="526471"/>
                </a:solidFill>
                <a:latin typeface="Arial"/>
                <a:ea typeface="Arial"/>
                <a:cs typeface="Arial"/>
              </a:rPr>
              <a:t>representada</a:t>
            </a:r>
            <a:r>
              <a:rPr lang="es-CO" sz="1125" dirty="0">
                <a:solidFill>
                  <a:srgbClr val="526471"/>
                </a:solidFill>
                <a:latin typeface="Arial"/>
                <a:ea typeface="Arial"/>
                <a:cs typeface="Arial"/>
              </a:rPr>
              <a:t> por Factor de Expansión</a:t>
            </a:r>
            <a:r>
              <a:rPr sz="1125" b="0" dirty="0">
                <a:solidFill>
                  <a:srgbClr val="526471"/>
                </a:solidFill>
                <a:latin typeface="Arial"/>
                <a:ea typeface="Arial"/>
                <a:cs typeface="Arial"/>
              </a:rPr>
              <a:t> ≈ 3.686.676 personas. Fuente: GEIH 2018, Bogotá.</a:t>
            </a:r>
          </a:p>
        </p:txBody>
      </p:sp>
      <p:sp>
        <p:nvSpPr>
          <p:cNvPr id="3" name="Rectángulo 2">
            <a:extLst>
              <a:ext uri="{FF2B5EF4-FFF2-40B4-BE49-F238E27FC236}">
                <a16:creationId xmlns:a16="http://schemas.microsoft.com/office/drawing/2014/main" id="{1ADABF35-6817-44F6-9A94-60954BA1FAEB}"/>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7</a:t>
            </a:r>
          </a:p>
        </p:txBody>
      </p:sp>
      <p:graphicFrame>
        <p:nvGraphicFramePr>
          <p:cNvPr id="8" name="Tabla 7"/>
          <p:cNvGraphicFramePr/>
          <p:nvPr>
            <p:extLst>
              <p:ext uri="{D42A27DB-BD31-4B8C-83A1-F6EECF244321}">
                <p14:modId xmlns:p14="http://schemas.microsoft.com/office/powerpoint/2010/main" val="1348843746"/>
              </p:ext>
            </p:extLst>
          </p:nvPr>
        </p:nvGraphicFramePr>
        <p:xfrm>
          <a:off x="609600" y="1477432"/>
          <a:ext cx="10972800" cy="3903136"/>
        </p:xfrm>
        <a:graphic>
          <a:graphicData uri="http://schemas.openxmlformats.org/drawingml/2006/table">
            <a:tbl>
              <a:tblPr/>
              <a:tblGrid>
                <a:gridCol w="33528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487892">
                <a:tc>
                  <a:txBody>
                    <a:bodyPr/>
                    <a:lstStyle/>
                    <a:p>
                      <a:r>
                        <a:rPr sz="1725" b="0">
                          <a:solidFill>
                            <a:srgbClr val="172F42"/>
                          </a:solidFill>
                          <a:latin typeface="Arial"/>
                          <a:ea typeface="Arial"/>
                          <a:cs typeface="Arial"/>
                        </a:rPr>
                        <a:t>Variable / estadístico</a:t>
                      </a:r>
                    </a:p>
                  </a:txBody>
                  <a:tcPr marL="95250" marR="95250" marT="57150" marB="57150">
                    <a:solidFill>
                      <a:srgbClr val="EDF3F7"/>
                    </a:solidFill>
                  </a:tcPr>
                </a:tc>
                <a:tc>
                  <a:txBody>
                    <a:bodyPr/>
                    <a:lstStyle/>
                    <a:p>
                      <a:r>
                        <a:rPr sz="1725" b="0">
                          <a:solidFill>
                            <a:srgbClr val="172F42"/>
                          </a:solidFill>
                          <a:latin typeface="Arial"/>
                          <a:ea typeface="Arial"/>
                          <a:cs typeface="Arial"/>
                        </a:rPr>
                        <a:t>Incondicional</a:t>
                      </a:r>
                    </a:p>
                  </a:txBody>
                  <a:tcPr marL="95250" marR="95250" marT="57150" marB="57150">
                    <a:solidFill>
                      <a:srgbClr val="EDF3F7"/>
                    </a:solidFill>
                  </a:tcPr>
                </a:tc>
                <a:tc>
                  <a:txBody>
                    <a:bodyPr/>
                    <a:lstStyle/>
                    <a:p>
                      <a:r>
                        <a:rPr sz="1725" b="0">
                          <a:solidFill>
                            <a:srgbClr val="172F42"/>
                          </a:solidFill>
                          <a:latin typeface="Arial"/>
                          <a:ea typeface="Arial"/>
                          <a:cs typeface="Arial"/>
                        </a:rPr>
                        <a:t>Condicional</a:t>
                      </a:r>
                    </a:p>
                  </a:txBody>
                  <a:tcPr marL="95250" marR="95250" marT="57150" marB="57150">
                    <a:solidFill>
                      <a:srgbClr val="EDF3F7"/>
                    </a:solidFill>
                  </a:tcPr>
                </a:tc>
                <a:extLst>
                  <a:ext uri="{0D108BD9-81ED-4DB2-BD59-A6C34878D82A}">
                    <a16:rowId xmlns:a16="http://schemas.microsoft.com/office/drawing/2014/main" val="10000"/>
                  </a:ext>
                </a:extLst>
              </a:tr>
              <a:tr h="487892">
                <a:tc>
                  <a:txBody>
                    <a:bodyPr/>
                    <a:lstStyle/>
                    <a:p>
                      <a:r>
                        <a:rPr sz="1725" b="0">
                          <a:solidFill>
                            <a:srgbClr val="172F42"/>
                          </a:solidFill>
                          <a:latin typeface="Arial"/>
                          <a:ea typeface="Arial"/>
                          <a:cs typeface="Arial"/>
                        </a:rPr>
                        <a:t>Constante</a:t>
                      </a:r>
                    </a:p>
                  </a:txBody>
                  <a:tcPr marL="95250" marR="95250" marT="57150" marB="57150">
                    <a:solidFill>
                      <a:srgbClr val="FFFFFF"/>
                    </a:solidFill>
                  </a:tcPr>
                </a:tc>
                <a:tc>
                  <a:txBody>
                    <a:bodyPr/>
                    <a:lstStyle/>
                    <a:p>
                      <a:r>
                        <a:rPr sz="1725" b="0" dirty="0">
                          <a:solidFill>
                            <a:srgbClr val="172F42"/>
                          </a:solidFill>
                          <a:latin typeface="Arial"/>
                          <a:ea typeface="Arial"/>
                          <a:cs typeface="Arial"/>
                        </a:rPr>
                        <a:t>12,28821 (0,07435)</a:t>
                      </a:r>
                    </a:p>
                  </a:txBody>
                  <a:tcPr marL="95250" marR="95250" marT="57150" marB="57150">
                    <a:solidFill>
                      <a:srgbClr val="FFFFFF"/>
                    </a:solidFill>
                  </a:tcPr>
                </a:tc>
                <a:tc>
                  <a:txBody>
                    <a:bodyPr/>
                    <a:lstStyle/>
                    <a:p>
                      <a:r>
                        <a:rPr sz="1725" b="0">
                          <a:solidFill>
                            <a:srgbClr val="172F42"/>
                          </a:solidFill>
                          <a:latin typeface="Arial"/>
                          <a:ea typeface="Arial"/>
                          <a:cs typeface="Arial"/>
                        </a:rPr>
                        <a:t>11,96236 (0,06948)</a:t>
                      </a:r>
                    </a:p>
                  </a:txBody>
                  <a:tcPr marL="95250" marR="95250" marT="57150" marB="57150">
                    <a:solidFill>
                      <a:srgbClr val="FFFFFF"/>
                    </a:solidFill>
                  </a:tcPr>
                </a:tc>
                <a:extLst>
                  <a:ext uri="{0D108BD9-81ED-4DB2-BD59-A6C34878D82A}">
                    <a16:rowId xmlns:a16="http://schemas.microsoft.com/office/drawing/2014/main" val="10001"/>
                  </a:ext>
                </a:extLst>
              </a:tr>
              <a:tr h="487892">
                <a:tc>
                  <a:txBody>
                    <a:bodyPr/>
                    <a:lstStyle/>
                    <a:p>
                      <a:r>
                        <a:rPr sz="1725" b="0">
                          <a:solidFill>
                            <a:srgbClr val="172F42"/>
                          </a:solidFill>
                          <a:latin typeface="Arial"/>
                          <a:ea typeface="Arial"/>
                          <a:cs typeface="Arial"/>
                        </a:rPr>
                        <a:t>Edad</a:t>
                      </a:r>
                    </a:p>
                  </a:txBody>
                  <a:tcPr marL="95250" marR="95250" marT="57150" marB="57150">
                    <a:solidFill>
                      <a:srgbClr val="FFFFFF"/>
                    </a:solidFill>
                  </a:tcPr>
                </a:tc>
                <a:tc>
                  <a:txBody>
                    <a:bodyPr/>
                    <a:lstStyle/>
                    <a:p>
                      <a:r>
                        <a:rPr sz="1725" b="0">
                          <a:solidFill>
                            <a:srgbClr val="172F42"/>
                          </a:solidFill>
                          <a:latin typeface="Arial"/>
                          <a:ea typeface="Arial"/>
                          <a:cs typeface="Arial"/>
                        </a:rPr>
                        <a:t>0,08683 (0,00401)</a:t>
                      </a:r>
                    </a:p>
                  </a:txBody>
                  <a:tcPr marL="95250" marR="95250" marT="57150" marB="57150">
                    <a:solidFill>
                      <a:srgbClr val="FFFFFF"/>
                    </a:solidFill>
                  </a:tcPr>
                </a:tc>
                <a:tc>
                  <a:txBody>
                    <a:bodyPr/>
                    <a:lstStyle/>
                    <a:p>
                      <a:r>
                        <a:rPr sz="1725" b="0">
                          <a:solidFill>
                            <a:srgbClr val="172F42"/>
                          </a:solidFill>
                          <a:latin typeface="Arial"/>
                          <a:ea typeface="Arial"/>
                          <a:cs typeface="Arial"/>
                        </a:rPr>
                        <a:t>0,07337 (0,00355)</a:t>
                      </a:r>
                    </a:p>
                  </a:txBody>
                  <a:tcPr marL="95250" marR="95250" marT="57150" marB="57150">
                    <a:solidFill>
                      <a:srgbClr val="FFFFFF"/>
                    </a:solidFill>
                  </a:tcPr>
                </a:tc>
                <a:extLst>
                  <a:ext uri="{0D108BD9-81ED-4DB2-BD59-A6C34878D82A}">
                    <a16:rowId xmlns:a16="http://schemas.microsoft.com/office/drawing/2014/main" val="10002"/>
                  </a:ext>
                </a:extLst>
              </a:tr>
              <a:tr h="487892">
                <a:tc>
                  <a:txBody>
                    <a:bodyPr/>
                    <a:lstStyle/>
                    <a:p>
                      <a:r>
                        <a:rPr sz="1725" b="0">
                          <a:solidFill>
                            <a:srgbClr val="172F42"/>
                          </a:solidFill>
                          <a:latin typeface="Arial"/>
                          <a:ea typeface="Arial"/>
                          <a:cs typeface="Arial"/>
                        </a:rPr>
                        <a:t>Edad²</a:t>
                      </a:r>
                    </a:p>
                  </a:txBody>
                  <a:tcPr marL="95250" marR="95250" marT="57150" marB="57150">
                    <a:solidFill>
                      <a:srgbClr val="FFFFFF"/>
                    </a:solidFill>
                  </a:tcPr>
                </a:tc>
                <a:tc>
                  <a:txBody>
                    <a:bodyPr/>
                    <a:lstStyle/>
                    <a:p>
                      <a:r>
                        <a:rPr sz="1725" b="0">
                          <a:solidFill>
                            <a:srgbClr val="172F42"/>
                          </a:solidFill>
                          <a:latin typeface="Arial"/>
                          <a:ea typeface="Arial"/>
                          <a:cs typeface="Arial"/>
                        </a:rPr>
                        <a:t>-0,00107 (0,00005)</a:t>
                      </a:r>
                    </a:p>
                  </a:txBody>
                  <a:tcPr marL="95250" marR="95250" marT="57150" marB="57150">
                    <a:solidFill>
                      <a:srgbClr val="FFFFFF"/>
                    </a:solidFill>
                  </a:tcPr>
                </a:tc>
                <a:tc>
                  <a:txBody>
                    <a:bodyPr/>
                    <a:lstStyle/>
                    <a:p>
                      <a:r>
                        <a:rPr sz="1725" b="0">
                          <a:solidFill>
                            <a:srgbClr val="172F42"/>
                          </a:solidFill>
                          <a:latin typeface="Arial"/>
                          <a:ea typeface="Arial"/>
                          <a:cs typeface="Arial"/>
                        </a:rPr>
                        <a:t>-0,00084 (0,00004)</a:t>
                      </a:r>
                    </a:p>
                  </a:txBody>
                  <a:tcPr marL="95250" marR="95250" marT="57150" marB="57150">
                    <a:solidFill>
                      <a:srgbClr val="FFFFFF"/>
                    </a:solidFill>
                  </a:tcPr>
                </a:tc>
                <a:extLst>
                  <a:ext uri="{0D108BD9-81ED-4DB2-BD59-A6C34878D82A}">
                    <a16:rowId xmlns:a16="http://schemas.microsoft.com/office/drawing/2014/main" val="10003"/>
                  </a:ext>
                </a:extLst>
              </a:tr>
              <a:tr h="487892">
                <a:tc>
                  <a:txBody>
                    <a:bodyPr/>
                    <a:lstStyle/>
                    <a:p>
                      <a:r>
                        <a:rPr sz="1725" b="0">
                          <a:solidFill>
                            <a:srgbClr val="172F42"/>
                          </a:solidFill>
                          <a:latin typeface="Arial"/>
                          <a:ea typeface="Arial"/>
                          <a:cs typeface="Arial"/>
                        </a:rPr>
                        <a:t>Horas</a:t>
                      </a:r>
                    </a:p>
                  </a:txBody>
                  <a:tcPr marL="95250" marR="95250" marT="57150" marB="57150">
                    <a:solidFill>
                      <a:srgbClr val="FFFFFF"/>
                    </a:solidFill>
                  </a:tcPr>
                </a:tc>
                <a:tc>
                  <a:txBody>
                    <a:bodyPr/>
                    <a:lstStyle/>
                    <a:p>
                      <a:r>
                        <a:rPr sz="1725" b="0">
                          <a:solidFill>
                            <a:srgbClr val="172F42"/>
                          </a:solidFill>
                          <a:latin typeface="Arial"/>
                          <a:ea typeface="Arial"/>
                          <a:cs typeface="Arial"/>
                        </a:rPr>
                        <a:t>No incluido</a:t>
                      </a:r>
                    </a:p>
                  </a:txBody>
                  <a:tcPr marL="95250" marR="95250" marT="57150" marB="57150">
                    <a:solidFill>
                      <a:srgbClr val="FFFFFF"/>
                    </a:solidFill>
                  </a:tcPr>
                </a:tc>
                <a:tc>
                  <a:txBody>
                    <a:bodyPr/>
                    <a:lstStyle/>
                    <a:p>
                      <a:r>
                        <a:rPr sz="1725" b="0">
                          <a:solidFill>
                            <a:srgbClr val="172F42"/>
                          </a:solidFill>
                          <a:latin typeface="Arial"/>
                          <a:ea typeface="Arial"/>
                          <a:cs typeface="Arial"/>
                        </a:rPr>
                        <a:t>0,01274 (0,00057)</a:t>
                      </a:r>
                    </a:p>
                  </a:txBody>
                  <a:tcPr marL="95250" marR="95250" marT="57150" marB="57150">
                    <a:solidFill>
                      <a:srgbClr val="FFFFFF"/>
                    </a:solidFill>
                  </a:tcPr>
                </a:tc>
                <a:extLst>
                  <a:ext uri="{0D108BD9-81ED-4DB2-BD59-A6C34878D82A}">
                    <a16:rowId xmlns:a16="http://schemas.microsoft.com/office/drawing/2014/main" val="10004"/>
                  </a:ext>
                </a:extLst>
              </a:tr>
              <a:tr h="487892">
                <a:tc>
                  <a:txBody>
                    <a:bodyPr/>
                    <a:lstStyle/>
                    <a:p>
                      <a:r>
                        <a:rPr sz="1725" b="0">
                          <a:solidFill>
                            <a:srgbClr val="172F42"/>
                          </a:solidFill>
                          <a:latin typeface="Arial"/>
                          <a:ea typeface="Arial"/>
                          <a:cs typeface="Arial"/>
                        </a:rPr>
                        <a:t>Tipo de empleo</a:t>
                      </a:r>
                    </a:p>
                  </a:txBody>
                  <a:tcPr marL="95250" marR="95250" marT="57150" marB="57150">
                    <a:solidFill>
                      <a:srgbClr val="FFFFFF"/>
                    </a:solidFill>
                  </a:tcPr>
                </a:tc>
                <a:tc>
                  <a:txBody>
                    <a:bodyPr/>
                    <a:lstStyle/>
                    <a:p>
                      <a:r>
                        <a:rPr sz="1725" b="0">
                          <a:solidFill>
                            <a:srgbClr val="172F42"/>
                          </a:solidFill>
                          <a:latin typeface="Arial"/>
                          <a:ea typeface="Arial"/>
                          <a:cs typeface="Arial"/>
                        </a:rPr>
                        <a:t>No incluido</a:t>
                      </a:r>
                    </a:p>
                  </a:txBody>
                  <a:tcPr marL="95250" marR="95250" marT="57150" marB="57150">
                    <a:solidFill>
                      <a:srgbClr val="FFFFFF"/>
                    </a:solidFill>
                  </a:tcPr>
                </a:tc>
                <a:tc>
                  <a:txBody>
                    <a:bodyPr/>
                    <a:lstStyle/>
                    <a:p>
                      <a:r>
                        <a:rPr sz="1725" b="0">
                          <a:solidFill>
                            <a:srgbClr val="172F42"/>
                          </a:solidFill>
                          <a:latin typeface="Arial"/>
                          <a:ea typeface="Arial"/>
                          <a:cs typeface="Arial"/>
                        </a:rPr>
                        <a:t>Sí</a:t>
                      </a:r>
                    </a:p>
                  </a:txBody>
                  <a:tcPr marL="95250" marR="95250" marT="57150" marB="57150">
                    <a:solidFill>
                      <a:srgbClr val="FFFFFF"/>
                    </a:solidFill>
                  </a:tcPr>
                </a:tc>
                <a:extLst>
                  <a:ext uri="{0D108BD9-81ED-4DB2-BD59-A6C34878D82A}">
                    <a16:rowId xmlns:a16="http://schemas.microsoft.com/office/drawing/2014/main" val="10005"/>
                  </a:ext>
                </a:extLst>
              </a:tr>
              <a:tr h="487892">
                <a:tc>
                  <a:txBody>
                    <a:bodyPr/>
                    <a:lstStyle/>
                    <a:p>
                      <a:r>
                        <a:rPr sz="1725" b="0">
                          <a:solidFill>
                            <a:srgbClr val="172F42"/>
                          </a:solidFill>
                          <a:latin typeface="Arial"/>
                          <a:ea typeface="Arial"/>
                          <a:cs typeface="Arial"/>
                        </a:rPr>
                        <a:t>Pico, IC 95% percentil</a:t>
                      </a:r>
                    </a:p>
                  </a:txBody>
                  <a:tcPr marL="95250" marR="95250" marT="57150" marB="57150">
                    <a:solidFill>
                      <a:srgbClr val="FFFFFF"/>
                    </a:solidFill>
                  </a:tcPr>
                </a:tc>
                <a:tc>
                  <a:txBody>
                    <a:bodyPr/>
                    <a:lstStyle/>
                    <a:p>
                      <a:r>
                        <a:rPr sz="1725" b="0">
                          <a:solidFill>
                            <a:srgbClr val="172F42"/>
                          </a:solidFill>
                          <a:latin typeface="Arial"/>
                          <a:ea typeface="Arial"/>
                          <a:cs typeface="Arial"/>
                        </a:rPr>
                        <a:t>40,72 [40,19, 41,27]</a:t>
                      </a:r>
                    </a:p>
                  </a:txBody>
                  <a:tcPr marL="95250" marR="95250" marT="57150" marB="57150">
                    <a:solidFill>
                      <a:srgbClr val="FFFFFF"/>
                    </a:solidFill>
                  </a:tcPr>
                </a:tc>
                <a:tc>
                  <a:txBody>
                    <a:bodyPr/>
                    <a:lstStyle/>
                    <a:p>
                      <a:r>
                        <a:rPr sz="1725" b="0" dirty="0">
                          <a:solidFill>
                            <a:srgbClr val="172F42"/>
                          </a:solidFill>
                          <a:latin typeface="Arial"/>
                          <a:ea typeface="Arial"/>
                          <a:cs typeface="Arial"/>
                        </a:rPr>
                        <a:t>43,63 [42,94, 44,38]</a:t>
                      </a:r>
                    </a:p>
                  </a:txBody>
                  <a:tcPr marL="95250" marR="95250" marT="57150" marB="57150">
                    <a:solidFill>
                      <a:srgbClr val="FFFFFF"/>
                    </a:solidFill>
                  </a:tcPr>
                </a:tc>
                <a:extLst>
                  <a:ext uri="{0D108BD9-81ED-4DB2-BD59-A6C34878D82A}">
                    <a16:rowId xmlns:a16="http://schemas.microsoft.com/office/drawing/2014/main" val="10006"/>
                  </a:ext>
                </a:extLst>
              </a:tr>
              <a:tr h="487892">
                <a:tc>
                  <a:txBody>
                    <a:bodyPr/>
                    <a:lstStyle/>
                    <a:p>
                      <a:r>
                        <a:rPr sz="1725" b="0" dirty="0">
                          <a:solidFill>
                            <a:srgbClr val="172F42"/>
                          </a:solidFill>
                          <a:latin typeface="Arial"/>
                          <a:ea typeface="Arial"/>
                          <a:cs typeface="Arial"/>
                        </a:rPr>
                        <a:t>R² </a:t>
                      </a:r>
                      <a:r>
                        <a:rPr sz="1725" b="0" dirty="0" err="1">
                          <a:solidFill>
                            <a:srgbClr val="172F42"/>
                          </a:solidFill>
                          <a:latin typeface="Arial"/>
                          <a:ea typeface="Arial"/>
                          <a:cs typeface="Arial"/>
                        </a:rPr>
                        <a:t>ponderado</a:t>
                      </a:r>
                      <a:endParaRPr sz="1725" b="0" dirty="0">
                        <a:solidFill>
                          <a:srgbClr val="172F42"/>
                        </a:solidFill>
                        <a:latin typeface="Arial"/>
                        <a:ea typeface="Arial"/>
                        <a:cs typeface="Arial"/>
                      </a:endParaRPr>
                    </a:p>
                  </a:txBody>
                  <a:tcPr marL="95250" marR="95250" marT="57150" marB="57150">
                    <a:solidFill>
                      <a:srgbClr val="FFFFFF"/>
                    </a:solidFill>
                  </a:tcPr>
                </a:tc>
                <a:tc>
                  <a:txBody>
                    <a:bodyPr/>
                    <a:lstStyle/>
                    <a:p>
                      <a:r>
                        <a:rPr sz="1725" b="0">
                          <a:solidFill>
                            <a:srgbClr val="172F42"/>
                          </a:solidFill>
                          <a:latin typeface="Arial"/>
                          <a:ea typeface="Arial"/>
                          <a:cs typeface="Arial"/>
                        </a:rPr>
                        <a:t>0,052</a:t>
                      </a:r>
                    </a:p>
                  </a:txBody>
                  <a:tcPr marL="95250" marR="95250" marT="57150" marB="57150">
                    <a:solidFill>
                      <a:srgbClr val="FFFFFF"/>
                    </a:solidFill>
                  </a:tcPr>
                </a:tc>
                <a:tc>
                  <a:txBody>
                    <a:bodyPr/>
                    <a:lstStyle/>
                    <a:p>
                      <a:r>
                        <a:rPr sz="1725" b="0" dirty="0">
                          <a:solidFill>
                            <a:srgbClr val="172F42"/>
                          </a:solidFill>
                          <a:latin typeface="Arial"/>
                          <a:ea typeface="Arial"/>
                          <a:cs typeface="Arial"/>
                        </a:rPr>
                        <a:t>0,227</a:t>
                      </a:r>
                    </a:p>
                  </a:txBody>
                  <a:tcPr marL="95250" marR="95250" marT="57150" marB="57150">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644693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FD8044C-5967-5AFD-BAA0-605273FE0819}"/>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2C80A8B5-55D0-C47B-E516-E20FE5D277C9}"/>
              </a:ext>
            </a:extLst>
          </p:cNvPr>
          <p:cNvSpPr>
            <a:spLocks noGrp="1"/>
          </p:cNvSpPr>
          <p:nvPr/>
        </p:nvSpPr>
        <p:spPr>
          <a:xfrm>
            <a:off x="447870" y="332869"/>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lang="es-CO" sz="3150" b="1" dirty="0">
                <a:solidFill>
                  <a:srgbClr val="172F42"/>
                </a:solidFill>
                <a:latin typeface="Arial"/>
                <a:ea typeface="Arial"/>
                <a:cs typeface="Arial"/>
              </a:rPr>
              <a:t>Perfil de Interés - DIAN</a:t>
            </a:r>
            <a:endParaRPr sz="3150" b="1" dirty="0">
              <a:solidFill>
                <a:srgbClr val="172F42"/>
              </a:solidFill>
              <a:latin typeface="Arial"/>
              <a:ea typeface="Arial"/>
              <a:cs typeface="Arial"/>
            </a:endParaRPr>
          </a:p>
        </p:txBody>
      </p:sp>
      <p:sp>
        <p:nvSpPr>
          <p:cNvPr id="2" name="Rectángulo 1">
            <a:extLst>
              <a:ext uri="{FF2B5EF4-FFF2-40B4-BE49-F238E27FC236}">
                <a16:creationId xmlns:a16="http://schemas.microsoft.com/office/drawing/2014/main" id="{2B2E0E3E-A97B-6904-8D9A-8E2C2D7C3916}"/>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dirty="0">
                <a:solidFill>
                  <a:srgbClr val="526471"/>
                </a:solidFill>
                <a:latin typeface="Arial"/>
                <a:ea typeface="Arial"/>
                <a:cs typeface="Arial"/>
              </a:rPr>
              <a:t>n = 14.764. Población </a:t>
            </a:r>
            <a:r>
              <a:rPr sz="1125" b="0" dirty="0" err="1">
                <a:solidFill>
                  <a:srgbClr val="526471"/>
                </a:solidFill>
                <a:latin typeface="Arial"/>
                <a:ea typeface="Arial"/>
                <a:cs typeface="Arial"/>
              </a:rPr>
              <a:t>representada</a:t>
            </a:r>
            <a:r>
              <a:rPr lang="es-CO" sz="1125" dirty="0">
                <a:solidFill>
                  <a:srgbClr val="526471"/>
                </a:solidFill>
                <a:latin typeface="Arial"/>
                <a:ea typeface="Arial"/>
                <a:cs typeface="Arial"/>
              </a:rPr>
              <a:t> por Factor de Expansión</a:t>
            </a:r>
            <a:r>
              <a:rPr sz="1125" b="0" dirty="0">
                <a:solidFill>
                  <a:srgbClr val="526471"/>
                </a:solidFill>
                <a:latin typeface="Arial"/>
                <a:ea typeface="Arial"/>
                <a:cs typeface="Arial"/>
              </a:rPr>
              <a:t> ≈ 3.686.676 personas. Fuente: GEIH 2018, Bogotá.</a:t>
            </a:r>
          </a:p>
        </p:txBody>
      </p:sp>
      <p:sp>
        <p:nvSpPr>
          <p:cNvPr id="3" name="Rectángulo 2">
            <a:extLst>
              <a:ext uri="{FF2B5EF4-FFF2-40B4-BE49-F238E27FC236}">
                <a16:creationId xmlns:a16="http://schemas.microsoft.com/office/drawing/2014/main" id="{6AC73F56-3637-8764-C481-1EFC3E099B3F}"/>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7</a:t>
            </a:r>
          </a:p>
        </p:txBody>
      </p:sp>
      <p:graphicFrame>
        <p:nvGraphicFramePr>
          <p:cNvPr id="4" name="Tabla 3">
            <a:extLst>
              <a:ext uri="{FF2B5EF4-FFF2-40B4-BE49-F238E27FC236}">
                <a16:creationId xmlns:a16="http://schemas.microsoft.com/office/drawing/2014/main" id="{BE223C0B-8243-02C9-6AAC-85F5DBE899BD}"/>
              </a:ext>
            </a:extLst>
          </p:cNvPr>
          <p:cNvGraphicFramePr>
            <a:graphicFrameLocks noGrp="1"/>
          </p:cNvGraphicFramePr>
          <p:nvPr>
            <p:extLst>
              <p:ext uri="{D42A27DB-BD31-4B8C-83A1-F6EECF244321}">
                <p14:modId xmlns:p14="http://schemas.microsoft.com/office/powerpoint/2010/main" val="968969121"/>
              </p:ext>
            </p:extLst>
          </p:nvPr>
        </p:nvGraphicFramePr>
        <p:xfrm>
          <a:off x="6776473" y="3028675"/>
          <a:ext cx="5234214" cy="1746381"/>
        </p:xfrm>
        <a:graphic>
          <a:graphicData uri="http://schemas.openxmlformats.org/drawingml/2006/table">
            <a:tbl>
              <a:tblPr>
                <a:tableStyleId>{5C22544A-7EE6-4342-B048-85BDC9FD1C3A}</a:tableStyleId>
              </a:tblPr>
              <a:tblGrid>
                <a:gridCol w="2024743">
                  <a:extLst>
                    <a:ext uri="{9D8B030D-6E8A-4147-A177-3AD203B41FA5}">
                      <a16:colId xmlns:a16="http://schemas.microsoft.com/office/drawing/2014/main" val="2477254729"/>
                    </a:ext>
                  </a:extLst>
                </a:gridCol>
                <a:gridCol w="1268963">
                  <a:extLst>
                    <a:ext uri="{9D8B030D-6E8A-4147-A177-3AD203B41FA5}">
                      <a16:colId xmlns:a16="http://schemas.microsoft.com/office/drawing/2014/main" val="1322752394"/>
                    </a:ext>
                  </a:extLst>
                </a:gridCol>
                <a:gridCol w="1940508">
                  <a:extLst>
                    <a:ext uri="{9D8B030D-6E8A-4147-A177-3AD203B41FA5}">
                      <a16:colId xmlns:a16="http://schemas.microsoft.com/office/drawing/2014/main" val="4020008707"/>
                    </a:ext>
                  </a:extLst>
                </a:gridCol>
              </a:tblGrid>
              <a:tr h="249483">
                <a:tc>
                  <a:txBody>
                    <a:bodyPr/>
                    <a:lstStyle/>
                    <a:p>
                      <a:pPr algn="ctr" fontAlgn="ctr">
                        <a:buNone/>
                      </a:pPr>
                      <a:r>
                        <a:rPr lang="es-CO" sz="1200" dirty="0">
                          <a:effectLst/>
                        </a:rPr>
                        <a:t>Variable</a:t>
                      </a:r>
                      <a:endParaRPr lang="es-CO" sz="1200" b="0" i="0" dirty="0">
                        <a:solidFill>
                          <a:srgbClr val="BBBEBF"/>
                        </a:solidFill>
                        <a:effectLst/>
                        <a:latin typeface="Segoe WPC"/>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s-CO" sz="1200" dirty="0" err="1">
                          <a:effectLst/>
                        </a:rPr>
                        <a:t>Coef_Condicional</a:t>
                      </a:r>
                      <a:endParaRPr lang="es-CO" sz="1200" b="0" i="0" dirty="0">
                        <a:solidFill>
                          <a:srgbClr val="BBBEBF"/>
                        </a:solidFill>
                        <a:effectLst/>
                        <a:latin typeface="Segoe WPC"/>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s-CO" sz="1200" dirty="0" err="1">
                          <a:effectLst/>
                        </a:rPr>
                        <a:t>Brecha_porcentual_cat_ref</a:t>
                      </a:r>
                      <a:endParaRPr lang="es-CO" sz="1200" b="0" i="0" dirty="0">
                        <a:solidFill>
                          <a:srgbClr val="BBBEBF"/>
                        </a:solidFill>
                        <a:effectLst/>
                        <a:latin typeface="Segoe WPC"/>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3368492"/>
                  </a:ext>
                </a:extLst>
              </a:tr>
              <a:tr h="249483">
                <a:tc>
                  <a:txBody>
                    <a:bodyPr/>
                    <a:lstStyle/>
                    <a:p>
                      <a:pPr algn="l" fontAlgn="ctr">
                        <a:buNone/>
                      </a:pPr>
                      <a:r>
                        <a:rPr lang="es-CO" sz="1200" dirty="0">
                          <a:effectLst/>
                        </a:rPr>
                        <a:t>Relab[Empleado Particular]</a:t>
                      </a:r>
                      <a:endParaRPr lang="es-CO" sz="1200" b="0" i="0" dirty="0">
                        <a:solidFill>
                          <a:srgbClr val="BBBEBF"/>
                        </a:solidFill>
                        <a:effectLst/>
                        <a:latin typeface="Segoe WPC"/>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s-CO" sz="1200">
                          <a:effectLst/>
                        </a:rPr>
                        <a:t>-</a:t>
                      </a:r>
                      <a:endParaRPr lang="es-CO" sz="1200" b="0" i="0">
                        <a:solidFill>
                          <a:srgbClr val="BBBEBF"/>
                        </a:solidFill>
                        <a:effectLst/>
                        <a:latin typeface="Segoe WPC"/>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s-CO" sz="1200" dirty="0">
                          <a:effectLst/>
                        </a:rPr>
                        <a:t>0.0000</a:t>
                      </a:r>
                      <a:endParaRPr lang="es-CO" sz="1200" b="0" i="0" dirty="0">
                        <a:solidFill>
                          <a:srgbClr val="BBBEBF"/>
                        </a:solidFill>
                        <a:effectLst/>
                        <a:latin typeface="Segoe WPC"/>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543415"/>
                  </a:ext>
                </a:extLst>
              </a:tr>
              <a:tr h="249483">
                <a:tc>
                  <a:txBody>
                    <a:bodyPr/>
                    <a:lstStyle/>
                    <a:p>
                      <a:pPr algn="l" fontAlgn="ctr">
                        <a:buNone/>
                      </a:pPr>
                      <a:r>
                        <a:rPr lang="es-CO" sz="1200">
                          <a:effectLst/>
                        </a:rPr>
                        <a:t>relab[Cuenta propia]</a:t>
                      </a:r>
                      <a:endParaRPr lang="es-CO" sz="1200" b="0" i="0">
                        <a:solidFill>
                          <a:srgbClr val="BBBEBF"/>
                        </a:solidFill>
                        <a:effectLst/>
                        <a:latin typeface="Segoe WPC"/>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s-CO" sz="1200">
                          <a:effectLst/>
                        </a:rPr>
                        <a:t>-0.4922</a:t>
                      </a:r>
                      <a:endParaRPr lang="es-CO" sz="1200" b="0" i="0">
                        <a:solidFill>
                          <a:srgbClr val="BBBEBF"/>
                        </a:solidFill>
                        <a:effectLst/>
                        <a:latin typeface="Segoe WPC"/>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s-CO" sz="1200" dirty="0">
                          <a:effectLst/>
                        </a:rPr>
                        <a:t>-38.8736</a:t>
                      </a:r>
                      <a:endParaRPr lang="es-CO" sz="1200" b="0" i="0" dirty="0">
                        <a:solidFill>
                          <a:srgbClr val="BBBEBF"/>
                        </a:solidFill>
                        <a:effectLst/>
                        <a:latin typeface="Segoe WPC"/>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0757749"/>
                  </a:ext>
                </a:extLst>
              </a:tr>
              <a:tr h="249483">
                <a:tc>
                  <a:txBody>
                    <a:bodyPr/>
                    <a:lstStyle/>
                    <a:p>
                      <a:pPr algn="l" fontAlgn="ctr">
                        <a:buNone/>
                      </a:pPr>
                      <a:r>
                        <a:rPr lang="es-CO" sz="1200" dirty="0" err="1">
                          <a:effectLst/>
                        </a:rPr>
                        <a:t>relab</a:t>
                      </a:r>
                      <a:r>
                        <a:rPr lang="es-CO" sz="1200" dirty="0">
                          <a:effectLst/>
                        </a:rPr>
                        <a:t>[Empleado del gobierno]</a:t>
                      </a:r>
                      <a:endParaRPr lang="es-CO" sz="1200" b="0" i="0" dirty="0">
                        <a:solidFill>
                          <a:srgbClr val="BBBEBF"/>
                        </a:solidFill>
                        <a:effectLst/>
                        <a:latin typeface="Segoe WPC"/>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s-CO" sz="1200">
                          <a:effectLst/>
                        </a:rPr>
                        <a:t>0.7398</a:t>
                      </a:r>
                      <a:endParaRPr lang="es-CO" sz="1200" b="0" i="0">
                        <a:solidFill>
                          <a:srgbClr val="BBBEBF"/>
                        </a:solidFill>
                        <a:effectLst/>
                        <a:latin typeface="Segoe WPC"/>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s-CO" sz="1200">
                          <a:effectLst/>
                        </a:rPr>
                        <a:t>109.5580</a:t>
                      </a:r>
                      <a:endParaRPr lang="es-CO" sz="1200" b="0" i="0">
                        <a:solidFill>
                          <a:srgbClr val="BBBEBF"/>
                        </a:solidFill>
                        <a:effectLst/>
                        <a:latin typeface="Segoe WPC"/>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9786576"/>
                  </a:ext>
                </a:extLst>
              </a:tr>
              <a:tr h="249483">
                <a:tc>
                  <a:txBody>
                    <a:bodyPr/>
                    <a:lstStyle/>
                    <a:p>
                      <a:pPr algn="l" fontAlgn="ctr">
                        <a:buNone/>
                      </a:pPr>
                      <a:r>
                        <a:rPr lang="es-CO" sz="1200" dirty="0" err="1">
                          <a:effectLst/>
                        </a:rPr>
                        <a:t>relab</a:t>
                      </a:r>
                      <a:r>
                        <a:rPr lang="es-CO" sz="1200" dirty="0">
                          <a:effectLst/>
                        </a:rPr>
                        <a:t>[Empleado domestico]</a:t>
                      </a:r>
                      <a:endParaRPr lang="es-CO" sz="1200" b="0" i="0" dirty="0">
                        <a:solidFill>
                          <a:srgbClr val="BBBEBF"/>
                        </a:solidFill>
                        <a:effectLst/>
                        <a:latin typeface="Segoe WPC"/>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s-CO" sz="1200" dirty="0">
                          <a:effectLst/>
                        </a:rPr>
                        <a:t>-0.6972</a:t>
                      </a:r>
                      <a:endParaRPr lang="es-CO" sz="1200" b="0" i="0" dirty="0">
                        <a:solidFill>
                          <a:srgbClr val="BBBEBF"/>
                        </a:solidFill>
                        <a:effectLst/>
                        <a:latin typeface="Segoe WPC"/>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s-CO" sz="1200">
                          <a:effectLst/>
                        </a:rPr>
                        <a:t>-50.2027</a:t>
                      </a:r>
                      <a:endParaRPr lang="es-CO" sz="1200" b="0" i="0">
                        <a:solidFill>
                          <a:srgbClr val="BBBEBF"/>
                        </a:solidFill>
                        <a:effectLst/>
                        <a:latin typeface="Segoe WPC"/>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9506528"/>
                  </a:ext>
                </a:extLst>
              </a:tr>
              <a:tr h="249483">
                <a:tc>
                  <a:txBody>
                    <a:bodyPr/>
                    <a:lstStyle/>
                    <a:p>
                      <a:pPr algn="l" fontAlgn="ctr">
                        <a:buNone/>
                      </a:pPr>
                      <a:r>
                        <a:rPr lang="es-CO" sz="1200">
                          <a:effectLst/>
                        </a:rPr>
                        <a:t>relab[Otro]</a:t>
                      </a:r>
                      <a:endParaRPr lang="es-CO" sz="1200" b="0" i="0">
                        <a:solidFill>
                          <a:srgbClr val="BBBEBF"/>
                        </a:solidFill>
                        <a:effectLst/>
                        <a:latin typeface="Segoe WPC"/>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s-CO" sz="1200" dirty="0">
                          <a:effectLst/>
                        </a:rPr>
                        <a:t>-1.0705</a:t>
                      </a:r>
                      <a:endParaRPr lang="es-CO" sz="1200" b="0" i="0" dirty="0">
                        <a:solidFill>
                          <a:srgbClr val="BBBEBF"/>
                        </a:solidFill>
                        <a:effectLst/>
                        <a:latin typeface="Segoe WPC"/>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s-CO" sz="1200" dirty="0">
                          <a:effectLst/>
                        </a:rPr>
                        <a:t>-65.7159</a:t>
                      </a:r>
                      <a:endParaRPr lang="es-CO" sz="1200" b="0" i="0" dirty="0">
                        <a:solidFill>
                          <a:srgbClr val="BBBEBF"/>
                        </a:solidFill>
                        <a:effectLst/>
                        <a:latin typeface="Segoe WPC"/>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3315313"/>
                  </a:ext>
                </a:extLst>
              </a:tr>
              <a:tr h="249483">
                <a:tc>
                  <a:txBody>
                    <a:bodyPr/>
                    <a:lstStyle/>
                    <a:p>
                      <a:pPr algn="l" fontAlgn="ctr">
                        <a:buNone/>
                      </a:pPr>
                      <a:r>
                        <a:rPr lang="es-CO" sz="1200" dirty="0" err="1">
                          <a:effectLst/>
                        </a:rPr>
                        <a:t>relab</a:t>
                      </a:r>
                      <a:r>
                        <a:rPr lang="es-CO" sz="1200" dirty="0">
                          <a:effectLst/>
                        </a:rPr>
                        <a:t>[Patron/empleador]</a:t>
                      </a:r>
                      <a:endParaRPr lang="es-CO" sz="1200" b="0" i="0" dirty="0">
                        <a:solidFill>
                          <a:srgbClr val="BBBEBF"/>
                        </a:solidFill>
                        <a:effectLst/>
                        <a:latin typeface="Segoe WPC"/>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s-CO" sz="1200">
                          <a:effectLst/>
                        </a:rPr>
                        <a:t>0.2183</a:t>
                      </a:r>
                      <a:endParaRPr lang="es-CO" sz="1200" b="0" i="0">
                        <a:solidFill>
                          <a:srgbClr val="BBBEBF"/>
                        </a:solidFill>
                        <a:effectLst/>
                        <a:latin typeface="Segoe WPC"/>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s-CO" sz="1200" dirty="0">
                          <a:effectLst/>
                        </a:rPr>
                        <a:t>24.3950</a:t>
                      </a:r>
                      <a:endParaRPr lang="es-CO" sz="1200" b="0" i="0" dirty="0">
                        <a:solidFill>
                          <a:srgbClr val="BBBEBF"/>
                        </a:solidFill>
                        <a:effectLst/>
                        <a:latin typeface="Segoe WPC"/>
                      </a:endParaRPr>
                    </a:p>
                  </a:txBody>
                  <a:tcPr marL="60960" marR="60960" marT="30480" marB="304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5263998"/>
                  </a:ext>
                </a:extLst>
              </a:tr>
            </a:tbl>
          </a:graphicData>
        </a:graphic>
      </p:graphicFrame>
      <p:pic>
        <p:nvPicPr>
          <p:cNvPr id="7" name="Imagen 6">
            <a:extLst>
              <a:ext uri="{FF2B5EF4-FFF2-40B4-BE49-F238E27FC236}">
                <a16:creationId xmlns:a16="http://schemas.microsoft.com/office/drawing/2014/main" id="{FE2464D9-5D42-3F1B-C72C-5FA044DFA3A6}"/>
              </a:ext>
            </a:extLst>
          </p:cNvPr>
          <p:cNvPicPr>
            <a:picLocks noChangeAspect="1"/>
          </p:cNvPicPr>
          <p:nvPr/>
        </p:nvPicPr>
        <p:blipFill>
          <a:blip r:embed="rId3"/>
          <a:stretch>
            <a:fillRect/>
          </a:stretch>
        </p:blipFill>
        <p:spPr>
          <a:xfrm>
            <a:off x="181313" y="1876113"/>
            <a:ext cx="6449643" cy="3552943"/>
          </a:xfrm>
          <a:prstGeom prst="rect">
            <a:avLst/>
          </a:prstGeom>
        </p:spPr>
      </p:pic>
      <p:graphicFrame>
        <p:nvGraphicFramePr>
          <p:cNvPr id="11" name="Tabla 10">
            <a:extLst>
              <a:ext uri="{FF2B5EF4-FFF2-40B4-BE49-F238E27FC236}">
                <a16:creationId xmlns:a16="http://schemas.microsoft.com/office/drawing/2014/main" id="{B5631604-1324-C921-52B3-2230C400993E}"/>
              </a:ext>
            </a:extLst>
          </p:cNvPr>
          <p:cNvGraphicFramePr>
            <a:graphicFrameLocks noGrp="1"/>
          </p:cNvGraphicFramePr>
          <p:nvPr>
            <p:extLst>
              <p:ext uri="{D42A27DB-BD31-4B8C-83A1-F6EECF244321}">
                <p14:modId xmlns:p14="http://schemas.microsoft.com/office/powerpoint/2010/main" val="3312200213"/>
              </p:ext>
            </p:extLst>
          </p:nvPr>
        </p:nvGraphicFramePr>
        <p:xfrm>
          <a:off x="8021980" y="1968153"/>
          <a:ext cx="2743200" cy="685800"/>
        </p:xfrm>
        <a:graphic>
          <a:graphicData uri="http://schemas.openxmlformats.org/drawingml/2006/table">
            <a:tbl>
              <a:tblPr>
                <a:tableStyleId>{5940675A-B579-460E-94D1-54222C63F5DA}</a:tableStyleId>
              </a:tblPr>
              <a:tblGrid>
                <a:gridCol w="1422400">
                  <a:extLst>
                    <a:ext uri="{9D8B030D-6E8A-4147-A177-3AD203B41FA5}">
                      <a16:colId xmlns:a16="http://schemas.microsoft.com/office/drawing/2014/main" val="90365997"/>
                    </a:ext>
                  </a:extLst>
                </a:gridCol>
                <a:gridCol w="1320800">
                  <a:extLst>
                    <a:ext uri="{9D8B030D-6E8A-4147-A177-3AD203B41FA5}">
                      <a16:colId xmlns:a16="http://schemas.microsoft.com/office/drawing/2014/main" val="2551782285"/>
                    </a:ext>
                  </a:extLst>
                </a:gridCol>
              </a:tblGrid>
              <a:tr h="228600">
                <a:tc>
                  <a:txBody>
                    <a:bodyPr/>
                    <a:lstStyle/>
                    <a:p>
                      <a:pPr algn="ctr" fontAlgn="ctr">
                        <a:buNone/>
                      </a:pPr>
                      <a:r>
                        <a:rPr lang="es-CO" sz="1200" b="0" dirty="0">
                          <a:solidFill>
                            <a:srgbClr val="172F42"/>
                          </a:solidFill>
                          <a:latin typeface="Arial"/>
                          <a:ea typeface="+mn-ea"/>
                          <a:cs typeface="Arial"/>
                        </a:rPr>
                        <a:t>Modelo</a:t>
                      </a:r>
                    </a:p>
                  </a:txBody>
                  <a:tcPr marL="7620" marR="7620" marT="7620" marB="0" anchor="ctr">
                    <a:solidFill>
                      <a:schemeClr val="accent6">
                        <a:lumMod val="20000"/>
                        <a:lumOff val="80000"/>
                      </a:schemeClr>
                    </a:solidFill>
                  </a:tcPr>
                </a:tc>
                <a:tc>
                  <a:txBody>
                    <a:bodyPr/>
                    <a:lstStyle/>
                    <a:p>
                      <a:pPr algn="ctr" fontAlgn="ctr">
                        <a:buNone/>
                      </a:pPr>
                      <a:r>
                        <a:rPr lang="es-CO" sz="1400" u="none" strike="noStrike" dirty="0">
                          <a:effectLst/>
                        </a:rPr>
                        <a:t>Condicional</a:t>
                      </a:r>
                      <a:endParaRPr lang="es-CO" sz="1400" b="0" i="0" u="none" strike="noStrike" dirty="0">
                        <a:solidFill>
                          <a:srgbClr val="172F42"/>
                        </a:solidFill>
                        <a:effectLst/>
                        <a:latin typeface="Arial" panose="020B0604020202020204" pitchFamily="34" charset="0"/>
                      </a:endParaRPr>
                    </a:p>
                  </a:txBody>
                  <a:tcPr marL="7620" marR="7620" marT="7620" marB="0" anchor="ctr">
                    <a:solidFill>
                      <a:schemeClr val="accent6">
                        <a:lumMod val="20000"/>
                        <a:lumOff val="80000"/>
                      </a:schemeClr>
                    </a:solidFill>
                  </a:tcPr>
                </a:tc>
                <a:extLst>
                  <a:ext uri="{0D108BD9-81ED-4DB2-BD59-A6C34878D82A}">
                    <a16:rowId xmlns:a16="http://schemas.microsoft.com/office/drawing/2014/main" val="2842103197"/>
                  </a:ext>
                </a:extLst>
              </a:tr>
              <a:tr h="228600">
                <a:tc>
                  <a:txBody>
                    <a:bodyPr/>
                    <a:lstStyle/>
                    <a:p>
                      <a:pPr algn="l" fontAlgn="ctr">
                        <a:buNone/>
                      </a:pPr>
                      <a:r>
                        <a:rPr lang="es-CO" sz="1400" u="none" strike="noStrike">
                          <a:effectLst/>
                        </a:rPr>
                        <a:t>Pico (años)</a:t>
                      </a:r>
                      <a:endParaRPr lang="es-CO" sz="1400" b="0" i="0" u="none" strike="noStrike">
                        <a:solidFill>
                          <a:srgbClr val="172F42"/>
                        </a:solidFill>
                        <a:effectLst/>
                        <a:latin typeface="Arial" panose="020B0604020202020204" pitchFamily="34" charset="0"/>
                      </a:endParaRPr>
                    </a:p>
                  </a:txBody>
                  <a:tcPr marL="7620" marR="7620" marT="7620" marB="0" anchor="ctr"/>
                </a:tc>
                <a:tc>
                  <a:txBody>
                    <a:bodyPr/>
                    <a:lstStyle/>
                    <a:p>
                      <a:pPr algn="ctr" fontAlgn="ctr">
                        <a:buNone/>
                      </a:pPr>
                      <a:r>
                        <a:rPr lang="es-CO" sz="1400" u="none" strike="noStrike" dirty="0">
                          <a:effectLst/>
                        </a:rPr>
                        <a:t>43,63</a:t>
                      </a:r>
                      <a:endParaRPr lang="es-CO" sz="1400" b="0" i="0" u="none" strike="noStrike" dirty="0">
                        <a:solidFill>
                          <a:srgbClr val="172F42"/>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961817063"/>
                  </a:ext>
                </a:extLst>
              </a:tr>
              <a:tr h="228600">
                <a:tc>
                  <a:txBody>
                    <a:bodyPr/>
                    <a:lstStyle/>
                    <a:p>
                      <a:pPr algn="l" fontAlgn="ctr">
                        <a:buNone/>
                      </a:pPr>
                      <a:r>
                        <a:rPr lang="es-CO" sz="1400" u="none" strike="noStrike" dirty="0">
                          <a:effectLst/>
                        </a:rPr>
                        <a:t>IC 95% percentil</a:t>
                      </a:r>
                      <a:endParaRPr lang="es-CO" sz="1400" b="0" i="0" u="none" strike="noStrike" dirty="0">
                        <a:solidFill>
                          <a:srgbClr val="172F42"/>
                        </a:solidFill>
                        <a:effectLst/>
                        <a:latin typeface="Arial" panose="020B0604020202020204" pitchFamily="34" charset="0"/>
                      </a:endParaRPr>
                    </a:p>
                  </a:txBody>
                  <a:tcPr marL="7620" marR="7620" marT="7620" marB="0" anchor="ctr"/>
                </a:tc>
                <a:tc>
                  <a:txBody>
                    <a:bodyPr/>
                    <a:lstStyle/>
                    <a:p>
                      <a:pPr algn="ctr" fontAlgn="ctr">
                        <a:buNone/>
                      </a:pPr>
                      <a:r>
                        <a:rPr lang="es-CO" sz="1400" u="none" strike="noStrike" dirty="0">
                          <a:effectLst/>
                        </a:rPr>
                        <a:t>[42,94, 44,38]</a:t>
                      </a:r>
                      <a:endParaRPr lang="es-CO" sz="1400" b="0" i="0" u="none" strike="noStrike" dirty="0">
                        <a:solidFill>
                          <a:srgbClr val="172F42"/>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97422824"/>
                  </a:ext>
                </a:extLst>
              </a:tr>
            </a:tbl>
          </a:graphicData>
        </a:graphic>
      </p:graphicFrame>
    </p:spTree>
    <p:extLst>
      <p:ext uri="{BB962C8B-B14F-4D97-AF65-F5344CB8AC3E}">
        <p14:creationId xmlns:p14="http://schemas.microsoft.com/office/powerpoint/2010/main" val="3534162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155D59AD-F0D2-4377-8167-C900AC11AFEC}"/>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lang="es-CO" sz="3150" b="1" dirty="0">
                <a:solidFill>
                  <a:srgbClr val="172F42"/>
                </a:solidFill>
                <a:latin typeface="Arial"/>
                <a:ea typeface="Arial"/>
                <a:cs typeface="Arial"/>
              </a:rPr>
              <a:t>Resultados Generales:</a:t>
            </a:r>
            <a:endParaRPr sz="3150" b="1" dirty="0">
              <a:solidFill>
                <a:srgbClr val="172F42"/>
              </a:solidFill>
              <a:latin typeface="Arial"/>
              <a:ea typeface="Arial"/>
              <a:cs typeface="Arial"/>
            </a:endParaRPr>
          </a:p>
        </p:txBody>
      </p:sp>
      <p:sp>
        <p:nvSpPr>
          <p:cNvPr id="2" name="Rectángulo 1">
            <a:extLst>
              <a:ext uri="{FF2B5EF4-FFF2-40B4-BE49-F238E27FC236}">
                <a16:creationId xmlns:a16="http://schemas.microsoft.com/office/drawing/2014/main" id="{C435C8FD-DCEF-48CD-A76E-450B7238F18B}"/>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dirty="0">
                <a:solidFill>
                  <a:srgbClr val="526471"/>
                </a:solidFill>
                <a:latin typeface="Arial"/>
                <a:ea typeface="Arial"/>
                <a:cs typeface="Arial"/>
              </a:rPr>
              <a:t>n = 14.764. Población </a:t>
            </a:r>
            <a:r>
              <a:rPr sz="1125" b="0" dirty="0" err="1">
                <a:solidFill>
                  <a:srgbClr val="526471"/>
                </a:solidFill>
                <a:latin typeface="Arial"/>
                <a:ea typeface="Arial"/>
                <a:cs typeface="Arial"/>
              </a:rPr>
              <a:t>representada</a:t>
            </a:r>
            <a:r>
              <a:rPr lang="es-CO" sz="1125" dirty="0">
                <a:solidFill>
                  <a:srgbClr val="526471"/>
                </a:solidFill>
                <a:latin typeface="Arial"/>
                <a:ea typeface="Arial"/>
                <a:cs typeface="Arial"/>
              </a:rPr>
              <a:t> por Factor de Expansión</a:t>
            </a:r>
            <a:r>
              <a:rPr sz="1125" b="0" dirty="0">
                <a:solidFill>
                  <a:srgbClr val="526471"/>
                </a:solidFill>
                <a:latin typeface="Arial"/>
                <a:ea typeface="Arial"/>
                <a:cs typeface="Arial"/>
              </a:rPr>
              <a:t> ≈ 3.686.676 personas. Fuente: GEIH 2018, Bogotá.</a:t>
            </a:r>
          </a:p>
        </p:txBody>
      </p:sp>
      <p:sp>
        <p:nvSpPr>
          <p:cNvPr id="3" name="Rectángulo 2">
            <a:extLst>
              <a:ext uri="{FF2B5EF4-FFF2-40B4-BE49-F238E27FC236}">
                <a16:creationId xmlns:a16="http://schemas.microsoft.com/office/drawing/2014/main" id="{3864E3EE-74A2-4A14-86FB-FFA97950DECB}"/>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9</a:t>
            </a:r>
          </a:p>
        </p:txBody>
      </p:sp>
      <p:sp>
        <p:nvSpPr>
          <p:cNvPr id="4" name="Rectángulo 3">
            <a:extLst>
              <a:ext uri="{FF2B5EF4-FFF2-40B4-BE49-F238E27FC236}">
                <a16:creationId xmlns:a16="http://schemas.microsoft.com/office/drawing/2014/main" id="{B286EFC0-29EE-4795-8F33-9A4797116E8D}"/>
              </a:ext>
            </a:extLst>
          </p:cNvPr>
          <p:cNvSpPr>
            <a:spLocks noGrp="1"/>
          </p:cNvSpPr>
          <p:nvPr/>
        </p:nvSpPr>
        <p:spPr>
          <a:xfrm>
            <a:off x="685800" y="1524000"/>
            <a:ext cx="10458450" cy="3857625"/>
          </a:xfrm>
          <a:prstGeom prst="rect">
            <a:avLst/>
          </a:prstGeom>
          <a:noFill/>
          <a:ln w="0">
            <a:noFill/>
          </a:ln>
        </p:spPr>
        <p:txBody>
          <a:bodyPr>
            <a:noAutofit/>
          </a:bodyPr>
          <a:lstStyle/>
          <a:p>
            <a:pPr>
              <a:defRPr sz="2025" b="0">
                <a:solidFill>
                  <a:srgbClr val="172F42"/>
                </a:solidFill>
                <a:latin typeface="Arial"/>
                <a:ea typeface="Arial"/>
                <a:cs typeface="Arial"/>
              </a:defRPr>
            </a:pPr>
            <a:r>
              <a:rPr sz="2025" b="0" dirty="0">
                <a:solidFill>
                  <a:srgbClr val="172F42"/>
                </a:solidFill>
                <a:latin typeface="Arial"/>
                <a:ea typeface="Arial"/>
                <a:cs typeface="Arial"/>
              </a:rPr>
              <a:t>El </a:t>
            </a:r>
            <a:r>
              <a:rPr sz="2025" b="0" dirty="0" err="1">
                <a:solidFill>
                  <a:srgbClr val="172F42"/>
                </a:solidFill>
                <a:latin typeface="Arial"/>
                <a:ea typeface="Arial"/>
                <a:cs typeface="Arial"/>
              </a:rPr>
              <a:t>ingreso</a:t>
            </a:r>
            <a:r>
              <a:rPr sz="2025" b="0" dirty="0">
                <a:solidFill>
                  <a:srgbClr val="172F42"/>
                </a:solidFill>
                <a:latin typeface="Arial"/>
                <a:ea typeface="Arial"/>
                <a:cs typeface="Arial"/>
              </a:rPr>
              <a:t> medio </a:t>
            </a:r>
            <a:r>
              <a:rPr sz="2025" b="0" dirty="0" err="1">
                <a:solidFill>
                  <a:srgbClr val="172F42"/>
                </a:solidFill>
                <a:latin typeface="Arial"/>
                <a:ea typeface="Arial"/>
                <a:cs typeface="Arial"/>
              </a:rPr>
              <a:t>sube</a:t>
            </a:r>
            <a:r>
              <a:rPr sz="2025" b="0" dirty="0">
                <a:solidFill>
                  <a:srgbClr val="172F42"/>
                </a:solidFill>
                <a:latin typeface="Arial"/>
                <a:ea typeface="Arial"/>
                <a:cs typeface="Arial"/>
              </a:rPr>
              <a:t> y luego </a:t>
            </a:r>
            <a:r>
              <a:rPr sz="2025" b="0" dirty="0" err="1">
                <a:solidFill>
                  <a:srgbClr val="172F42"/>
                </a:solidFill>
                <a:latin typeface="Arial"/>
                <a:ea typeface="Arial"/>
                <a:cs typeface="Arial"/>
              </a:rPr>
              <a:t>cae</a:t>
            </a:r>
            <a:r>
              <a:rPr lang="es-CO" sz="2025" b="0" dirty="0">
                <a:solidFill>
                  <a:srgbClr val="172F42"/>
                </a:solidFill>
                <a:latin typeface="Arial"/>
                <a:ea typeface="Arial"/>
                <a:cs typeface="Arial"/>
              </a:rPr>
              <a:t> respecto a la edad</a:t>
            </a:r>
            <a:r>
              <a:rPr sz="2025" b="0" dirty="0">
                <a:solidFill>
                  <a:srgbClr val="172F42"/>
                </a:solidFill>
                <a:latin typeface="Arial"/>
                <a:ea typeface="Arial"/>
                <a:cs typeface="Arial"/>
              </a:rPr>
              <a:t> </a:t>
            </a:r>
            <a:endParaRPr lang="es-CO" sz="2025" b="0" dirty="0">
              <a:solidFill>
                <a:srgbClr val="172F42"/>
              </a:solidFill>
              <a:latin typeface="Arial"/>
              <a:ea typeface="Arial"/>
              <a:cs typeface="Arial"/>
            </a:endParaRPr>
          </a:p>
          <a:p>
            <a:pPr>
              <a:defRPr sz="2025" b="0">
                <a:solidFill>
                  <a:srgbClr val="172F42"/>
                </a:solidFill>
                <a:latin typeface="Arial"/>
                <a:ea typeface="Arial"/>
                <a:cs typeface="Arial"/>
              </a:defRPr>
            </a:pPr>
            <a:endParaRPr lang="es-CO" sz="2025" dirty="0">
              <a:solidFill>
                <a:srgbClr val="172F42"/>
              </a:solidFill>
              <a:latin typeface="Arial"/>
              <a:ea typeface="Arial"/>
              <a:cs typeface="Arial"/>
            </a:endParaRPr>
          </a:p>
          <a:p>
            <a:pPr>
              <a:defRPr sz="2025" b="0">
                <a:solidFill>
                  <a:srgbClr val="172F42"/>
                </a:solidFill>
                <a:latin typeface="Arial"/>
                <a:ea typeface="Arial"/>
                <a:cs typeface="Arial"/>
              </a:defRPr>
            </a:pPr>
            <a:r>
              <a:rPr sz="2025" b="0" dirty="0">
                <a:solidFill>
                  <a:srgbClr val="172F42"/>
                </a:solidFill>
                <a:latin typeface="Arial"/>
                <a:ea typeface="Arial"/>
                <a:cs typeface="Arial"/>
              </a:rPr>
              <a:t>El </a:t>
            </a:r>
            <a:r>
              <a:rPr sz="2025" b="0" dirty="0" err="1">
                <a:solidFill>
                  <a:srgbClr val="172F42"/>
                </a:solidFill>
                <a:latin typeface="Arial"/>
                <a:ea typeface="Arial"/>
                <a:cs typeface="Arial"/>
              </a:rPr>
              <a:t>pico</a:t>
            </a:r>
            <a:r>
              <a:rPr sz="2025" b="0" dirty="0">
                <a:solidFill>
                  <a:srgbClr val="172F42"/>
                </a:solidFill>
                <a:latin typeface="Arial"/>
                <a:ea typeface="Arial"/>
                <a:cs typeface="Arial"/>
              </a:rPr>
              <a:t> </a:t>
            </a:r>
            <a:r>
              <a:rPr sz="2025" b="0" dirty="0" err="1">
                <a:solidFill>
                  <a:srgbClr val="172F42"/>
                </a:solidFill>
                <a:latin typeface="Arial"/>
                <a:ea typeface="Arial"/>
                <a:cs typeface="Arial"/>
              </a:rPr>
              <a:t>incondicional</a:t>
            </a:r>
            <a:r>
              <a:rPr sz="2025" b="0" dirty="0">
                <a:solidFill>
                  <a:srgbClr val="172F42"/>
                </a:solidFill>
                <a:latin typeface="Arial"/>
                <a:ea typeface="Arial"/>
                <a:cs typeface="Arial"/>
              </a:rPr>
              <a:t> se </a:t>
            </a:r>
            <a:r>
              <a:rPr sz="2025" b="0" dirty="0" err="1">
                <a:solidFill>
                  <a:srgbClr val="172F42"/>
                </a:solidFill>
                <a:latin typeface="Arial"/>
                <a:ea typeface="Arial"/>
                <a:cs typeface="Arial"/>
              </a:rPr>
              <a:t>ubica</a:t>
            </a:r>
            <a:r>
              <a:rPr sz="2025" b="0" dirty="0">
                <a:solidFill>
                  <a:srgbClr val="172F42"/>
                </a:solidFill>
                <a:latin typeface="Arial"/>
                <a:ea typeface="Arial"/>
                <a:cs typeface="Arial"/>
              </a:rPr>
              <a:t> </a:t>
            </a:r>
            <a:r>
              <a:rPr sz="2025" b="0" dirty="0" err="1">
                <a:solidFill>
                  <a:srgbClr val="172F42"/>
                </a:solidFill>
                <a:latin typeface="Arial"/>
                <a:ea typeface="Arial"/>
                <a:cs typeface="Arial"/>
              </a:rPr>
              <a:t>en</a:t>
            </a:r>
            <a:r>
              <a:rPr sz="2025" b="0" dirty="0">
                <a:solidFill>
                  <a:srgbClr val="172F42"/>
                </a:solidFill>
                <a:latin typeface="Arial"/>
                <a:ea typeface="Arial"/>
                <a:cs typeface="Arial"/>
              </a:rPr>
              <a:t> 40,72 </a:t>
            </a:r>
            <a:r>
              <a:rPr sz="2025" b="0" dirty="0" err="1">
                <a:solidFill>
                  <a:srgbClr val="172F42"/>
                </a:solidFill>
                <a:latin typeface="Arial"/>
                <a:ea typeface="Arial"/>
                <a:cs typeface="Arial"/>
              </a:rPr>
              <a:t>años</a:t>
            </a:r>
            <a:r>
              <a:rPr lang="es-CO" sz="2025" dirty="0">
                <a:solidFill>
                  <a:srgbClr val="172F42"/>
                </a:solidFill>
                <a:latin typeface="Arial"/>
                <a:ea typeface="Arial"/>
                <a:cs typeface="Arial"/>
              </a:rPr>
              <a:t> sin embargo </a:t>
            </a:r>
            <a:r>
              <a:rPr lang="es-ES" sz="2025" dirty="0">
                <a:solidFill>
                  <a:srgbClr val="172F42"/>
                </a:solidFill>
                <a:latin typeface="Arial"/>
                <a:ea typeface="Arial"/>
                <a:cs typeface="Arial"/>
              </a:rPr>
              <a:t>deja gran parte de la variación del ingreso sin explicar.</a:t>
            </a:r>
            <a:endParaRPr sz="2025" b="0" dirty="0">
              <a:solidFill>
                <a:srgbClr val="172F42"/>
              </a:solidFill>
              <a:latin typeface="Arial"/>
              <a:ea typeface="Arial"/>
              <a:cs typeface="Arial"/>
            </a:endParaRPr>
          </a:p>
          <a:p>
            <a:endParaRPr sz="2025" b="0" dirty="0">
              <a:solidFill>
                <a:srgbClr val="172F42"/>
              </a:solidFill>
              <a:latin typeface="Arial"/>
              <a:ea typeface="Arial"/>
              <a:cs typeface="Arial"/>
            </a:endParaRPr>
          </a:p>
          <a:p>
            <a:pPr>
              <a:defRPr sz="2025" b="0">
                <a:solidFill>
                  <a:srgbClr val="172F42"/>
                </a:solidFill>
                <a:latin typeface="Arial"/>
                <a:ea typeface="Arial"/>
                <a:cs typeface="Arial"/>
              </a:defRPr>
            </a:pPr>
            <a:r>
              <a:rPr sz="2025" b="0" dirty="0">
                <a:solidFill>
                  <a:srgbClr val="172F42"/>
                </a:solidFill>
                <a:latin typeface="Arial"/>
                <a:ea typeface="Arial"/>
                <a:cs typeface="Arial"/>
              </a:rPr>
              <a:t>La </a:t>
            </a:r>
            <a:r>
              <a:rPr lang="es-CO" sz="2025" b="0" dirty="0">
                <a:solidFill>
                  <a:srgbClr val="172F42"/>
                </a:solidFill>
                <a:latin typeface="Arial"/>
                <a:ea typeface="Arial"/>
                <a:cs typeface="Arial"/>
              </a:rPr>
              <a:t>inclusión de controles de</a:t>
            </a:r>
            <a:r>
              <a:rPr sz="2025" b="0" dirty="0">
                <a:solidFill>
                  <a:srgbClr val="172F42"/>
                </a:solidFill>
                <a:latin typeface="Arial"/>
                <a:ea typeface="Arial"/>
                <a:cs typeface="Arial"/>
              </a:rPr>
              <a:t> horas y </a:t>
            </a:r>
            <a:r>
              <a:rPr lang="es-CO" sz="2025" b="0" dirty="0">
                <a:solidFill>
                  <a:srgbClr val="172F42"/>
                </a:solidFill>
                <a:latin typeface="Arial"/>
                <a:ea typeface="Arial"/>
                <a:cs typeface="Arial"/>
              </a:rPr>
              <a:t>relación laboral </a:t>
            </a:r>
            <a:r>
              <a:rPr lang="es-CO" sz="2025" dirty="0">
                <a:solidFill>
                  <a:srgbClr val="172F42"/>
                </a:solidFill>
                <a:latin typeface="Arial"/>
                <a:ea typeface="Arial"/>
                <a:cs typeface="Arial"/>
              </a:rPr>
              <a:t>mejora la variación explicada por el modelo incondicional y </a:t>
            </a:r>
            <a:r>
              <a:rPr lang="es-CO" sz="2025" b="0" dirty="0">
                <a:solidFill>
                  <a:srgbClr val="172F42"/>
                </a:solidFill>
                <a:latin typeface="Arial"/>
                <a:ea typeface="Arial"/>
                <a:cs typeface="Arial"/>
              </a:rPr>
              <a:t>desplaza el pico a</a:t>
            </a:r>
            <a:r>
              <a:rPr sz="2025" b="0" dirty="0">
                <a:solidFill>
                  <a:srgbClr val="172F42"/>
                </a:solidFill>
                <a:latin typeface="Arial"/>
                <a:ea typeface="Arial"/>
                <a:cs typeface="Arial"/>
              </a:rPr>
              <a:t> 43,63 </a:t>
            </a:r>
            <a:r>
              <a:rPr sz="2025" b="0" dirty="0" err="1">
                <a:solidFill>
                  <a:srgbClr val="172F42"/>
                </a:solidFill>
                <a:latin typeface="Arial"/>
                <a:ea typeface="Arial"/>
                <a:cs typeface="Arial"/>
              </a:rPr>
              <a:t>años</a:t>
            </a:r>
            <a:r>
              <a:rPr sz="2025" b="0" dirty="0">
                <a:solidFill>
                  <a:srgbClr val="172F42"/>
                </a:solidFill>
                <a:latin typeface="Arial"/>
                <a:ea typeface="Arial"/>
                <a:cs typeface="Arial"/>
              </a:rPr>
              <a:t>.</a:t>
            </a:r>
            <a:endParaRPr lang="es-CO" sz="2025" b="0" dirty="0">
              <a:solidFill>
                <a:srgbClr val="172F42"/>
              </a:solidFill>
              <a:latin typeface="Arial"/>
              <a:ea typeface="Arial"/>
              <a:cs typeface="Arial"/>
            </a:endParaRPr>
          </a:p>
          <a:p>
            <a:pPr>
              <a:defRPr sz="2025" b="0">
                <a:solidFill>
                  <a:srgbClr val="172F42"/>
                </a:solidFill>
                <a:latin typeface="Arial"/>
                <a:ea typeface="Arial"/>
                <a:cs typeface="Arial"/>
              </a:defRPr>
            </a:pPr>
            <a:endParaRPr lang="es-CO" sz="2025" dirty="0">
              <a:solidFill>
                <a:srgbClr val="172F42"/>
              </a:solidFill>
              <a:latin typeface="Arial"/>
              <a:ea typeface="Arial"/>
              <a:cs typeface="Arial"/>
            </a:endParaRPr>
          </a:p>
          <a:p>
            <a:pPr>
              <a:defRPr sz="2025" b="0">
                <a:solidFill>
                  <a:srgbClr val="172F42"/>
                </a:solidFill>
                <a:latin typeface="Arial"/>
                <a:ea typeface="Arial"/>
                <a:cs typeface="Arial"/>
              </a:defRPr>
            </a:pPr>
            <a:r>
              <a:rPr lang="es-CO" sz="2025" dirty="0">
                <a:solidFill>
                  <a:srgbClr val="172F42"/>
                </a:solidFill>
                <a:latin typeface="Arial"/>
                <a:ea typeface="Arial"/>
                <a:cs typeface="Arial"/>
              </a:rPr>
              <a:t>El perfil de mayor interés para la DIAN se sitúa en personas entre</a:t>
            </a:r>
            <a:r>
              <a:rPr lang="es-CO" sz="2025" dirty="0">
                <a:solidFill>
                  <a:srgbClr val="172F42"/>
                </a:solidFill>
                <a:latin typeface="Arial"/>
                <a:cs typeface="Arial"/>
              </a:rPr>
              <a:t> 42,9 y 44,4 años, que sean empleados particulares, empleados del gobierno o empleadores </a:t>
            </a:r>
          </a:p>
          <a:p>
            <a:pPr>
              <a:defRPr sz="2025" b="0">
                <a:solidFill>
                  <a:srgbClr val="172F42"/>
                </a:solidFill>
                <a:latin typeface="Arial"/>
                <a:ea typeface="Arial"/>
                <a:cs typeface="Arial"/>
              </a:defRPr>
            </a:pPr>
            <a:r>
              <a:rPr lang="es-CO" sz="2025" dirty="0">
                <a:solidFill>
                  <a:srgbClr val="172F42"/>
                </a:solidFill>
                <a:latin typeface="Arial"/>
                <a:ea typeface="Arial"/>
                <a:cs typeface="Arial"/>
              </a:rPr>
              <a:t> </a:t>
            </a:r>
            <a:endParaRPr sz="2025" b="0" dirty="0">
              <a:solidFill>
                <a:srgbClr val="172F42"/>
              </a:solidFill>
              <a:latin typeface="Arial"/>
              <a:ea typeface="Arial"/>
              <a:cs typeface="Arial"/>
            </a:endParaRPr>
          </a:p>
        </p:txBody>
      </p:sp>
      <p:sp>
        <p:nvSpPr>
          <p:cNvPr id="5" name="Rectángulo 4">
            <a:extLst>
              <a:ext uri="{FF2B5EF4-FFF2-40B4-BE49-F238E27FC236}">
                <a16:creationId xmlns:a16="http://schemas.microsoft.com/office/drawing/2014/main" id="{6E8B1E2A-88D1-4932-B14B-37EB37A1521D}"/>
              </a:ext>
            </a:extLst>
          </p:cNvPr>
          <p:cNvSpPr>
            <a:spLocks noGrp="1"/>
          </p:cNvSpPr>
          <p:nvPr/>
        </p:nvSpPr>
        <p:spPr>
          <a:xfrm>
            <a:off x="6438900" y="1524000"/>
            <a:ext cx="5048250" cy="3857625"/>
          </a:xfrm>
          <a:prstGeom prst="rect">
            <a:avLst/>
          </a:prstGeom>
          <a:noFill/>
          <a:ln w="0">
            <a:noFill/>
          </a:ln>
        </p:spPr>
        <p:txBody>
          <a:bodyPr>
            <a:noAutofit/>
          </a:bodyPr>
          <a:lstStyle/>
          <a:p>
            <a:pPr>
              <a:defRPr sz="2025" b="0">
                <a:solidFill>
                  <a:srgbClr val="172F42"/>
                </a:solidFill>
                <a:latin typeface="Arial"/>
                <a:ea typeface="Arial"/>
                <a:cs typeface="Arial"/>
              </a:defRPr>
            </a:pPr>
            <a:endParaRPr sz="2025" b="0" dirty="0">
              <a:solidFill>
                <a:srgbClr val="172F42"/>
              </a:solidFill>
              <a:latin typeface="Arial"/>
              <a:ea typeface="Arial"/>
              <a:cs typeface="Arial"/>
            </a:endParaRPr>
          </a:p>
        </p:txBody>
      </p:sp>
    </p:spTree>
    <p:extLst>
      <p:ext uri="{BB962C8B-B14F-4D97-AF65-F5344CB8AC3E}">
        <p14:creationId xmlns:p14="http://schemas.microsoft.com/office/powerpoint/2010/main" val="1977946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2109187E-5682-4197-9744-176E8A3D97A3}"/>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Anexo: método delta para el máximo</a:t>
            </a:r>
          </a:p>
        </p:txBody>
      </p:sp>
      <p:sp>
        <p:nvSpPr>
          <p:cNvPr id="2" name="Rectángulo 1">
            <a:extLst>
              <a:ext uri="{FF2B5EF4-FFF2-40B4-BE49-F238E27FC236}">
                <a16:creationId xmlns:a16="http://schemas.microsoft.com/office/drawing/2014/main" id="{952EF420-E7D4-4CF9-8AF1-BA8DA70A2EB1}"/>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dirty="0">
                <a:solidFill>
                  <a:srgbClr val="526471"/>
                </a:solidFill>
                <a:latin typeface="Arial"/>
                <a:ea typeface="Arial"/>
                <a:cs typeface="Arial"/>
              </a:rPr>
              <a:t>n = 14.764. Población </a:t>
            </a:r>
            <a:r>
              <a:rPr sz="1125" b="0" dirty="0" err="1">
                <a:solidFill>
                  <a:srgbClr val="526471"/>
                </a:solidFill>
                <a:latin typeface="Arial"/>
                <a:ea typeface="Arial"/>
                <a:cs typeface="Arial"/>
              </a:rPr>
              <a:t>representada</a:t>
            </a:r>
            <a:r>
              <a:rPr lang="es-CO" sz="1125" dirty="0">
                <a:solidFill>
                  <a:srgbClr val="526471"/>
                </a:solidFill>
                <a:latin typeface="Arial"/>
                <a:ea typeface="Arial"/>
                <a:cs typeface="Arial"/>
              </a:rPr>
              <a:t> por Factor de Expansión</a:t>
            </a:r>
            <a:r>
              <a:rPr sz="1125" b="0" dirty="0">
                <a:solidFill>
                  <a:srgbClr val="526471"/>
                </a:solidFill>
                <a:latin typeface="Arial"/>
                <a:ea typeface="Arial"/>
                <a:cs typeface="Arial"/>
              </a:rPr>
              <a:t> ≈ 3.686.676 personas. Fuente: GEIH 2018, Bogotá.</a:t>
            </a:r>
          </a:p>
        </p:txBody>
      </p:sp>
      <p:sp>
        <p:nvSpPr>
          <p:cNvPr id="3" name="Rectángulo 2">
            <a:extLst>
              <a:ext uri="{FF2B5EF4-FFF2-40B4-BE49-F238E27FC236}">
                <a16:creationId xmlns:a16="http://schemas.microsoft.com/office/drawing/2014/main" id="{66C176C7-21F7-43C9-A9FE-8A1655804DDA}"/>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11</a:t>
            </a:r>
          </a:p>
        </p:txBody>
      </p:sp>
      <mc:AlternateContent xmlns:mc="http://schemas.openxmlformats.org/markup-compatibility/2006" xmlns:a14="http://schemas.microsoft.com/office/drawing/2010/main">
        <mc:Choice Requires="a14">
          <p:sp>
            <p:nvSpPr>
              <p:cNvPr id="4" name="EQ_age_11_7">
                <a:extLst>
                  <a:ext uri="{FF2B5EF4-FFF2-40B4-BE49-F238E27FC236}">
                    <a16:creationId xmlns:a16="http://schemas.microsoft.com/office/drawing/2014/main" id="{562E4605-704F-4F60-9A5C-E1D95BFA9E72}"/>
                  </a:ext>
                </a:extLst>
              </p:cNvPr>
              <p:cNvSpPr>
                <a:spLocks noGrp="1"/>
              </p:cNvSpPr>
              <p:nvPr/>
            </p:nvSpPr>
            <p:spPr>
              <a:xfrm>
                <a:off x="685800" y="1428750"/>
                <a:ext cx="10763250" cy="1095375"/>
              </a:xfrm>
              <a:prstGeom prst="rect">
                <a:avLst/>
              </a:prstGeom>
              <a:noFill/>
              <a:ln w="0">
                <a:noFill/>
              </a:ln>
            </p:spPr>
            <p:txBody>
              <a:bodyPr/>
              <a:lstStyle/>
              <a:p>
                <a:pPr algn="l"/>
                <a14:m>
                  <m:oMathPara xmlns:m="http://schemas.openxmlformats.org/officeDocument/2006/math">
                    <m:oMath>
                      <m:r>
                        <a:rPr>
                          <a:latin typeface="Cambria Math" panose="02040503050406030204" pitchFamily="18" charset="0"/>
                        </a:rPr>
                        <m:t>𝑔</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1</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2</m:t>
                          </m:r>
                        </m:sub>
                      </m:sSub>
                      <m:r>
                        <a:rPr>
                          <a:latin typeface="Cambria Math" panose="02040503050406030204" pitchFamily="18" charset="0"/>
                        </a:rPr>
                        <m:t>)=−</m:t>
                      </m:r>
                      <m:f>
                        <m:fPr>
                          <m:ctrlPr>
                            <a:rPr i="1">
                              <a:latin typeface="Cambria Math" panose="02040503050406030204" pitchFamily="18" charset="0"/>
                            </a:rPr>
                          </m:ctrlPr>
                        </m:fPr>
                        <m:num>
                          <m:sSub>
                            <m:sSubPr>
                              <m:ctrlPr>
                                <a:rPr>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1</m:t>
                              </m:r>
                            </m:sub>
                          </m:sSub>
                        </m:num>
                        <m:den>
                          <m:r>
                            <a:rPr>
                              <a:latin typeface="Cambria Math" panose="02040503050406030204" pitchFamily="18" charset="0"/>
                            </a:rPr>
                            <m:t>2</m:t>
                          </m:r>
                          <m:sSub>
                            <m:sSubPr>
                              <m:ctrlPr>
                                <a:rPr>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2</m:t>
                              </m:r>
                            </m:sub>
                          </m:sSub>
                        </m:den>
                      </m:f>
                      <m:r>
                        <a:rPr>
                          <a:latin typeface="Cambria Math" panose="02040503050406030204" pitchFamily="18" charset="0"/>
                        </a:rPr>
                        <m:t>,</m:t>
                      </m:r>
                      <m:r>
                        <m:rPr>
                          <m:nor/>
                        </m:rPr>
                        <a:rPr i="0"/>
                        <m:t> </m:t>
                      </m:r>
                      <m:r>
                        <a:rPr>
                          <a:latin typeface="Cambria Math" panose="02040503050406030204" pitchFamily="18" charset="0"/>
                        </a:rPr>
                        <m:t>𝛻</m:t>
                      </m:r>
                      <m:r>
                        <a:rPr>
                          <a:latin typeface="Cambria Math" panose="02040503050406030204" pitchFamily="18" charset="0"/>
                        </a:rPr>
                        <m:t>𝑔</m:t>
                      </m:r>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2</m:t>
                          </m:r>
                          <m:sSub>
                            <m:sSubPr>
                              <m:ctrlPr>
                                <a:rPr>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2</m:t>
                              </m:r>
                            </m:sub>
                          </m:sSub>
                        </m:den>
                      </m:f>
                      <m:r>
                        <a:rPr>
                          <a:latin typeface="Cambria Math" panose="02040503050406030204" pitchFamily="18" charset="0"/>
                        </a:rPr>
                        <m:t>,</m:t>
                      </m:r>
                      <m:f>
                        <m:fPr>
                          <m:ctrlPr>
                            <a:rPr i="1">
                              <a:latin typeface="Cambria Math" panose="02040503050406030204" pitchFamily="18" charset="0"/>
                            </a:rPr>
                          </m:ctrlPr>
                        </m:fPr>
                        <m:num>
                          <m:sSub>
                            <m:sSubPr>
                              <m:ctrlPr>
                                <a:rPr>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1</m:t>
                              </m:r>
                            </m:sub>
                          </m:sSub>
                        </m:num>
                        <m:den>
                          <m:r>
                            <a:rPr>
                              <a:latin typeface="Cambria Math" panose="02040503050406030204" pitchFamily="18" charset="0"/>
                            </a:rPr>
                            <m:t>2</m:t>
                          </m:r>
                          <m:sSubSup>
                            <m:sSubSupPr>
                              <m:ctrlPr>
                                <a:rPr>
                                  <a:latin typeface="Cambria Math" panose="02040503050406030204" pitchFamily="18" charset="0"/>
                                </a:rPr>
                              </m:ctrlPr>
                            </m:sSubSupPr>
                            <m:e>
                              <m:r>
                                <a:rPr>
                                  <a:latin typeface="Cambria Math" panose="02040503050406030204" pitchFamily="18" charset="0"/>
                                </a:rPr>
                                <m:t>𝛽</m:t>
                              </m:r>
                            </m:e>
                            <m:sub>
                              <m:r>
                                <a:rPr>
                                  <a:latin typeface="Cambria Math" panose="02040503050406030204" pitchFamily="18" charset="0"/>
                                </a:rPr>
                                <m:t>2</m:t>
                              </m:r>
                            </m:sub>
                            <m:sup>
                              <m:r>
                                <a:rPr>
                                  <a:latin typeface="Cambria Math" panose="02040503050406030204" pitchFamily="18" charset="0"/>
                                </a:rPr>
                                <m:t>2</m:t>
                              </m:r>
                            </m:sup>
                          </m:sSubSup>
                        </m:den>
                      </m:f>
                      <m:r>
                        <a:rPr>
                          <a:latin typeface="Cambria Math" panose="02040503050406030204" pitchFamily="18" charset="0"/>
                        </a:rPr>
                        <m:t>)′</m:t>
                      </m:r>
                    </m:oMath>
                  </m:oMathPara>
                </a14:m>
                <a:endParaRPr sz="2800"/>
              </a:p>
            </p:txBody>
          </p:sp>
        </mc:Choice>
        <mc:Fallback xmlns="">
          <p:sp>
            <p:nvSpPr>
              <p:cNvPr id="4" name="EQ_age_11_7">
                <a:extLst>
                  <a:ext uri="{FF2B5EF4-FFF2-40B4-BE49-F238E27FC236}">
                    <a16:creationId xmlns:a16="http://schemas.microsoft.com/office/drawing/2014/main" id="{562E4605-704F-4F60-9A5C-E1D95BFA9E72}"/>
                  </a:ext>
                </a:extLst>
              </p:cNvPr>
              <p:cNvSpPr>
                <a:spLocks noGrp="1" noRot="1" noChangeAspect="1" noMove="1" noResize="1" noEditPoints="1" noAdjustHandles="1" noChangeArrowheads="1" noChangeShapeType="1" noTextEdit="1"/>
              </p:cNvSpPr>
              <p:nvPr/>
            </p:nvSpPr>
            <p:spPr>
              <a:xfrm>
                <a:off x="685800" y="1428750"/>
                <a:ext cx="10763250" cy="1095375"/>
              </a:xfrm>
              <a:prstGeom prst="rect">
                <a:avLst/>
              </a:prstGeom>
              <a:blipFill>
                <a:blip r:embed="rId3"/>
                <a:stretch>
                  <a:fillRect/>
                </a:stretch>
              </a:blipFill>
              <a:ln w="0">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 name="EQ_age_11_8">
                <a:extLst>
                  <a:ext uri="{FF2B5EF4-FFF2-40B4-BE49-F238E27FC236}">
                    <a16:creationId xmlns:a16="http://schemas.microsoft.com/office/drawing/2014/main" id="{F2AB8ACE-969E-4440-9330-404B33BBEE15}"/>
                  </a:ext>
                </a:extLst>
              </p:cNvPr>
              <p:cNvSpPr>
                <a:spLocks noGrp="1"/>
              </p:cNvSpPr>
              <p:nvPr/>
            </p:nvSpPr>
            <p:spPr>
              <a:xfrm>
                <a:off x="685800" y="2952750"/>
                <a:ext cx="10763250" cy="857250"/>
              </a:xfrm>
              <a:prstGeom prst="rect">
                <a:avLst/>
              </a:prstGeom>
              <a:noFill/>
              <a:ln w="0">
                <a:noFill/>
              </a:ln>
            </p:spPr>
            <p:txBody>
              <a:bodyPr/>
              <a:lstStyle/>
              <a:p>
                <a:pPr algn="l"/>
                <a14:m>
                  <m:oMathPara xmlns:m="http://schemas.openxmlformats.org/officeDocument/2006/math">
                    <m:oMath>
                      <m:r>
                        <a:rPr>
                          <a:latin typeface="Cambria Math" panose="02040503050406030204" pitchFamily="18" charset="0"/>
                        </a:rPr>
                        <m:t>𝐸</m:t>
                      </m:r>
                      <m:sSub>
                        <m:sSubPr>
                          <m:ctrlPr>
                            <a:rPr>
                              <a:latin typeface="Cambria Math" panose="02040503050406030204" pitchFamily="18" charset="0"/>
                            </a:rPr>
                          </m:ctrlPr>
                        </m:sSubPr>
                        <m:e>
                          <m:r>
                            <a:rPr>
                              <a:latin typeface="Cambria Math" panose="02040503050406030204" pitchFamily="18" charset="0"/>
                            </a:rPr>
                            <m:t>𝐸</m:t>
                          </m:r>
                        </m:e>
                        <m:sub>
                          <m:r>
                            <m:rPr>
                              <m:sty m:val="p"/>
                            </m:rPr>
                            <a:rPr>
                              <a:latin typeface="Cambria Math" panose="02040503050406030204" pitchFamily="18" charset="0"/>
                            </a:rPr>
                            <m:t>delta</m:t>
                          </m:r>
                        </m:sub>
                      </m:sSub>
                      <m:r>
                        <a:rPr>
                          <a:latin typeface="Cambria Math" panose="02040503050406030204" pitchFamily="18" charset="0"/>
                        </a:rPr>
                        <m:t>=</m:t>
                      </m:r>
                      <m:rad>
                        <m:radPr>
                          <m:degHide m:val="on"/>
                          <m:ctrlPr>
                            <a:rPr i="1">
                              <a:latin typeface="Cambria Math" panose="02040503050406030204" pitchFamily="18" charset="0"/>
                            </a:rPr>
                          </m:ctrlPr>
                        </m:radPr>
                        <m:deg/>
                        <m:e>
                          <m:r>
                            <a:rPr>
                              <a:latin typeface="Cambria Math" panose="02040503050406030204" pitchFamily="18" charset="0"/>
                            </a:rPr>
                            <m:t>𝛻</m:t>
                          </m:r>
                          <m:r>
                            <a:rPr>
                              <a:latin typeface="Cambria Math" panose="02040503050406030204" pitchFamily="18" charset="0"/>
                            </a:rPr>
                            <m:t>𝑔</m:t>
                          </m:r>
                          <m:r>
                            <a:rPr>
                              <a:latin typeface="Cambria Math" panose="02040503050406030204" pitchFamily="18" charset="0"/>
                            </a:rPr>
                            <m:t>′</m:t>
                          </m:r>
                          <m:sSub>
                            <m:sSubPr>
                              <m:ctrlPr>
                                <a:rPr i="1">
                                  <a:latin typeface="Cambria Math" panose="02040503050406030204" pitchFamily="18" charset="0"/>
                                </a:rPr>
                              </m:ctrlPr>
                            </m:sSubPr>
                            <m:e>
                              <m:acc>
                                <m:accPr>
                                  <m:chr m:val="ˆ"/>
                                  <m:ctrlPr>
                                    <a:rPr>
                                      <a:latin typeface="Cambria Math" panose="02040503050406030204" pitchFamily="18" charset="0"/>
                                    </a:rPr>
                                  </m:ctrlPr>
                                </m:accPr>
                                <m:e>
                                  <m:r>
                                    <a:rPr>
                                      <a:latin typeface="Cambria Math" panose="02040503050406030204" pitchFamily="18" charset="0"/>
                                    </a:rPr>
                                    <m:t>𝑉</m:t>
                                  </m:r>
                                </m:e>
                              </m:acc>
                            </m:e>
                            <m:sub>
                              <m:r>
                                <m:rPr>
                                  <m:sty m:val="p"/>
                                </m:rPr>
                                <a:rPr>
                                  <a:latin typeface="Cambria Math" panose="02040503050406030204" pitchFamily="18" charset="0"/>
                                </a:rPr>
                                <m:t>HC</m:t>
                              </m:r>
                              <m:r>
                                <a:rPr>
                                  <a:latin typeface="Cambria Math" panose="02040503050406030204" pitchFamily="18" charset="0"/>
                                </a:rPr>
                                <m:t>1</m:t>
                              </m:r>
                            </m:sub>
                          </m:sSub>
                          <m:r>
                            <a:rPr>
                              <a:latin typeface="Cambria Math" panose="02040503050406030204" pitchFamily="18" charset="0"/>
                            </a:rPr>
                            <m:t>𝛻</m:t>
                          </m:r>
                          <m:r>
                            <a:rPr>
                              <a:latin typeface="Cambria Math" panose="02040503050406030204" pitchFamily="18" charset="0"/>
                            </a:rPr>
                            <m:t>𝑔</m:t>
                          </m:r>
                        </m:e>
                      </m:rad>
                    </m:oMath>
                  </m:oMathPara>
                </a14:m>
                <a:endParaRPr sz="2900"/>
              </a:p>
            </p:txBody>
          </p:sp>
        </mc:Choice>
        <mc:Fallback xmlns="">
          <p:sp>
            <p:nvSpPr>
              <p:cNvPr id="5" name="EQ_age_11_8">
                <a:extLst>
                  <a:ext uri="{FF2B5EF4-FFF2-40B4-BE49-F238E27FC236}">
                    <a16:creationId xmlns:a16="http://schemas.microsoft.com/office/drawing/2014/main" id="{F2AB8ACE-969E-4440-9330-404B33BBEE15}"/>
                  </a:ext>
                </a:extLst>
              </p:cNvPr>
              <p:cNvSpPr>
                <a:spLocks noGrp="1" noRot="1" noChangeAspect="1" noMove="1" noResize="1" noEditPoints="1" noAdjustHandles="1" noChangeArrowheads="1" noChangeShapeType="1" noTextEdit="1"/>
              </p:cNvSpPr>
              <p:nvPr/>
            </p:nvSpPr>
            <p:spPr>
              <a:xfrm>
                <a:off x="685800" y="2952750"/>
                <a:ext cx="10763250" cy="857250"/>
              </a:xfrm>
              <a:prstGeom prst="rect">
                <a:avLst/>
              </a:prstGeom>
              <a:blipFill>
                <a:blip r:embed="rId4"/>
                <a:stretch>
                  <a:fillRect/>
                </a:stretch>
              </a:blipFill>
              <a:ln w="0">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 name="EQ_age_11_9">
                <a:extLst>
                  <a:ext uri="{FF2B5EF4-FFF2-40B4-BE49-F238E27FC236}">
                    <a16:creationId xmlns:a16="http://schemas.microsoft.com/office/drawing/2014/main" id="{4BA68F74-B57F-4BB0-BE99-2D0371E98FA7}"/>
                  </a:ext>
                </a:extLst>
              </p:cNvPr>
              <p:cNvSpPr>
                <a:spLocks noGrp="1"/>
              </p:cNvSpPr>
              <p:nvPr/>
            </p:nvSpPr>
            <p:spPr>
              <a:xfrm>
                <a:off x="685800" y="4191000"/>
                <a:ext cx="10763250" cy="762000"/>
              </a:xfrm>
              <a:prstGeom prst="rect">
                <a:avLst/>
              </a:prstGeom>
              <a:noFill/>
              <a:ln w="0">
                <a:noFill/>
              </a:ln>
            </p:spPr>
            <p:txBody>
              <a:bodyPr/>
              <a:lstStyle/>
              <a:p>
                <a:pPr algn="l"/>
                <a14:m>
                  <m:oMathPara xmlns:m="http://schemas.openxmlformats.org/officeDocument/2006/math">
                    <m:oMath>
                      <m:r>
                        <a:rPr>
                          <a:latin typeface="Cambria Math" panose="02040503050406030204" pitchFamily="18" charset="0"/>
                        </a:rPr>
                        <m:t>𝐼</m:t>
                      </m:r>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95%</m:t>
                          </m:r>
                        </m:sub>
                      </m:sSub>
                      <m:r>
                        <a:rPr>
                          <a:latin typeface="Cambria Math" panose="02040503050406030204" pitchFamily="18" charset="0"/>
                        </a:rPr>
                        <m:t>=</m:t>
                      </m:r>
                      <m:sSup>
                        <m:sSupPr>
                          <m:ctrlPr>
                            <a:rPr i="1">
                              <a:latin typeface="Cambria Math" panose="02040503050406030204" pitchFamily="18" charset="0"/>
                            </a:rPr>
                          </m:ctrlPr>
                        </m:sSupPr>
                        <m:e>
                          <m:acc>
                            <m:accPr>
                              <m:chr m:val="ˆ"/>
                              <m:ctrlPr>
                                <a:rPr>
                                  <a:latin typeface="Cambria Math" panose="02040503050406030204" pitchFamily="18" charset="0"/>
                                </a:rPr>
                              </m:ctrlPr>
                            </m:accPr>
                            <m:e>
                              <m:r>
                                <a:rPr>
                                  <a:latin typeface="Cambria Math" panose="02040503050406030204" pitchFamily="18" charset="0"/>
                                </a:rPr>
                                <m:t>𝐴</m:t>
                              </m:r>
                            </m:e>
                          </m:acc>
                        </m:e>
                        <m:sup>
                          <m:r>
                            <a:rPr>
                              <a:latin typeface="Cambria Math" panose="02040503050406030204" pitchFamily="18" charset="0"/>
                            </a:rPr>
                            <m:t>∗</m:t>
                          </m:r>
                        </m:sup>
                      </m:sSup>
                      <m:r>
                        <a:rPr>
                          <a:latin typeface="Cambria Math" panose="02040503050406030204" pitchFamily="18" charset="0"/>
                        </a:rPr>
                        <m:t>±1.96</m:t>
                      </m:r>
                      <m:r>
                        <m:rPr>
                          <m:nor/>
                        </m:rPr>
                        <a:rPr i="0"/>
                        <m:t> </m:t>
                      </m:r>
                      <m:r>
                        <a:rPr>
                          <a:latin typeface="Cambria Math" panose="02040503050406030204" pitchFamily="18" charset="0"/>
                        </a:rPr>
                        <m:t>𝐸</m:t>
                      </m:r>
                      <m:sSub>
                        <m:sSubPr>
                          <m:ctrlPr>
                            <a:rPr>
                              <a:latin typeface="Cambria Math" panose="02040503050406030204" pitchFamily="18" charset="0"/>
                            </a:rPr>
                          </m:ctrlPr>
                        </m:sSubPr>
                        <m:e>
                          <m:r>
                            <a:rPr>
                              <a:latin typeface="Cambria Math" panose="02040503050406030204" pitchFamily="18" charset="0"/>
                            </a:rPr>
                            <m:t>𝐸</m:t>
                          </m:r>
                        </m:e>
                        <m:sub>
                          <m:r>
                            <m:rPr>
                              <m:sty m:val="p"/>
                            </m:rPr>
                            <a:rPr>
                              <a:latin typeface="Cambria Math" panose="02040503050406030204" pitchFamily="18" charset="0"/>
                            </a:rPr>
                            <m:t>delta</m:t>
                          </m:r>
                        </m:sub>
                      </m:sSub>
                    </m:oMath>
                  </m:oMathPara>
                </a14:m>
                <a:endParaRPr sz="2900"/>
              </a:p>
            </p:txBody>
          </p:sp>
        </mc:Choice>
        <mc:Fallback xmlns="">
          <p:sp>
            <p:nvSpPr>
              <p:cNvPr id="6" name="EQ_age_11_9">
                <a:extLst>
                  <a:ext uri="{FF2B5EF4-FFF2-40B4-BE49-F238E27FC236}">
                    <a16:creationId xmlns:a16="http://schemas.microsoft.com/office/drawing/2014/main" id="{4BA68F74-B57F-4BB0-BE99-2D0371E98FA7}"/>
                  </a:ext>
                </a:extLst>
              </p:cNvPr>
              <p:cNvSpPr>
                <a:spLocks noGrp="1" noRot="1" noChangeAspect="1" noMove="1" noResize="1" noEditPoints="1" noAdjustHandles="1" noChangeArrowheads="1" noChangeShapeType="1" noTextEdit="1"/>
              </p:cNvSpPr>
              <p:nvPr/>
            </p:nvSpPr>
            <p:spPr>
              <a:xfrm>
                <a:off x="685800" y="4191000"/>
                <a:ext cx="10763250" cy="762000"/>
              </a:xfrm>
              <a:prstGeom prst="rect">
                <a:avLst/>
              </a:prstGeom>
              <a:blipFill>
                <a:blip r:embed="rId5"/>
                <a:stretch>
                  <a:fillRect t="-4800"/>
                </a:stretch>
              </a:blipFill>
              <a:ln w="0">
                <a:noFill/>
              </a:ln>
            </p:spPr>
            <p:txBody>
              <a:bodyPr/>
              <a:lstStyle/>
              <a:p>
                <a:r>
                  <a:rPr lang="es-CO">
                    <a:noFill/>
                  </a:rPr>
                  <a:t> </a:t>
                </a:r>
              </a:p>
            </p:txBody>
          </p:sp>
        </mc:Fallback>
      </mc:AlternateContent>
    </p:spTree>
    <p:extLst>
      <p:ext uri="{BB962C8B-B14F-4D97-AF65-F5344CB8AC3E}">
        <p14:creationId xmlns:p14="http://schemas.microsoft.com/office/powerpoint/2010/main" val="5624877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52C62A17-4B94-4B67-8895-DDD42674F379}"/>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Anexo: coeficientes del modelo condicional</a:t>
            </a:r>
          </a:p>
        </p:txBody>
      </p:sp>
      <p:sp>
        <p:nvSpPr>
          <p:cNvPr id="2" name="Rectángulo 1">
            <a:extLst>
              <a:ext uri="{FF2B5EF4-FFF2-40B4-BE49-F238E27FC236}">
                <a16:creationId xmlns:a16="http://schemas.microsoft.com/office/drawing/2014/main" id="{3F0646DA-A7C7-41B3-9F17-94F32812900C}"/>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dirty="0">
                <a:solidFill>
                  <a:srgbClr val="526471"/>
                </a:solidFill>
                <a:latin typeface="Arial"/>
                <a:ea typeface="Arial"/>
                <a:cs typeface="Arial"/>
              </a:rPr>
              <a:t>n = 14.764. Población </a:t>
            </a:r>
            <a:r>
              <a:rPr sz="1125" b="0" dirty="0" err="1">
                <a:solidFill>
                  <a:srgbClr val="526471"/>
                </a:solidFill>
                <a:latin typeface="Arial"/>
                <a:ea typeface="Arial"/>
                <a:cs typeface="Arial"/>
              </a:rPr>
              <a:t>representada</a:t>
            </a:r>
            <a:r>
              <a:rPr lang="es-CO" sz="1125" dirty="0">
                <a:solidFill>
                  <a:srgbClr val="526471"/>
                </a:solidFill>
                <a:latin typeface="Arial"/>
                <a:ea typeface="Arial"/>
                <a:cs typeface="Arial"/>
              </a:rPr>
              <a:t> por Factor de Expansión</a:t>
            </a:r>
            <a:r>
              <a:rPr sz="1125" b="0" dirty="0">
                <a:solidFill>
                  <a:srgbClr val="526471"/>
                </a:solidFill>
                <a:latin typeface="Arial"/>
                <a:ea typeface="Arial"/>
                <a:cs typeface="Arial"/>
              </a:rPr>
              <a:t> ≈ 3.686.676 personas. Fuente: GEIH 2018, Bogotá.</a:t>
            </a:r>
          </a:p>
        </p:txBody>
      </p:sp>
      <p:sp>
        <p:nvSpPr>
          <p:cNvPr id="3" name="Rectángulo 2">
            <a:extLst>
              <a:ext uri="{FF2B5EF4-FFF2-40B4-BE49-F238E27FC236}">
                <a16:creationId xmlns:a16="http://schemas.microsoft.com/office/drawing/2014/main" id="{75726E22-B201-45D2-B3CB-12916518DA80}"/>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12</a:t>
            </a:r>
          </a:p>
        </p:txBody>
      </p:sp>
      <p:graphicFrame>
        <p:nvGraphicFramePr>
          <p:cNvPr id="8" name="Tabla 7"/>
          <p:cNvGraphicFramePr/>
          <p:nvPr/>
        </p:nvGraphicFramePr>
        <p:xfrm>
          <a:off x="609600" y="1304925"/>
          <a:ext cx="10972800" cy="4667250"/>
        </p:xfrm>
        <a:graphic>
          <a:graphicData uri="http://schemas.openxmlformats.org/drawingml/2006/table">
            <a:tbl>
              <a:tblPr/>
              <a:tblGrid>
                <a:gridCol w="5810250">
                  <a:extLst>
                    <a:ext uri="{9D8B030D-6E8A-4147-A177-3AD203B41FA5}">
                      <a16:colId xmlns:a16="http://schemas.microsoft.com/office/drawing/2014/main" val="20000"/>
                    </a:ext>
                  </a:extLst>
                </a:gridCol>
                <a:gridCol w="2581275">
                  <a:extLst>
                    <a:ext uri="{9D8B030D-6E8A-4147-A177-3AD203B41FA5}">
                      <a16:colId xmlns:a16="http://schemas.microsoft.com/office/drawing/2014/main" val="20001"/>
                    </a:ext>
                  </a:extLst>
                </a:gridCol>
                <a:gridCol w="2581275">
                  <a:extLst>
                    <a:ext uri="{9D8B030D-6E8A-4147-A177-3AD203B41FA5}">
                      <a16:colId xmlns:a16="http://schemas.microsoft.com/office/drawing/2014/main" val="20002"/>
                    </a:ext>
                  </a:extLst>
                </a:gridCol>
              </a:tblGrid>
              <a:tr h="466725">
                <a:tc>
                  <a:txBody>
                    <a:bodyPr/>
                    <a:lstStyle/>
                    <a:p>
                      <a:r>
                        <a:rPr sz="1650" b="0">
                          <a:solidFill>
                            <a:srgbClr val="172F42"/>
                          </a:solidFill>
                          <a:latin typeface="Arial"/>
                          <a:ea typeface="Arial"/>
                          <a:cs typeface="Arial"/>
                        </a:rPr>
                        <a:t>Variable</a:t>
                      </a:r>
                    </a:p>
                  </a:txBody>
                  <a:tcPr marL="95250" marR="95250" marT="57150" marB="57150">
                    <a:solidFill>
                      <a:srgbClr val="EDF3F7"/>
                    </a:solidFill>
                  </a:tcPr>
                </a:tc>
                <a:tc>
                  <a:txBody>
                    <a:bodyPr/>
                    <a:lstStyle/>
                    <a:p>
                      <a:r>
                        <a:rPr sz="1650" b="0">
                          <a:solidFill>
                            <a:srgbClr val="172F42"/>
                          </a:solidFill>
                          <a:latin typeface="Arial"/>
                          <a:ea typeface="Arial"/>
                          <a:cs typeface="Arial"/>
                        </a:rPr>
                        <a:t>Coeficiente</a:t>
                      </a:r>
                    </a:p>
                  </a:txBody>
                  <a:tcPr marL="95250" marR="95250" marT="57150" marB="57150">
                    <a:solidFill>
                      <a:srgbClr val="EDF3F7"/>
                    </a:solidFill>
                  </a:tcPr>
                </a:tc>
                <a:tc>
                  <a:txBody>
                    <a:bodyPr/>
                    <a:lstStyle/>
                    <a:p>
                      <a:r>
                        <a:rPr sz="1650" b="0">
                          <a:solidFill>
                            <a:srgbClr val="172F42"/>
                          </a:solidFill>
                          <a:latin typeface="Arial"/>
                          <a:ea typeface="Arial"/>
                          <a:cs typeface="Arial"/>
                        </a:rPr>
                        <a:t>EE HC1</a:t>
                      </a:r>
                    </a:p>
                  </a:txBody>
                  <a:tcPr marL="95250" marR="95250" marT="57150" marB="57150">
                    <a:solidFill>
                      <a:srgbClr val="EDF3F7"/>
                    </a:solidFill>
                  </a:tcPr>
                </a:tc>
                <a:extLst>
                  <a:ext uri="{0D108BD9-81ED-4DB2-BD59-A6C34878D82A}">
                    <a16:rowId xmlns:a16="http://schemas.microsoft.com/office/drawing/2014/main" val="10000"/>
                  </a:ext>
                </a:extLst>
              </a:tr>
              <a:tr h="466725">
                <a:tc>
                  <a:txBody>
                    <a:bodyPr/>
                    <a:lstStyle/>
                    <a:p>
                      <a:r>
                        <a:rPr sz="1650" b="0">
                          <a:solidFill>
                            <a:srgbClr val="172F42"/>
                          </a:solidFill>
                          <a:latin typeface="Arial"/>
                          <a:ea typeface="Arial"/>
                          <a:cs typeface="Arial"/>
                        </a:rPr>
                        <a:t>const</a:t>
                      </a:r>
                    </a:p>
                  </a:txBody>
                  <a:tcPr marL="95250" marR="95250" marT="57150" marB="57150">
                    <a:solidFill>
                      <a:srgbClr val="FFFFFF"/>
                    </a:solidFill>
                  </a:tcPr>
                </a:tc>
                <a:tc>
                  <a:txBody>
                    <a:bodyPr/>
                    <a:lstStyle/>
                    <a:p>
                      <a:r>
                        <a:rPr sz="1650" b="0">
                          <a:solidFill>
                            <a:srgbClr val="172F42"/>
                          </a:solidFill>
                          <a:latin typeface="Arial"/>
                          <a:ea typeface="Arial"/>
                          <a:cs typeface="Arial"/>
                        </a:rPr>
                        <a:t>11,96236</a:t>
                      </a:r>
                    </a:p>
                  </a:txBody>
                  <a:tcPr marL="95250" marR="95250" marT="57150" marB="57150">
                    <a:solidFill>
                      <a:srgbClr val="FFFFFF"/>
                    </a:solidFill>
                  </a:tcPr>
                </a:tc>
                <a:tc>
                  <a:txBody>
                    <a:bodyPr/>
                    <a:lstStyle/>
                    <a:p>
                      <a:r>
                        <a:rPr sz="1650" b="0">
                          <a:solidFill>
                            <a:srgbClr val="172F42"/>
                          </a:solidFill>
                          <a:latin typeface="Arial"/>
                          <a:ea typeface="Arial"/>
                          <a:cs typeface="Arial"/>
                        </a:rPr>
                        <a:t>0,06948</a:t>
                      </a:r>
                    </a:p>
                  </a:txBody>
                  <a:tcPr marL="95250" marR="95250" marT="57150" marB="57150">
                    <a:solidFill>
                      <a:srgbClr val="FFFFFF"/>
                    </a:solidFill>
                  </a:tcPr>
                </a:tc>
                <a:extLst>
                  <a:ext uri="{0D108BD9-81ED-4DB2-BD59-A6C34878D82A}">
                    <a16:rowId xmlns:a16="http://schemas.microsoft.com/office/drawing/2014/main" val="10001"/>
                  </a:ext>
                </a:extLst>
              </a:tr>
              <a:tr h="466725">
                <a:tc>
                  <a:txBody>
                    <a:bodyPr/>
                    <a:lstStyle/>
                    <a:p>
                      <a:r>
                        <a:rPr sz="1650" b="0">
                          <a:solidFill>
                            <a:srgbClr val="172F42"/>
                          </a:solidFill>
                          <a:latin typeface="Arial"/>
                          <a:ea typeface="Arial"/>
                          <a:cs typeface="Arial"/>
                        </a:rPr>
                        <a:t>age</a:t>
                      </a:r>
                    </a:p>
                  </a:txBody>
                  <a:tcPr marL="95250" marR="95250" marT="57150" marB="57150">
                    <a:solidFill>
                      <a:srgbClr val="FFFFFF"/>
                    </a:solidFill>
                  </a:tcPr>
                </a:tc>
                <a:tc>
                  <a:txBody>
                    <a:bodyPr/>
                    <a:lstStyle/>
                    <a:p>
                      <a:r>
                        <a:rPr sz="1650" b="0">
                          <a:solidFill>
                            <a:srgbClr val="172F42"/>
                          </a:solidFill>
                          <a:latin typeface="Arial"/>
                          <a:ea typeface="Arial"/>
                          <a:cs typeface="Arial"/>
                        </a:rPr>
                        <a:t>0,07337</a:t>
                      </a:r>
                    </a:p>
                  </a:txBody>
                  <a:tcPr marL="95250" marR="95250" marT="57150" marB="57150">
                    <a:solidFill>
                      <a:srgbClr val="FFFFFF"/>
                    </a:solidFill>
                  </a:tcPr>
                </a:tc>
                <a:tc>
                  <a:txBody>
                    <a:bodyPr/>
                    <a:lstStyle/>
                    <a:p>
                      <a:r>
                        <a:rPr sz="1650" b="0">
                          <a:solidFill>
                            <a:srgbClr val="172F42"/>
                          </a:solidFill>
                          <a:latin typeface="Arial"/>
                          <a:ea typeface="Arial"/>
                          <a:cs typeface="Arial"/>
                        </a:rPr>
                        <a:t>0,00355</a:t>
                      </a:r>
                    </a:p>
                  </a:txBody>
                  <a:tcPr marL="95250" marR="95250" marT="57150" marB="57150">
                    <a:solidFill>
                      <a:srgbClr val="FFFFFF"/>
                    </a:solidFill>
                  </a:tcPr>
                </a:tc>
                <a:extLst>
                  <a:ext uri="{0D108BD9-81ED-4DB2-BD59-A6C34878D82A}">
                    <a16:rowId xmlns:a16="http://schemas.microsoft.com/office/drawing/2014/main" val="10002"/>
                  </a:ext>
                </a:extLst>
              </a:tr>
              <a:tr h="466725">
                <a:tc>
                  <a:txBody>
                    <a:bodyPr/>
                    <a:lstStyle/>
                    <a:p>
                      <a:r>
                        <a:rPr sz="1650" b="0">
                          <a:solidFill>
                            <a:srgbClr val="172F42"/>
                          </a:solidFill>
                          <a:latin typeface="Arial"/>
                          <a:ea typeface="Arial"/>
                          <a:cs typeface="Arial"/>
                        </a:rPr>
                        <a:t>age^2</a:t>
                      </a:r>
                    </a:p>
                  </a:txBody>
                  <a:tcPr marL="95250" marR="95250" marT="57150" marB="57150">
                    <a:solidFill>
                      <a:srgbClr val="FFFFFF"/>
                    </a:solidFill>
                  </a:tcPr>
                </a:tc>
                <a:tc>
                  <a:txBody>
                    <a:bodyPr/>
                    <a:lstStyle/>
                    <a:p>
                      <a:r>
                        <a:rPr sz="1650" b="0">
                          <a:solidFill>
                            <a:srgbClr val="172F42"/>
                          </a:solidFill>
                          <a:latin typeface="Arial"/>
                          <a:ea typeface="Arial"/>
                          <a:cs typeface="Arial"/>
                        </a:rPr>
                        <a:t>-0,00084</a:t>
                      </a:r>
                    </a:p>
                  </a:txBody>
                  <a:tcPr marL="95250" marR="95250" marT="57150" marB="57150">
                    <a:solidFill>
                      <a:srgbClr val="FFFFFF"/>
                    </a:solidFill>
                  </a:tcPr>
                </a:tc>
                <a:tc>
                  <a:txBody>
                    <a:bodyPr/>
                    <a:lstStyle/>
                    <a:p>
                      <a:r>
                        <a:rPr sz="1650" b="0">
                          <a:solidFill>
                            <a:srgbClr val="172F42"/>
                          </a:solidFill>
                          <a:latin typeface="Arial"/>
                          <a:ea typeface="Arial"/>
                          <a:cs typeface="Arial"/>
                        </a:rPr>
                        <a:t>0,00004</a:t>
                      </a:r>
                    </a:p>
                  </a:txBody>
                  <a:tcPr marL="95250" marR="95250" marT="57150" marB="57150">
                    <a:solidFill>
                      <a:srgbClr val="FFFFFF"/>
                    </a:solidFill>
                  </a:tcPr>
                </a:tc>
                <a:extLst>
                  <a:ext uri="{0D108BD9-81ED-4DB2-BD59-A6C34878D82A}">
                    <a16:rowId xmlns:a16="http://schemas.microsoft.com/office/drawing/2014/main" val="10003"/>
                  </a:ext>
                </a:extLst>
              </a:tr>
              <a:tr h="466725">
                <a:tc>
                  <a:txBody>
                    <a:bodyPr/>
                    <a:lstStyle/>
                    <a:p>
                      <a:r>
                        <a:rPr sz="1650" b="0">
                          <a:solidFill>
                            <a:srgbClr val="172F42"/>
                          </a:solidFill>
                          <a:latin typeface="Arial"/>
                          <a:ea typeface="Arial"/>
                          <a:cs typeface="Arial"/>
                        </a:rPr>
                        <a:t>totalHoursWorked</a:t>
                      </a:r>
                    </a:p>
                  </a:txBody>
                  <a:tcPr marL="95250" marR="95250" marT="57150" marB="57150">
                    <a:solidFill>
                      <a:srgbClr val="FFFFFF"/>
                    </a:solidFill>
                  </a:tcPr>
                </a:tc>
                <a:tc>
                  <a:txBody>
                    <a:bodyPr/>
                    <a:lstStyle/>
                    <a:p>
                      <a:r>
                        <a:rPr sz="1650" b="0">
                          <a:solidFill>
                            <a:srgbClr val="172F42"/>
                          </a:solidFill>
                          <a:latin typeface="Arial"/>
                          <a:ea typeface="Arial"/>
                          <a:cs typeface="Arial"/>
                        </a:rPr>
                        <a:t>0,01274</a:t>
                      </a:r>
                    </a:p>
                  </a:txBody>
                  <a:tcPr marL="95250" marR="95250" marT="57150" marB="57150">
                    <a:solidFill>
                      <a:srgbClr val="FFFFFF"/>
                    </a:solidFill>
                  </a:tcPr>
                </a:tc>
                <a:tc>
                  <a:txBody>
                    <a:bodyPr/>
                    <a:lstStyle/>
                    <a:p>
                      <a:r>
                        <a:rPr sz="1650" b="0">
                          <a:solidFill>
                            <a:srgbClr val="172F42"/>
                          </a:solidFill>
                          <a:latin typeface="Arial"/>
                          <a:ea typeface="Arial"/>
                          <a:cs typeface="Arial"/>
                        </a:rPr>
                        <a:t>0,00057</a:t>
                      </a:r>
                    </a:p>
                  </a:txBody>
                  <a:tcPr marL="95250" marR="95250" marT="57150" marB="57150">
                    <a:solidFill>
                      <a:srgbClr val="FFFFFF"/>
                    </a:solidFill>
                  </a:tcPr>
                </a:tc>
                <a:extLst>
                  <a:ext uri="{0D108BD9-81ED-4DB2-BD59-A6C34878D82A}">
                    <a16:rowId xmlns:a16="http://schemas.microsoft.com/office/drawing/2014/main" val="10004"/>
                  </a:ext>
                </a:extLst>
              </a:tr>
              <a:tr h="466725">
                <a:tc>
                  <a:txBody>
                    <a:bodyPr/>
                    <a:lstStyle/>
                    <a:p>
                      <a:r>
                        <a:rPr sz="1650" b="0">
                          <a:solidFill>
                            <a:srgbClr val="172F42"/>
                          </a:solidFill>
                          <a:latin typeface="Arial"/>
                          <a:ea typeface="Arial"/>
                          <a:cs typeface="Arial"/>
                        </a:rPr>
                        <a:t>relab[Cuenta propia]</a:t>
                      </a:r>
                    </a:p>
                  </a:txBody>
                  <a:tcPr marL="95250" marR="95250" marT="57150" marB="57150">
                    <a:solidFill>
                      <a:srgbClr val="FFFFFF"/>
                    </a:solidFill>
                  </a:tcPr>
                </a:tc>
                <a:tc>
                  <a:txBody>
                    <a:bodyPr/>
                    <a:lstStyle/>
                    <a:p>
                      <a:r>
                        <a:rPr sz="1650" b="0">
                          <a:solidFill>
                            <a:srgbClr val="172F42"/>
                          </a:solidFill>
                          <a:latin typeface="Arial"/>
                          <a:ea typeface="Arial"/>
                          <a:cs typeface="Arial"/>
                        </a:rPr>
                        <a:t>-0,49223</a:t>
                      </a:r>
                    </a:p>
                  </a:txBody>
                  <a:tcPr marL="95250" marR="95250" marT="57150" marB="57150">
                    <a:solidFill>
                      <a:srgbClr val="FFFFFF"/>
                    </a:solidFill>
                  </a:tcPr>
                </a:tc>
                <a:tc>
                  <a:txBody>
                    <a:bodyPr/>
                    <a:lstStyle/>
                    <a:p>
                      <a:r>
                        <a:rPr sz="1650" b="0">
                          <a:solidFill>
                            <a:srgbClr val="172F42"/>
                          </a:solidFill>
                          <a:latin typeface="Arial"/>
                          <a:ea typeface="Arial"/>
                          <a:cs typeface="Arial"/>
                        </a:rPr>
                        <a:t>0,01751</a:t>
                      </a:r>
                    </a:p>
                  </a:txBody>
                  <a:tcPr marL="95250" marR="95250" marT="57150" marB="57150">
                    <a:solidFill>
                      <a:srgbClr val="FFFFFF"/>
                    </a:solidFill>
                  </a:tcPr>
                </a:tc>
                <a:extLst>
                  <a:ext uri="{0D108BD9-81ED-4DB2-BD59-A6C34878D82A}">
                    <a16:rowId xmlns:a16="http://schemas.microsoft.com/office/drawing/2014/main" val="10005"/>
                  </a:ext>
                </a:extLst>
              </a:tr>
              <a:tr h="466725">
                <a:tc>
                  <a:txBody>
                    <a:bodyPr/>
                    <a:lstStyle/>
                    <a:p>
                      <a:r>
                        <a:rPr sz="1650" b="0">
                          <a:solidFill>
                            <a:srgbClr val="172F42"/>
                          </a:solidFill>
                          <a:latin typeface="Arial"/>
                          <a:ea typeface="Arial"/>
                          <a:cs typeface="Arial"/>
                        </a:rPr>
                        <a:t>relab[Empleado del gobierno]</a:t>
                      </a:r>
                    </a:p>
                  </a:txBody>
                  <a:tcPr marL="95250" marR="95250" marT="57150" marB="57150">
                    <a:solidFill>
                      <a:srgbClr val="FFFFFF"/>
                    </a:solidFill>
                  </a:tcPr>
                </a:tc>
                <a:tc>
                  <a:txBody>
                    <a:bodyPr/>
                    <a:lstStyle/>
                    <a:p>
                      <a:r>
                        <a:rPr sz="1650" b="0" dirty="0">
                          <a:solidFill>
                            <a:srgbClr val="172F42"/>
                          </a:solidFill>
                          <a:latin typeface="Arial"/>
                          <a:ea typeface="Arial"/>
                          <a:cs typeface="Arial"/>
                        </a:rPr>
                        <a:t>0,73983</a:t>
                      </a:r>
                    </a:p>
                  </a:txBody>
                  <a:tcPr marL="95250" marR="95250" marT="57150" marB="57150">
                    <a:solidFill>
                      <a:srgbClr val="FFFFFF"/>
                    </a:solidFill>
                  </a:tcPr>
                </a:tc>
                <a:tc>
                  <a:txBody>
                    <a:bodyPr/>
                    <a:lstStyle/>
                    <a:p>
                      <a:r>
                        <a:rPr sz="1650" b="0">
                          <a:solidFill>
                            <a:srgbClr val="172F42"/>
                          </a:solidFill>
                          <a:latin typeface="Arial"/>
                          <a:ea typeface="Arial"/>
                          <a:cs typeface="Arial"/>
                        </a:rPr>
                        <a:t>0,02818</a:t>
                      </a:r>
                    </a:p>
                  </a:txBody>
                  <a:tcPr marL="95250" marR="95250" marT="57150" marB="57150">
                    <a:solidFill>
                      <a:srgbClr val="FFFFFF"/>
                    </a:solidFill>
                  </a:tcPr>
                </a:tc>
                <a:extLst>
                  <a:ext uri="{0D108BD9-81ED-4DB2-BD59-A6C34878D82A}">
                    <a16:rowId xmlns:a16="http://schemas.microsoft.com/office/drawing/2014/main" val="10006"/>
                  </a:ext>
                </a:extLst>
              </a:tr>
              <a:tr h="466725">
                <a:tc>
                  <a:txBody>
                    <a:bodyPr/>
                    <a:lstStyle/>
                    <a:p>
                      <a:r>
                        <a:rPr sz="1650" b="0">
                          <a:solidFill>
                            <a:srgbClr val="172F42"/>
                          </a:solidFill>
                          <a:latin typeface="Arial"/>
                          <a:ea typeface="Arial"/>
                          <a:cs typeface="Arial"/>
                        </a:rPr>
                        <a:t>relab[Empleado domestico]</a:t>
                      </a:r>
                    </a:p>
                  </a:txBody>
                  <a:tcPr marL="95250" marR="95250" marT="57150" marB="57150">
                    <a:solidFill>
                      <a:srgbClr val="FFFFFF"/>
                    </a:solidFill>
                  </a:tcPr>
                </a:tc>
                <a:tc>
                  <a:txBody>
                    <a:bodyPr/>
                    <a:lstStyle/>
                    <a:p>
                      <a:r>
                        <a:rPr sz="1650" b="0">
                          <a:solidFill>
                            <a:srgbClr val="172F42"/>
                          </a:solidFill>
                          <a:latin typeface="Arial"/>
                          <a:ea typeface="Arial"/>
                          <a:cs typeface="Arial"/>
                        </a:rPr>
                        <a:t>-0,69721</a:t>
                      </a:r>
                    </a:p>
                  </a:txBody>
                  <a:tcPr marL="95250" marR="95250" marT="57150" marB="57150">
                    <a:solidFill>
                      <a:srgbClr val="FFFFFF"/>
                    </a:solidFill>
                  </a:tcPr>
                </a:tc>
                <a:tc>
                  <a:txBody>
                    <a:bodyPr/>
                    <a:lstStyle/>
                    <a:p>
                      <a:r>
                        <a:rPr sz="1650" b="0">
                          <a:solidFill>
                            <a:srgbClr val="172F42"/>
                          </a:solidFill>
                          <a:latin typeface="Arial"/>
                          <a:ea typeface="Arial"/>
                          <a:cs typeface="Arial"/>
                        </a:rPr>
                        <a:t>0,02912</a:t>
                      </a:r>
                    </a:p>
                  </a:txBody>
                  <a:tcPr marL="95250" marR="95250" marT="57150" marB="57150">
                    <a:solidFill>
                      <a:srgbClr val="FFFFFF"/>
                    </a:solidFill>
                  </a:tcPr>
                </a:tc>
                <a:extLst>
                  <a:ext uri="{0D108BD9-81ED-4DB2-BD59-A6C34878D82A}">
                    <a16:rowId xmlns:a16="http://schemas.microsoft.com/office/drawing/2014/main" val="10007"/>
                  </a:ext>
                </a:extLst>
              </a:tr>
              <a:tr h="466725">
                <a:tc>
                  <a:txBody>
                    <a:bodyPr/>
                    <a:lstStyle/>
                    <a:p>
                      <a:r>
                        <a:rPr sz="1650" b="0">
                          <a:solidFill>
                            <a:srgbClr val="172F42"/>
                          </a:solidFill>
                          <a:latin typeface="Arial"/>
                          <a:ea typeface="Arial"/>
                          <a:cs typeface="Arial"/>
                        </a:rPr>
                        <a:t>relab[Otro]</a:t>
                      </a:r>
                    </a:p>
                  </a:txBody>
                  <a:tcPr marL="95250" marR="95250" marT="57150" marB="57150">
                    <a:solidFill>
                      <a:srgbClr val="FFFFFF"/>
                    </a:solidFill>
                  </a:tcPr>
                </a:tc>
                <a:tc>
                  <a:txBody>
                    <a:bodyPr/>
                    <a:lstStyle/>
                    <a:p>
                      <a:r>
                        <a:rPr sz="1650" b="0">
                          <a:solidFill>
                            <a:srgbClr val="172F42"/>
                          </a:solidFill>
                          <a:latin typeface="Arial"/>
                          <a:ea typeface="Arial"/>
                          <a:cs typeface="Arial"/>
                        </a:rPr>
                        <a:t>-1,07049</a:t>
                      </a:r>
                    </a:p>
                  </a:txBody>
                  <a:tcPr marL="95250" marR="95250" marT="57150" marB="57150">
                    <a:solidFill>
                      <a:srgbClr val="FFFFFF"/>
                    </a:solidFill>
                  </a:tcPr>
                </a:tc>
                <a:tc>
                  <a:txBody>
                    <a:bodyPr/>
                    <a:lstStyle/>
                    <a:p>
                      <a:r>
                        <a:rPr sz="1650" b="0">
                          <a:solidFill>
                            <a:srgbClr val="172F42"/>
                          </a:solidFill>
                          <a:latin typeface="Arial"/>
                          <a:ea typeface="Arial"/>
                          <a:cs typeface="Arial"/>
                        </a:rPr>
                        <a:t>0,22753</a:t>
                      </a:r>
                    </a:p>
                  </a:txBody>
                  <a:tcPr marL="95250" marR="95250" marT="57150" marB="57150">
                    <a:solidFill>
                      <a:srgbClr val="FFFFFF"/>
                    </a:solidFill>
                  </a:tcPr>
                </a:tc>
                <a:extLst>
                  <a:ext uri="{0D108BD9-81ED-4DB2-BD59-A6C34878D82A}">
                    <a16:rowId xmlns:a16="http://schemas.microsoft.com/office/drawing/2014/main" val="10008"/>
                  </a:ext>
                </a:extLst>
              </a:tr>
              <a:tr h="466725">
                <a:tc>
                  <a:txBody>
                    <a:bodyPr/>
                    <a:lstStyle/>
                    <a:p>
                      <a:r>
                        <a:rPr sz="1650" b="0">
                          <a:solidFill>
                            <a:srgbClr val="172F42"/>
                          </a:solidFill>
                          <a:latin typeface="Arial"/>
                          <a:ea typeface="Arial"/>
                          <a:cs typeface="Arial"/>
                        </a:rPr>
                        <a:t>relab[Patron/empleador]</a:t>
                      </a:r>
                    </a:p>
                  </a:txBody>
                  <a:tcPr marL="95250" marR="95250" marT="57150" marB="57150">
                    <a:solidFill>
                      <a:srgbClr val="FFFFFF"/>
                    </a:solidFill>
                  </a:tcPr>
                </a:tc>
                <a:tc>
                  <a:txBody>
                    <a:bodyPr/>
                    <a:lstStyle/>
                    <a:p>
                      <a:r>
                        <a:rPr sz="1650" b="0">
                          <a:solidFill>
                            <a:srgbClr val="172F42"/>
                          </a:solidFill>
                          <a:latin typeface="Arial"/>
                          <a:ea typeface="Arial"/>
                          <a:cs typeface="Arial"/>
                        </a:rPr>
                        <a:t>0,21829</a:t>
                      </a:r>
                    </a:p>
                  </a:txBody>
                  <a:tcPr marL="95250" marR="95250" marT="57150" marB="57150">
                    <a:solidFill>
                      <a:srgbClr val="FFFFFF"/>
                    </a:solidFill>
                  </a:tcPr>
                </a:tc>
                <a:tc>
                  <a:txBody>
                    <a:bodyPr/>
                    <a:lstStyle/>
                    <a:p>
                      <a:r>
                        <a:rPr sz="1650" b="0" dirty="0">
                          <a:solidFill>
                            <a:srgbClr val="172F42"/>
                          </a:solidFill>
                          <a:latin typeface="Arial"/>
                          <a:ea typeface="Arial"/>
                          <a:cs typeface="Arial"/>
                        </a:rPr>
                        <a:t>0,04692</a:t>
                      </a:r>
                    </a:p>
                  </a:txBody>
                  <a:tcPr marL="95250" marR="95250" marT="57150" marB="57150">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401869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0D47D0BC-C5FF-48C5-BE0B-9EDFEEB65E1C}"/>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Anexo: fuentes y equipo</a:t>
            </a:r>
          </a:p>
        </p:txBody>
      </p:sp>
      <p:sp>
        <p:nvSpPr>
          <p:cNvPr id="2" name="Rectángulo 1">
            <a:extLst>
              <a:ext uri="{FF2B5EF4-FFF2-40B4-BE49-F238E27FC236}">
                <a16:creationId xmlns:a16="http://schemas.microsoft.com/office/drawing/2014/main" id="{090328E8-10A6-43D4-AA3B-C5CF1CE0D002}"/>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dirty="0" err="1">
                <a:solidFill>
                  <a:srgbClr val="526471"/>
                </a:solidFill>
                <a:latin typeface="Arial"/>
                <a:ea typeface="Arial"/>
                <a:cs typeface="Arial"/>
              </a:rPr>
              <a:t>Perfil</a:t>
            </a:r>
            <a:r>
              <a:rPr sz="1125" b="0" dirty="0">
                <a:solidFill>
                  <a:srgbClr val="526471"/>
                </a:solidFill>
                <a:latin typeface="Arial"/>
                <a:ea typeface="Arial"/>
                <a:cs typeface="Arial"/>
              </a:rPr>
              <a:t> </a:t>
            </a:r>
            <a:r>
              <a:rPr sz="1125" b="0" dirty="0" err="1">
                <a:solidFill>
                  <a:srgbClr val="526471"/>
                </a:solidFill>
                <a:latin typeface="Arial"/>
                <a:ea typeface="Arial"/>
                <a:cs typeface="Arial"/>
              </a:rPr>
              <a:t>edad-ingreso</a:t>
            </a:r>
            <a:r>
              <a:rPr sz="1125" b="0" dirty="0">
                <a:solidFill>
                  <a:srgbClr val="526471"/>
                </a:solidFill>
                <a:latin typeface="Arial"/>
                <a:ea typeface="Arial"/>
                <a:cs typeface="Arial"/>
              </a:rPr>
              <a:t> </a:t>
            </a:r>
            <a:r>
              <a:rPr sz="1125" b="0" dirty="0" err="1">
                <a:solidFill>
                  <a:srgbClr val="526471"/>
                </a:solidFill>
                <a:latin typeface="Arial"/>
                <a:ea typeface="Arial"/>
                <a:cs typeface="Arial"/>
              </a:rPr>
              <a:t>en</a:t>
            </a:r>
            <a:r>
              <a:rPr sz="1125" b="0" dirty="0">
                <a:solidFill>
                  <a:srgbClr val="526471"/>
                </a:solidFill>
                <a:latin typeface="Arial"/>
                <a:ea typeface="Arial"/>
                <a:cs typeface="Arial"/>
              </a:rPr>
              <a:t> Bogotá. Equipo 0</a:t>
            </a:r>
            <a:r>
              <a:rPr lang="es-CO" sz="1125" b="0" dirty="0">
                <a:solidFill>
                  <a:srgbClr val="526471"/>
                </a:solidFill>
                <a:latin typeface="Arial"/>
                <a:ea typeface="Arial"/>
                <a:cs typeface="Arial"/>
              </a:rPr>
              <a:t>1</a:t>
            </a:r>
            <a:r>
              <a:rPr sz="1125" b="0" dirty="0">
                <a:solidFill>
                  <a:srgbClr val="526471"/>
                </a:solidFill>
                <a:latin typeface="Arial"/>
                <a:ea typeface="Arial"/>
                <a:cs typeface="Arial"/>
              </a:rPr>
              <a:t>.</a:t>
            </a:r>
          </a:p>
        </p:txBody>
      </p:sp>
      <p:sp>
        <p:nvSpPr>
          <p:cNvPr id="3" name="Rectángulo 2">
            <a:extLst>
              <a:ext uri="{FF2B5EF4-FFF2-40B4-BE49-F238E27FC236}">
                <a16:creationId xmlns:a16="http://schemas.microsoft.com/office/drawing/2014/main" id="{7779D603-E828-41CF-8170-8348F226CECC}"/>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13</a:t>
            </a:r>
          </a:p>
        </p:txBody>
      </p:sp>
      <p:sp>
        <p:nvSpPr>
          <p:cNvPr id="4" name="Rectángulo 3">
            <a:extLst>
              <a:ext uri="{FF2B5EF4-FFF2-40B4-BE49-F238E27FC236}">
                <a16:creationId xmlns:a16="http://schemas.microsoft.com/office/drawing/2014/main" id="{130697B5-B20A-4612-A3DF-64F4747E379F}"/>
              </a:ext>
            </a:extLst>
          </p:cNvPr>
          <p:cNvSpPr>
            <a:spLocks noGrp="1"/>
          </p:cNvSpPr>
          <p:nvPr/>
        </p:nvSpPr>
        <p:spPr>
          <a:xfrm>
            <a:off x="685800" y="1428750"/>
            <a:ext cx="10763250" cy="1285875"/>
          </a:xfrm>
          <a:prstGeom prst="rect">
            <a:avLst/>
          </a:prstGeom>
          <a:noFill/>
          <a:ln w="0">
            <a:noFill/>
          </a:ln>
        </p:spPr>
        <p:txBody>
          <a:bodyPr>
            <a:noAutofit/>
          </a:bodyPr>
          <a:lstStyle/>
          <a:p>
            <a:pPr>
              <a:defRPr sz="2025" b="0">
                <a:solidFill>
                  <a:srgbClr val="172F42"/>
                </a:solidFill>
                <a:latin typeface="Arial"/>
                <a:ea typeface="Arial"/>
                <a:cs typeface="Arial"/>
              </a:defRPr>
            </a:pPr>
            <a:r>
              <a:rPr sz="2025" b="0" dirty="0">
                <a:solidFill>
                  <a:srgbClr val="172F42"/>
                </a:solidFill>
                <a:latin typeface="Arial"/>
                <a:ea typeface="Arial"/>
                <a:cs typeface="Arial"/>
              </a:rPr>
              <a:t>GEIH 2018, Bogotá. </a:t>
            </a:r>
            <a:r>
              <a:rPr sz="2025" b="0" dirty="0" err="1">
                <a:solidFill>
                  <a:srgbClr val="172F42"/>
                </a:solidFill>
                <a:latin typeface="Arial"/>
                <a:ea typeface="Arial"/>
                <a:cs typeface="Arial"/>
              </a:rPr>
              <a:t>Microdatos</a:t>
            </a:r>
            <a:r>
              <a:rPr sz="2025" b="0" dirty="0">
                <a:solidFill>
                  <a:srgbClr val="172F42"/>
                </a:solidFill>
                <a:latin typeface="Arial"/>
                <a:ea typeface="Arial"/>
                <a:cs typeface="Arial"/>
              </a:rPr>
              <a:t> y </a:t>
            </a:r>
            <a:r>
              <a:rPr sz="2025" b="0" dirty="0" err="1">
                <a:solidFill>
                  <a:srgbClr val="172F42"/>
                </a:solidFill>
                <a:latin typeface="Arial"/>
                <a:ea typeface="Arial"/>
                <a:cs typeface="Arial"/>
              </a:rPr>
              <a:t>materiales</a:t>
            </a:r>
            <a:r>
              <a:rPr sz="2025" b="0" dirty="0">
                <a:solidFill>
                  <a:srgbClr val="172F42"/>
                </a:solidFill>
                <a:latin typeface="Arial"/>
                <a:ea typeface="Arial"/>
                <a:cs typeface="Arial"/>
              </a:rPr>
              <a:t> del </a:t>
            </a:r>
            <a:r>
              <a:rPr sz="2025" b="0" dirty="0" err="1">
                <a:solidFill>
                  <a:srgbClr val="172F42"/>
                </a:solidFill>
                <a:latin typeface="Arial"/>
                <a:ea typeface="Arial"/>
                <a:cs typeface="Arial"/>
              </a:rPr>
              <a:t>curso</a:t>
            </a:r>
            <a:r>
              <a:rPr sz="2025" b="0" dirty="0">
                <a:solidFill>
                  <a:srgbClr val="172F42"/>
                </a:solidFill>
                <a:latin typeface="Arial"/>
                <a:ea typeface="Arial"/>
                <a:cs typeface="Arial"/>
              </a:rPr>
              <a:t>.</a:t>
            </a:r>
          </a:p>
          <a:p>
            <a:pPr>
              <a:defRPr sz="2025" b="0">
                <a:solidFill>
                  <a:srgbClr val="172F42"/>
                </a:solidFill>
                <a:latin typeface="Arial"/>
                <a:ea typeface="Arial"/>
                <a:cs typeface="Arial"/>
              </a:defRPr>
            </a:pPr>
            <a:r>
              <a:rPr sz="2025" b="0" dirty="0" err="1">
                <a:solidFill>
                  <a:srgbClr val="172F42"/>
                </a:solidFill>
                <a:latin typeface="Arial"/>
                <a:ea typeface="Arial"/>
                <a:cs typeface="Arial"/>
              </a:rPr>
              <a:t>Repositorio</a:t>
            </a:r>
            <a:r>
              <a:rPr sz="2025" b="0" dirty="0">
                <a:solidFill>
                  <a:srgbClr val="172F42"/>
                </a:solidFill>
                <a:latin typeface="Arial"/>
                <a:ea typeface="Arial"/>
                <a:cs typeface="Arial"/>
              </a:rPr>
              <a:t> </a:t>
            </a:r>
            <a:r>
              <a:rPr sz="2025" b="0" dirty="0" err="1">
                <a:solidFill>
                  <a:srgbClr val="172F42"/>
                </a:solidFill>
                <a:latin typeface="Arial"/>
                <a:ea typeface="Arial"/>
                <a:cs typeface="Arial"/>
              </a:rPr>
              <a:t>público</a:t>
            </a:r>
            <a:r>
              <a:rPr sz="2025" b="0" dirty="0">
                <a:solidFill>
                  <a:srgbClr val="172F42"/>
                </a:solidFill>
                <a:latin typeface="Arial"/>
                <a:ea typeface="Arial"/>
                <a:cs typeface="Arial"/>
              </a:rPr>
              <a:t>: </a:t>
            </a:r>
            <a:r>
              <a:rPr lang="es-CO" sz="2025" dirty="0">
                <a:solidFill>
                  <a:srgbClr val="172F42"/>
                </a:solidFill>
                <a:latin typeface="Arial"/>
                <a:ea typeface="Arial"/>
                <a:cs typeface="Arial"/>
              </a:rPr>
              <a:t>ethramos74/BDML-PS01</a:t>
            </a:r>
          </a:p>
          <a:p>
            <a:pPr>
              <a:defRPr sz="2025" b="0">
                <a:solidFill>
                  <a:srgbClr val="172F42"/>
                </a:solidFill>
                <a:latin typeface="Arial"/>
                <a:ea typeface="Arial"/>
                <a:cs typeface="Arial"/>
              </a:defRPr>
            </a:pPr>
            <a:r>
              <a:rPr sz="2025" b="0" dirty="0" err="1">
                <a:solidFill>
                  <a:srgbClr val="172F42"/>
                </a:solidFill>
                <a:latin typeface="Arial"/>
                <a:ea typeface="Arial"/>
                <a:cs typeface="Arial"/>
              </a:rPr>
              <a:t>Cifras</a:t>
            </a:r>
            <a:r>
              <a:rPr sz="2025" b="0" dirty="0">
                <a:solidFill>
                  <a:srgbClr val="172F42"/>
                </a:solidFill>
                <a:latin typeface="Arial"/>
                <a:ea typeface="Arial"/>
                <a:cs typeface="Arial"/>
              </a:rPr>
              <a:t> y </a:t>
            </a:r>
            <a:r>
              <a:rPr sz="2025" b="0" dirty="0" err="1">
                <a:solidFill>
                  <a:srgbClr val="172F42"/>
                </a:solidFill>
                <a:latin typeface="Arial"/>
                <a:ea typeface="Arial"/>
                <a:cs typeface="Arial"/>
              </a:rPr>
              <a:t>ecuaciones</a:t>
            </a:r>
            <a:r>
              <a:rPr sz="2025" b="0" dirty="0">
                <a:solidFill>
                  <a:srgbClr val="172F42"/>
                </a:solidFill>
                <a:latin typeface="Arial"/>
                <a:ea typeface="Arial"/>
                <a:cs typeface="Arial"/>
              </a:rPr>
              <a:t> </a:t>
            </a:r>
            <a:r>
              <a:rPr sz="2025" b="0" dirty="0" err="1">
                <a:solidFill>
                  <a:srgbClr val="172F42"/>
                </a:solidFill>
                <a:latin typeface="Arial"/>
                <a:ea typeface="Arial"/>
                <a:cs typeface="Arial"/>
              </a:rPr>
              <a:t>reproducibles</a:t>
            </a:r>
            <a:r>
              <a:rPr sz="2025" b="0" dirty="0">
                <a:solidFill>
                  <a:srgbClr val="172F42"/>
                </a:solidFill>
                <a:latin typeface="Arial"/>
                <a:ea typeface="Arial"/>
                <a:cs typeface="Arial"/>
              </a:rPr>
              <a:t> </a:t>
            </a:r>
            <a:r>
              <a:rPr sz="2025" b="0" dirty="0" err="1">
                <a:solidFill>
                  <a:srgbClr val="172F42"/>
                </a:solidFill>
                <a:latin typeface="Arial"/>
                <a:ea typeface="Arial"/>
                <a:cs typeface="Arial"/>
              </a:rPr>
              <a:t>en</a:t>
            </a:r>
            <a:r>
              <a:rPr sz="2025" b="0" dirty="0">
                <a:solidFill>
                  <a:srgbClr val="172F42"/>
                </a:solidFill>
                <a:latin typeface="Arial"/>
                <a:ea typeface="Arial"/>
                <a:cs typeface="Arial"/>
              </a:rPr>
              <a:t> el </a:t>
            </a:r>
            <a:r>
              <a:rPr sz="2025" b="0" dirty="0" err="1">
                <a:solidFill>
                  <a:srgbClr val="172F42"/>
                </a:solidFill>
                <a:latin typeface="Arial"/>
                <a:ea typeface="Arial"/>
                <a:cs typeface="Arial"/>
              </a:rPr>
              <a:t>cuaderno</a:t>
            </a:r>
            <a:r>
              <a:rPr sz="2025" b="0" dirty="0">
                <a:solidFill>
                  <a:srgbClr val="172F42"/>
                </a:solidFill>
                <a:latin typeface="Arial"/>
                <a:ea typeface="Arial"/>
                <a:cs typeface="Arial"/>
              </a:rPr>
              <a:t> del punto 1.</a:t>
            </a:r>
          </a:p>
        </p:txBody>
      </p:sp>
      <p:sp>
        <p:nvSpPr>
          <p:cNvPr id="5" name="Rectángulo 4">
            <a:extLst>
              <a:ext uri="{FF2B5EF4-FFF2-40B4-BE49-F238E27FC236}">
                <a16:creationId xmlns:a16="http://schemas.microsoft.com/office/drawing/2014/main" id="{9EC1084A-0271-4EDA-B290-29F08E142330}"/>
              </a:ext>
            </a:extLst>
          </p:cNvPr>
          <p:cNvSpPr>
            <a:spLocks noGrp="1"/>
          </p:cNvSpPr>
          <p:nvPr/>
        </p:nvSpPr>
        <p:spPr>
          <a:xfrm>
            <a:off x="685800" y="3286125"/>
            <a:ext cx="8096250" cy="400050"/>
          </a:xfrm>
          <a:prstGeom prst="rect">
            <a:avLst/>
          </a:prstGeom>
          <a:noFill/>
          <a:ln w="0">
            <a:noFill/>
          </a:ln>
        </p:spPr>
        <p:txBody>
          <a:bodyPr>
            <a:noAutofit/>
          </a:bodyPr>
          <a:lstStyle/>
          <a:p>
            <a:pPr>
              <a:defRPr sz="1800" b="0">
                <a:solidFill>
                  <a:srgbClr val="172F42"/>
                </a:solidFill>
                <a:latin typeface="Arial"/>
                <a:ea typeface="Arial"/>
                <a:cs typeface="Arial"/>
              </a:defRPr>
            </a:pPr>
            <a:r>
              <a:rPr sz="1800" b="0" dirty="0" err="1">
                <a:solidFill>
                  <a:srgbClr val="172F42"/>
                </a:solidFill>
                <a:latin typeface="Arial"/>
                <a:ea typeface="Arial"/>
                <a:cs typeface="Arial"/>
              </a:rPr>
              <a:t>Integrante</a:t>
            </a:r>
            <a:r>
              <a:rPr sz="1800" b="0" dirty="0">
                <a:solidFill>
                  <a:srgbClr val="172F42"/>
                </a:solidFill>
                <a:latin typeface="Arial"/>
                <a:ea typeface="Arial"/>
                <a:cs typeface="Arial"/>
              </a:rPr>
              <a:t> 1: </a:t>
            </a:r>
            <a:r>
              <a:rPr lang="es-CO" sz="1800" b="0" dirty="0">
                <a:solidFill>
                  <a:srgbClr val="172F42"/>
                </a:solidFill>
                <a:latin typeface="Arial"/>
                <a:ea typeface="Arial"/>
                <a:cs typeface="Arial"/>
              </a:rPr>
              <a:t>Jhon Sebastián Vela Salcedo.</a:t>
            </a:r>
            <a:endParaRPr sz="1800" b="0" dirty="0">
              <a:solidFill>
                <a:srgbClr val="172F42"/>
              </a:solidFill>
              <a:latin typeface="Arial"/>
              <a:ea typeface="Arial"/>
              <a:cs typeface="Arial"/>
            </a:endParaRPr>
          </a:p>
        </p:txBody>
      </p:sp>
      <p:sp>
        <p:nvSpPr>
          <p:cNvPr id="6" name="Rectángulo 5">
            <a:extLst>
              <a:ext uri="{FF2B5EF4-FFF2-40B4-BE49-F238E27FC236}">
                <a16:creationId xmlns:a16="http://schemas.microsoft.com/office/drawing/2014/main" id="{17343B0B-A7B7-4BC2-8611-EF6201633FCD}"/>
              </a:ext>
            </a:extLst>
          </p:cNvPr>
          <p:cNvSpPr>
            <a:spLocks noGrp="1"/>
          </p:cNvSpPr>
          <p:nvPr/>
        </p:nvSpPr>
        <p:spPr>
          <a:xfrm>
            <a:off x="685800" y="3743325"/>
            <a:ext cx="8096250" cy="400050"/>
          </a:xfrm>
          <a:prstGeom prst="rect">
            <a:avLst/>
          </a:prstGeom>
          <a:noFill/>
          <a:ln w="0">
            <a:noFill/>
          </a:ln>
        </p:spPr>
        <p:txBody>
          <a:bodyPr>
            <a:noAutofit/>
          </a:bodyPr>
          <a:lstStyle/>
          <a:p>
            <a:pPr>
              <a:defRPr sz="1800" b="0">
                <a:solidFill>
                  <a:srgbClr val="172F42"/>
                </a:solidFill>
                <a:latin typeface="Arial"/>
                <a:ea typeface="Arial"/>
                <a:cs typeface="Arial"/>
              </a:defRPr>
            </a:pPr>
            <a:r>
              <a:rPr sz="1800" b="0" dirty="0" err="1">
                <a:solidFill>
                  <a:srgbClr val="172F42"/>
                </a:solidFill>
                <a:latin typeface="Arial"/>
                <a:ea typeface="Arial"/>
                <a:cs typeface="Arial"/>
              </a:rPr>
              <a:t>Integrante</a:t>
            </a:r>
            <a:r>
              <a:rPr sz="1800" b="0" dirty="0">
                <a:solidFill>
                  <a:srgbClr val="172F42"/>
                </a:solidFill>
                <a:latin typeface="Arial"/>
                <a:ea typeface="Arial"/>
                <a:cs typeface="Arial"/>
              </a:rPr>
              <a:t> 2: </a:t>
            </a:r>
            <a:r>
              <a:rPr lang="es-CO" sz="1800" b="0" dirty="0">
                <a:solidFill>
                  <a:srgbClr val="172F42"/>
                </a:solidFill>
                <a:latin typeface="Arial"/>
                <a:ea typeface="Arial"/>
                <a:cs typeface="Arial"/>
              </a:rPr>
              <a:t>Ethan Arturo Ramos Benitez.</a:t>
            </a:r>
            <a:endParaRPr sz="1800" b="0" dirty="0">
              <a:solidFill>
                <a:srgbClr val="172F42"/>
              </a:solidFill>
              <a:latin typeface="Arial"/>
              <a:ea typeface="Arial"/>
              <a:cs typeface="Arial"/>
            </a:endParaRPr>
          </a:p>
        </p:txBody>
      </p:sp>
      <p:sp>
        <p:nvSpPr>
          <p:cNvPr id="7" name="Rectángulo 6">
            <a:extLst>
              <a:ext uri="{FF2B5EF4-FFF2-40B4-BE49-F238E27FC236}">
                <a16:creationId xmlns:a16="http://schemas.microsoft.com/office/drawing/2014/main" id="{47A3FCBB-3DA4-47CD-AB7D-A2692691898D}"/>
              </a:ext>
            </a:extLst>
          </p:cNvPr>
          <p:cNvSpPr>
            <a:spLocks noGrp="1"/>
          </p:cNvSpPr>
          <p:nvPr/>
        </p:nvSpPr>
        <p:spPr>
          <a:xfrm>
            <a:off x="685800" y="4200525"/>
            <a:ext cx="8096250" cy="400050"/>
          </a:xfrm>
          <a:prstGeom prst="rect">
            <a:avLst/>
          </a:prstGeom>
          <a:noFill/>
          <a:ln w="0">
            <a:noFill/>
          </a:ln>
        </p:spPr>
        <p:txBody>
          <a:bodyPr>
            <a:noAutofit/>
          </a:bodyPr>
          <a:lstStyle/>
          <a:p>
            <a:pPr>
              <a:defRPr sz="1800" b="0">
                <a:solidFill>
                  <a:srgbClr val="172F42"/>
                </a:solidFill>
                <a:latin typeface="Arial"/>
                <a:ea typeface="Arial"/>
                <a:cs typeface="Arial"/>
              </a:defRPr>
            </a:pPr>
            <a:r>
              <a:rPr sz="1800" b="0" dirty="0" err="1">
                <a:solidFill>
                  <a:srgbClr val="172F42"/>
                </a:solidFill>
                <a:latin typeface="Arial"/>
                <a:ea typeface="Arial"/>
                <a:cs typeface="Arial"/>
              </a:rPr>
              <a:t>Integrante</a:t>
            </a:r>
            <a:r>
              <a:rPr sz="1800" b="0" dirty="0">
                <a:solidFill>
                  <a:srgbClr val="172F42"/>
                </a:solidFill>
                <a:latin typeface="Arial"/>
                <a:ea typeface="Arial"/>
                <a:cs typeface="Arial"/>
              </a:rPr>
              <a:t> 3: </a:t>
            </a:r>
            <a:r>
              <a:rPr lang="es-CO" sz="1800" b="0" dirty="0">
                <a:solidFill>
                  <a:srgbClr val="172F42"/>
                </a:solidFill>
                <a:latin typeface="Arial"/>
                <a:ea typeface="Arial"/>
                <a:cs typeface="Arial"/>
              </a:rPr>
              <a:t>Harold Santiago Aguilera </a:t>
            </a:r>
            <a:r>
              <a:rPr lang="es-CO" sz="1800" b="0" dirty="0" err="1">
                <a:solidFill>
                  <a:srgbClr val="172F42"/>
                </a:solidFill>
                <a:latin typeface="Arial"/>
                <a:ea typeface="Arial"/>
                <a:cs typeface="Arial"/>
              </a:rPr>
              <a:t>Mulfo</a:t>
            </a:r>
            <a:r>
              <a:rPr lang="es-CO" sz="1800" b="0" dirty="0">
                <a:solidFill>
                  <a:srgbClr val="172F42"/>
                </a:solidFill>
                <a:latin typeface="Arial"/>
                <a:ea typeface="Arial"/>
                <a:cs typeface="Arial"/>
              </a:rPr>
              <a:t>.</a:t>
            </a:r>
            <a:endParaRPr sz="1800" b="0" dirty="0">
              <a:solidFill>
                <a:srgbClr val="172F42"/>
              </a:solidFill>
              <a:latin typeface="Arial"/>
              <a:ea typeface="Arial"/>
              <a:cs typeface="Arial"/>
            </a:endParaRPr>
          </a:p>
        </p:txBody>
      </p:sp>
      <p:sp>
        <p:nvSpPr>
          <p:cNvPr id="8" name="Rectángulo 7">
            <a:extLst>
              <a:ext uri="{FF2B5EF4-FFF2-40B4-BE49-F238E27FC236}">
                <a16:creationId xmlns:a16="http://schemas.microsoft.com/office/drawing/2014/main" id="{820E1530-9ABA-497D-B513-F6AC7CB6FC0A}"/>
              </a:ext>
            </a:extLst>
          </p:cNvPr>
          <p:cNvSpPr>
            <a:spLocks noGrp="1"/>
          </p:cNvSpPr>
          <p:nvPr/>
        </p:nvSpPr>
        <p:spPr>
          <a:xfrm>
            <a:off x="685800" y="4657725"/>
            <a:ext cx="8096250" cy="400050"/>
          </a:xfrm>
          <a:prstGeom prst="rect">
            <a:avLst/>
          </a:prstGeom>
          <a:noFill/>
          <a:ln w="0">
            <a:noFill/>
          </a:ln>
        </p:spPr>
        <p:txBody>
          <a:bodyPr>
            <a:noAutofit/>
          </a:bodyPr>
          <a:lstStyle/>
          <a:p>
            <a:pPr>
              <a:defRPr sz="1800" b="0">
                <a:solidFill>
                  <a:srgbClr val="172F42"/>
                </a:solidFill>
                <a:latin typeface="Arial"/>
                <a:ea typeface="Arial"/>
                <a:cs typeface="Arial"/>
              </a:defRPr>
            </a:pPr>
            <a:r>
              <a:rPr sz="1800" b="0" dirty="0" err="1">
                <a:solidFill>
                  <a:srgbClr val="172F42"/>
                </a:solidFill>
                <a:latin typeface="Arial"/>
                <a:ea typeface="Arial"/>
                <a:cs typeface="Arial"/>
              </a:rPr>
              <a:t>Integrante</a:t>
            </a:r>
            <a:r>
              <a:rPr sz="1800" b="0" dirty="0">
                <a:solidFill>
                  <a:srgbClr val="172F42"/>
                </a:solidFill>
                <a:latin typeface="Arial"/>
                <a:ea typeface="Arial"/>
                <a:cs typeface="Arial"/>
              </a:rPr>
              <a:t> 4: </a:t>
            </a:r>
            <a:r>
              <a:rPr lang="es-CO" sz="1800" b="0" dirty="0">
                <a:solidFill>
                  <a:srgbClr val="172F42"/>
                </a:solidFill>
                <a:latin typeface="Arial"/>
                <a:ea typeface="Arial"/>
                <a:cs typeface="Arial"/>
              </a:rPr>
              <a:t>Cesar Augusto Vallejo Quiroga.</a:t>
            </a:r>
            <a:endParaRPr sz="1800" b="0" dirty="0">
              <a:solidFill>
                <a:srgbClr val="172F42"/>
              </a:solidFill>
              <a:latin typeface="Arial"/>
              <a:ea typeface="Arial"/>
              <a:cs typeface="Arial"/>
            </a:endParaRPr>
          </a:p>
        </p:txBody>
      </p:sp>
    </p:spTree>
    <p:extLst>
      <p:ext uri="{BB962C8B-B14F-4D97-AF65-F5344CB8AC3E}">
        <p14:creationId xmlns:p14="http://schemas.microsoft.com/office/powerpoint/2010/main" val="148833390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260</TotalTime>
  <Words>3051</Words>
  <Application>Microsoft Office PowerPoint</Application>
  <DocSecurity>0</DocSecurity>
  <PresentationFormat>Panorámica</PresentationFormat>
  <Paragraphs>314</Paragraphs>
  <Slides>14</Slides>
  <Notes>13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Arial</vt:lpstr>
      <vt:lpstr>Calibri</vt:lpstr>
      <vt:lpstr>Cambria Math</vt:lpstr>
      <vt:lpstr>Segoe WPC</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CESAR VALLEJO</cp:lastModifiedBy>
  <cp:revision>4</cp:revision>
  <dcterms:created xsi:type="dcterms:W3CDTF">2026-09-08T21:14:00Z</dcterms:created>
  <dcterms:modified xsi:type="dcterms:W3CDTF">2026-09-09T19:17:17Z</dcterms:modified>
</cp:coreProperties>
</file>