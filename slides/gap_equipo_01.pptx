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2"/>
    <p:sldId id="269" r:id="rId3"/>
    <p:sldId id="273" r:id="rId4"/>
    <p:sldId id="257" r:id="rId5"/>
    <p:sldId id="258" r:id="rId6"/>
    <p:sldId id="274" r:id="rId7"/>
    <p:sldId id="259" r:id="rId8"/>
    <p:sldId id="260" r:id="rId9"/>
    <p:sldId id="272" r:id="rId10"/>
    <p:sldId id="263" r:id="rId11"/>
    <p:sldId id="264" r:id="rId12"/>
    <p:sldId id="265" r:id="rId13"/>
    <p:sldId id="266" r:id="rId14"/>
    <p:sldId id="268" r:id="rId15"/>
    <p:sldId id="271" r:id="rId16"/>
    <p:sldId id="270" r:id="rId17"/>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47" d="100"/>
          <a:sy n="47" d="100"/>
        </p:scale>
        <p:origin x="1027"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Recorrido principal. Tiempo orientativo: 1 a 2 minutos.</a:t>
            </a:r>
          </a:p>
          <a:p>
            <a:endParaRPr/>
          </a:p>
          <a:p>
            <a:r>
              <a:t>El resultado inicial compara medias geométricas del ingreso. La brecha condicional S5 compara observables comunes. Los factores fex_c representan la población cubierta de Bogotá. La brecha que queda no identifica discriminación causal.</a:t>
            </a:r>
          </a:p>
          <a:p>
            <a:endParaRPr/>
          </a:p>
          <a:p>
            <a:r>
              <a:t>Fuentes:</a:t>
            </a:r>
          </a:p>
          <a:p>
            <a:r>
              <a:t>https://github.com/SebastianVela/BigData_Taller_1/blob/37b80b9fdfadaed31cada47698c354f0405120f7/punto2_brecha_genero/salidas/escalera_controles_fwl.csv</a:t>
            </a:r>
          </a:p>
          <a:p>
            <a:endParaRPr/>
          </a:p>
          <a:p>
            <a:r>
              <a:t>Los totales suman fex_c original. El IC del total no está disponible por información insuficiente del diseño. Los IC de estimadores usan la aproximación por personas del cuaderno.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Anexo de consulta.</a:t>
            </a:r>
          </a:p>
          <a:p>
            <a:endParaRPr/>
          </a:p>
          <a:p>
            <a:r>
              <a:t>Los diez bloques contienen 32.177 registros. Se parte de ocupados de 18 años o más y se exige ingreso positivo observado para tomar logaritmos. No se imputan ingresos ni se recortan extremos en la muestra principal. Los factores suman la población cubierta, sin corregir automáticamente la no respuesta.</a:t>
            </a:r>
          </a:p>
          <a:p>
            <a:endParaRPr/>
          </a:p>
          <a:p>
            <a:r>
              <a:t>Fuentes:</a:t>
            </a:r>
          </a:p>
          <a:p>
            <a:r>
              <a:t>https://github.com/SebastianVela/BigData_Taller_1/blob/37b80b9fdfadaed31cada47698c354f0405120f7/datos/auditoria/poblacion_ambitos.csv</a:t>
            </a:r>
          </a:p>
          <a:p>
            <a:endParaRPr/>
          </a:p>
          <a:p>
            <a:r>
              <a:t>Los totales suman fex_c original. El IC del total no está disponible por información insuficiente del diseño. Los IC de estimadores usan la aproximación por personas del cuaderno.</a:t>
            </a:r>
          </a:p>
          <a:p>
            <a:endParaRPr/>
          </a:p>
          <a:p>
            <a:r>
              <a:t>LaTeX de referencia:</a:t>
            </a:r>
          </a:p>
          <a:p>
            <a:r>
              <a:t>n=\sum_i 1,\quad\hat N=\sum_i w_i,\quad w_i=\mathrm{fex\_c}_i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Recorrido principal. Tiempo orientativo: 1 a 2 minutos.</a:t>
            </a:r>
          </a:p>
          <a:p>
            <a:endParaRPr/>
          </a:p>
          <a:p>
            <a:r>
              <a:t>Las mujeres ocupadas tienen más educación formal y trabajan menos horas en promedio. Estos contrastes justifican separar capital humano de intensidad laboral. Son descriptivas con fex_c. Las medias no aíslan efectos causales.</a:t>
            </a:r>
          </a:p>
          <a:p>
            <a:endParaRPr/>
          </a:p>
          <a:p>
            <a:r>
              <a:t>Fuentes:</a:t>
            </a:r>
          </a:p>
          <a:p>
            <a:r>
              <a:t>https://github.com/SebastianVela/BigData_Taller_1/blob/37b80b9fdfadaed31cada47698c354f0405120f7/punto2_brecha_genero/salidas/descriptivas_sexo.csv</a:t>
            </a:r>
          </a:p>
          <a:p>
            <a:endParaRPr/>
          </a:p>
          <a:p>
            <a:r>
              <a:t>Los totales suman fex_c original. El IC del total no está disponible por información insuficiente del diseño. Los IC de estimadores usan la aproximación por personas del cuaderno.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Recorrido principal. Tiempo orientativo: 1 a 2 minutos.</a:t>
            </a:r>
          </a:p>
          <a:p>
            <a:endParaRPr/>
          </a:p>
          <a:p>
            <a:r>
              <a:t>Medias incondicionales respecto a otros atributos dentro de cada celda edad y sexo. Se muestran celdas con al menos 15 registros. IC 95% puntuales aproximados de cada media, no intervalos individuales. Los límites no forman una banda simultánea.</a:t>
            </a:r>
          </a:p>
          <a:p>
            <a:endParaRPr/>
          </a:p>
          <a:p>
            <a:r>
              <a:t>Fuentes:</a:t>
            </a:r>
          </a:p>
          <a:p>
            <a:r>
              <a:t>https://github.com/SebastianVela/BigData_Taller_1/blob/37b80b9fdfadaed31cada47698c354f0405120f7/punto2_brecha_genero/salidas/medias_edad_sexo.csv</a:t>
            </a:r>
          </a:p>
          <a:p>
            <a:endParaRPr/>
          </a:p>
          <a:p>
            <a:r>
              <a:t>Los totales suman fex_c original. El IC del total no está disponible por información insuficiente del diseño. Los IC de estimadores usan la aproximación por personas del cuaderno.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20892-8F4B-607C-1494-9EBECA3E83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4A9264-D62F-467F-F9B9-7B290B3E42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9C8969-22A7-72CF-5A7F-3F28BE15DB14}"/>
              </a:ext>
            </a:extLst>
          </p:cNvPr>
          <p:cNvSpPr>
            <a:spLocks noGrp="1"/>
          </p:cNvSpPr>
          <p:nvPr>
            <p:ph type="body" idx="1"/>
          </p:nvPr>
        </p:nvSpPr>
        <p:spPr/>
        <p:txBody>
          <a:bodyPr/>
          <a:lstStyle/>
          <a:p>
            <a:r>
              <a:t>Anexo de consulta.</a:t>
            </a:r>
          </a:p>
          <a:p>
            <a:endParaRPr/>
          </a:p>
          <a:p>
            <a:r>
              <a:t>Los diez bloques contienen 32.177 registros. Se parte de ocupados de 18 años o más y se exige ingreso positivo observado para tomar logaritmos. No se imputan ingresos ni se recortan extremos en la muestra principal. Los factores suman la población cubierta, sin corregir automáticamente la no respuesta.</a:t>
            </a:r>
          </a:p>
          <a:p>
            <a:endParaRPr/>
          </a:p>
          <a:p>
            <a:r>
              <a:t>Fuentes:</a:t>
            </a:r>
          </a:p>
          <a:p>
            <a:r>
              <a:t>https://github.com/SebastianVela/BigData_Taller_1/blob/37b80b9fdfadaed31cada47698c354f0405120f7/datos/auditoria/poblacion_ambitos.csv</a:t>
            </a:r>
          </a:p>
          <a:p>
            <a:endParaRPr/>
          </a:p>
          <a:p>
            <a:r>
              <a:t>Los totales suman fex_c original. El IC del total no está disponible por información insuficiente del diseño. Los IC de estimadores usan la aproximación por personas del cuaderno.</a:t>
            </a:r>
          </a:p>
          <a:p>
            <a:endParaRPr/>
          </a:p>
          <a:p>
            <a:r>
              <a:t>LaTeX de referencia:</a:t>
            </a:r>
          </a:p>
          <a:p>
            <a:r>
              <a:t>n=\sum_i 1,\quad\hat N=\sum_i w_i,\quad w_i=\mathrm{fex\_c}_i</a:t>
            </a:r>
          </a:p>
        </p:txBody>
      </p:sp>
      <p:sp>
        <p:nvSpPr>
          <p:cNvPr id="4" name="Slide Number Placeholder 3">
            <a:extLst>
              <a:ext uri="{FF2B5EF4-FFF2-40B4-BE49-F238E27FC236}">
                <a16:creationId xmlns:a16="http://schemas.microsoft.com/office/drawing/2014/main" id="{CC61D8E7-2DB0-7AD4-ED36-1024A9DD84AA}"/>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40446049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Recorrido principal. Tiempo orientativo: 1 a 2 minutos.</a:t>
            </a:r>
          </a:p>
          <a:p>
            <a:endParaRPr/>
          </a:p>
          <a:p>
            <a:r>
              <a:t>S0 mide la diferencia media ponderada de log ingresos. S5 controla edad cuadrática, educación, horas, vínculo, formalidad, tamaño de firma y grupo de ocupación. Educación aproxima capital humano. Horas mide intensidad. Vínculo y ocupación pueden mediar desigualdades previas, por lo que serían malos controles para algunos objetivos causales.</a:t>
            </a:r>
          </a:p>
          <a:p>
            <a:endParaRPr/>
          </a:p>
          <a:p>
            <a:r>
              <a:t>Fuentes:</a:t>
            </a:r>
          </a:p>
          <a:p>
            <a:r>
              <a:t>https://github.com/SebastianVela/BigData_Taller_1/blob/37b80b9fdfadaed31cada47698c354f0405120f7/punto2_brecha_genero/salidas/escalera_controles_fwl.csv</a:t>
            </a:r>
          </a:p>
          <a:p>
            <a:endParaRPr/>
          </a:p>
          <a:p>
            <a:r>
              <a:t>Los totales suman fex_c original. El IC del total no está disponible por información insuficiente del diseño. Los IC de estimadores usan la aproximación por personas del cuaderno.</a:t>
            </a:r>
          </a:p>
          <a:p>
            <a:endParaRPr/>
          </a:p>
          <a:p>
            <a:r>
              <a:t>LaTeX de referencia:</a:t>
            </a:r>
          </a:p>
          <a:p>
            <a:r>
              <a:t>y_i=\alpha+\delta F_i+u_i,\quad\mathrm{brecha}=100[\exp(\hat\delta)-1]</a:t>
            </a:r>
          </a:p>
          <a:p>
            <a:endParaRPr/>
          </a:p>
          <a:p>
            <a:r>
              <a:t>LaTeX de referencia:</a:t>
            </a:r>
          </a:p>
          <a:p>
            <a:r>
              <a:t>y_i=\delta F_i+W_i'\gamma+u_i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Recorrido principal. Tiempo orientativo: 1 a 2 minutos.</a:t>
            </a:r>
          </a:p>
          <a:p>
            <a:endParaRPr/>
          </a:p>
          <a:p>
            <a:r>
              <a:t>Todas las especificaciones usan las mismas 14.763 filas y fex_c. EE analítico HC1 y bootstrap por filas. B=500 por modelo y 1.000 en S5. Semilla 2026. La escalera es acumulativa. El R cuadrado ponderado mide ajuste interno, no validez causal.</a:t>
            </a:r>
          </a:p>
          <a:p>
            <a:endParaRPr/>
          </a:p>
          <a:p>
            <a:r>
              <a:t>Fuentes:</a:t>
            </a:r>
          </a:p>
          <a:p>
            <a:r>
              <a:t>https://github.com/SebastianVela/BigData_Taller_1/blob/37b80b9fdfadaed31cada47698c354f0405120f7/punto2_brecha_genero/salidas/escalera_controles_fwl.csv</a:t>
            </a:r>
          </a:p>
          <a:p>
            <a:endParaRPr/>
          </a:p>
          <a:p>
            <a:r>
              <a:t>Los totales suman fex_c original. El IC del total no está disponible por información insuficiente del diseño. Los IC de estimadores usan la aproximación por personas del cuaderno.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Recorrido principal. Tiempo orientativo: 1 a 2 minutos.</a:t>
            </a:r>
          </a:p>
          <a:p>
            <a:endParaRPr/>
          </a:p>
          <a:p>
            <a:r>
              <a:t>La especificación de perfiles agrega Female por edad y Female por edad al cuadrado a S5. El coeficiente aislado de Female ya no es una brecha constante. La brecha depende de la edad. Los controles restantes se fijan en medias ponderadas comunes.</a:t>
            </a:r>
          </a:p>
          <a:p>
            <a:endParaRPr/>
          </a:p>
          <a:p>
            <a:r>
              <a:t>Fuentes:</a:t>
            </a:r>
          </a:p>
          <a:p>
            <a:r>
              <a:t>https://github.com/SebastianVela/BigData_Taller_1/blob/37b80b9fdfadaed31cada47698c354f0405120f7/punto2_brecha_genero/salidas/picos_por_sexo.csv</a:t>
            </a:r>
          </a:p>
          <a:p>
            <a:r>
              <a:t>https://github.com/SebastianVela/BigData_Taller_1/blob/37b80b9fdfadaed31cada47698c354f0405120f7/punto2_brecha_genero/salidas/perfiles_por_sexo.csv</a:t>
            </a:r>
          </a:p>
          <a:p>
            <a:endParaRPr/>
          </a:p>
          <a:p>
            <a:r>
              <a:t>Los totales suman fex_c original. El IC del total no está disponible por información insuficiente del diseño. Los IC de estimadores usan la aproximación por personas del cuaderno.</a:t>
            </a:r>
          </a:p>
          <a:p>
            <a:endParaRPr/>
          </a:p>
          <a:p>
            <a:r>
              <a:t>LaTeX de referencia:</a:t>
            </a:r>
          </a:p>
          <a:p>
            <a:r>
              <a:t>y_i=\alpha+\beta_1 A_i+\beta_2 A_i^2+\delta F_i+\theta_1 F_i A_i+\theta_2 F_i A_i^2+Z_i'\gamma+u_i</a:t>
            </a:r>
          </a:p>
          <a:p>
            <a:endParaRPr/>
          </a:p>
          <a:p>
            <a:r>
              <a:t>LaTeX de referencia:</a:t>
            </a:r>
          </a:p>
          <a:p>
            <a:r>
              <a:t>\hat A_H^*=-\frac{\hat\beta_1}{2\hat\beta_2},\quad\hat A_M^*=-\frac{\hat\beta_1+\hat\theta_1}{2(\hat\beta_2+\hat\theta_2)}</a:t>
            </a:r>
          </a:p>
          <a:p>
            <a:endParaRPr/>
          </a:p>
          <a:p>
            <a:r>
              <a:t>LaTeX de referencia:</a:t>
            </a:r>
          </a:p>
          <a:p>
            <a:r>
              <a:t>\hat\delta(A)=\hat\delta+\hat\theta_1 A+\hat\theta_2 A^2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Recorrido principal. Tiempo orientativo: 1 a 2 minutos.</a:t>
            </a:r>
          </a:p>
          <a:p>
            <a:endParaRPr/>
          </a:p>
          <a:p>
            <a:r>
              <a:t>Panel a S1: sólo edad, sexo e interacciones. Panel b S5: añade los controles preferidos. Las líneas verticales indican la media bootstrap del pico de cada sexo, con B=1.000. No son la edad pico de la curva original. Los intervalos percentiles aparecen en la diapositiva siguiente.</a:t>
            </a:r>
          </a:p>
          <a:p>
            <a:endParaRPr/>
          </a:p>
          <a:p>
            <a:r>
              <a:t>Fuentes:</a:t>
            </a:r>
          </a:p>
          <a:p>
            <a:r>
              <a:t>https://github.com/SebastianVela/BigData_Taller_1/blob/37b80b9fdfadaed31cada47698c354f0405120f7/punto2_brecha_genero/salidas/perfiles_por_sexo.csv</a:t>
            </a:r>
          </a:p>
          <a:p>
            <a:r>
              <a:t>https://github.com/SebastianVela/BigData_Taller_1/blob/37b80b9fdfadaed31cada47698c354f0405120f7/punto2_brecha_genero/salidas/picos_por_sexo.csv</a:t>
            </a:r>
          </a:p>
          <a:p>
            <a:endParaRPr/>
          </a:p>
          <a:p>
            <a:r>
              <a:t>Los totales suman fex_c original. El IC del total no está disponible por información insuficiente del diseño. Los IC de estimadores usan la aproximación por personas del cuaderno.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Recorrido principal. Tiempo orientativo: 1 a 2 minutos.</a:t>
            </a:r>
          </a:p>
          <a:p>
            <a:endParaRPr/>
          </a:p>
          <a:p>
            <a:r>
              <a:t>Picos del modelo conjunto con interacciones. Los intervalos percentiles proceden de 1.000 réplicas que conservan pesos por fila. La superposición de intervalos no es una prueba formal de igualdad de picos. Para probar diferencias se requiere la distribución conjunta de la diferencia.</a:t>
            </a:r>
          </a:p>
          <a:p>
            <a:endParaRPr/>
          </a:p>
          <a:p>
            <a:r>
              <a:t>Fuentes:</a:t>
            </a:r>
          </a:p>
          <a:p>
            <a:r>
              <a:t>https://github.com/SebastianVela/BigData_Taller_1/blob/37b80b9fdfadaed31cada47698c354f0405120f7/punto2_brecha_genero/salidas/picos_por_sexo.csv</a:t>
            </a:r>
          </a:p>
          <a:p>
            <a:endParaRPr/>
          </a:p>
          <a:p>
            <a:r>
              <a:t>Los totales suman fex_c original. El IC del total no está disponible por información insuficiente del diseño. Los IC de estimadores usan la aproximación por personas del cuaderno.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Recorrido principal. Tiempo orientativo: 1 a 2 minutos.</a:t>
            </a:r>
          </a:p>
          <a:p>
            <a:endParaRPr/>
          </a:p>
          <a:p>
            <a:r>
              <a:t>Cerrar el recorrido principal. Los controles explican parte de la diferencia observada. Interpretar la parte restante requiere supuestos que el ejercicio no identifica. El uso tributario debe evitar convertir diferencias de género en evidencia automática de subreporte.</a:t>
            </a:r>
          </a:p>
          <a:p>
            <a:endParaRPr/>
          </a:p>
          <a:p>
            <a:r>
              <a:t>Fuentes:</a:t>
            </a:r>
          </a:p>
          <a:p>
            <a:r>
              <a:t>https://github.com/SebastianVela/BigData_Taller_1/blob/37b80b9fdfadaed31cada47698c354f0405120f7/punto2_brecha_genero/salidas/escalera_controles_fwl.csv</a:t>
            </a:r>
          </a:p>
          <a:p>
            <a:r>
              <a:t>https://github.com/SebastianVela/BigData_Taller_1/blob/37b80b9fdfadaed31cada47698c354f0405120f7/punto2_brecha_genero/salidas/picos_por_sexo.csv</a:t>
            </a:r>
          </a:p>
          <a:p>
            <a:endParaRPr/>
          </a:p>
          <a:p>
            <a:r>
              <a:t>Los totales suman fex_c original. El IC del total no está disponible por información insuficiente del diseño. Los IC de estimadores usan la aproximación por personas del cuaderno.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Anexo de consulta.</a:t>
            </a:r>
          </a:p>
          <a:p>
            <a:endParaRPr/>
          </a:p>
          <a:p>
            <a:r>
              <a:t>Reestimar S5 dentro de cada subgrupo, retirando columnas constantes o colineales. Se reporta beta en log puntos con IC HC1. Los subgrupos pertenecen a dimensiones que pueden superponerse, por lo que sus totales no deben sumarse entre dimensiones.</a:t>
            </a:r>
          </a:p>
          <a:p>
            <a:endParaRPr/>
          </a:p>
          <a:p>
            <a:r>
              <a:t>Fuentes:</a:t>
            </a:r>
          </a:p>
          <a:p>
            <a:r>
              <a:t>https://github.com/SebastianVela/BigData_Taller_1/blob/37b80b9fdfadaed31cada47698c354f0405120f7/punto2_brecha_genero/salidas/brecha_subgrupos.csv</a:t>
            </a:r>
          </a:p>
          <a:p>
            <a:endParaRPr/>
          </a:p>
          <a:p>
            <a:r>
              <a:t>Los totales suman fex_c original. El IC del total no está disponible por información insuficiente del diseño. Los IC de estimadores usan la aproximación por personas del cuaderno.</a:t>
            </a:r>
          </a:p>
          <a:p>
            <a:endParaRPr/>
          </a:p>
          <a:p>
            <a:r>
              <a:t>LaTeX de referencia:</a:t>
            </a:r>
          </a:p>
          <a:p>
            <a:r>
              <a:t>y_i=\delta_g F_i+W_i'\gamma_g+u_i,\quad i\in 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Anexo de consulta.</a:t>
            </a:r>
          </a:p>
          <a:p>
            <a:endParaRPr/>
          </a:p>
          <a:p>
            <a:r>
              <a:t>Recorrido principal: diapositivas 1 a 11, aproximadamente 15 minutos. Las notas incluyen fuentes de cada tabla y gráfico. Preparar la explicación de controles, FWL, inferencia y la diferencia entre asociación y causalidad.</a:t>
            </a:r>
          </a:p>
          <a:p>
            <a:endParaRPr/>
          </a:p>
          <a:p>
            <a:r>
              <a:t>Fuentes:</a:t>
            </a:r>
          </a:p>
          <a:p>
            <a:r>
              <a:t>https://github.com/SebastianVela/BigData_Taller_1/blob/37b80b9fdfadaed31cada47698c354f0405120f7/punto2_brecha_genero/salidas/escalera_controles_fwl.csv</a:t>
            </a:r>
          </a:p>
          <a:p>
            <a:r>
              <a:t>https://github.com/ignaciomsarmiento/BDML_2026_20</a:t>
            </a:r>
          </a:p>
          <a:p>
            <a:endParaRPr/>
          </a:p>
          <a:p>
            <a:r>
              <a:t>Los totales suman fex_c original. El IC del total no está disponible por información insuficiente del diseño. Los IC de estimadores usan la aproximación por personas del cuaderno.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ángulo 8">
            <a:extLst>
              <a:ext uri="{FF2B5EF4-FFF2-40B4-BE49-F238E27FC236}">
                <a16:creationId xmlns:a16="http://schemas.microsoft.com/office/drawing/2014/main" id="{4DCCB744-C781-46A7-8BAB-A3F8A80AD073}"/>
              </a:ext>
            </a:extLst>
          </p:cNvPr>
          <p:cNvSpPr>
            <a:spLocks noGrp="1"/>
          </p:cNvSpPr>
          <p:nvPr/>
        </p:nvSpPr>
        <p:spPr>
          <a:xfrm>
            <a:off x="609600" y="333375"/>
            <a:ext cx="10972800" cy="762000"/>
          </a:xfrm>
          <a:prstGeom prst="rect">
            <a:avLst/>
          </a:prstGeom>
          <a:noFill/>
          <a:ln w="0">
            <a:noFill/>
          </a:ln>
        </p:spPr>
        <p:txBody>
          <a:bodyPr>
            <a:noAutofit/>
          </a:bodyPr>
          <a:lstStyle/>
          <a:p>
            <a:pPr>
              <a:defRPr sz="3150" b="1">
                <a:solidFill>
                  <a:srgbClr val="172F42"/>
                </a:solidFill>
                <a:latin typeface="Arial"/>
                <a:ea typeface="Arial"/>
                <a:cs typeface="Arial"/>
              </a:defRPr>
            </a:pPr>
            <a:r>
              <a:rPr sz="3150" b="1">
                <a:solidFill>
                  <a:srgbClr val="172F42"/>
                </a:solidFill>
                <a:latin typeface="Arial"/>
                <a:ea typeface="Arial"/>
                <a:cs typeface="Arial"/>
              </a:rPr>
              <a:t>Brecha de género en Bogotá: resultados</a:t>
            </a:r>
          </a:p>
        </p:txBody>
      </p:sp>
      <p:sp>
        <p:nvSpPr>
          <p:cNvPr id="2" name="Rectángulo 1">
            <a:extLst>
              <a:ext uri="{FF2B5EF4-FFF2-40B4-BE49-F238E27FC236}">
                <a16:creationId xmlns:a16="http://schemas.microsoft.com/office/drawing/2014/main" id="{0C59D081-86A5-4EDB-8033-9FDCAF5FC53F}"/>
              </a:ext>
            </a:extLst>
          </p:cNvPr>
          <p:cNvSpPr>
            <a:spLocks noGrp="1"/>
          </p:cNvSpPr>
          <p:nvPr/>
        </p:nvSpPr>
        <p:spPr>
          <a:xfrm>
            <a:off x="609600" y="6210300"/>
            <a:ext cx="10287000" cy="457200"/>
          </a:xfrm>
          <a:prstGeom prst="rect">
            <a:avLst/>
          </a:prstGeom>
          <a:noFill/>
          <a:ln w="0">
            <a:noFill/>
          </a:ln>
        </p:spPr>
        <p:txBody>
          <a:bodyPr>
            <a:noAutofit/>
          </a:bodyPr>
          <a:lstStyle/>
          <a:p>
            <a:pPr>
              <a:defRPr sz="1125" b="0">
                <a:solidFill>
                  <a:srgbClr val="526471"/>
                </a:solidFill>
                <a:latin typeface="Arial"/>
                <a:ea typeface="Arial"/>
                <a:cs typeface="Arial"/>
              </a:defRPr>
            </a:pPr>
            <a:r>
              <a:rPr sz="1125" b="0">
                <a:solidFill>
                  <a:srgbClr val="526471"/>
                </a:solidFill>
                <a:latin typeface="Arial"/>
                <a:ea typeface="Arial"/>
                <a:cs typeface="Arial"/>
              </a:rPr>
              <a:t>n = 14.763. Población representada ≈ 3.686.406 personas. Fuente: GEIH 2018, Bogotá.</a:t>
            </a:r>
          </a:p>
        </p:txBody>
      </p:sp>
      <p:sp>
        <p:nvSpPr>
          <p:cNvPr id="3" name="Rectángulo 2">
            <a:extLst>
              <a:ext uri="{FF2B5EF4-FFF2-40B4-BE49-F238E27FC236}">
                <a16:creationId xmlns:a16="http://schemas.microsoft.com/office/drawing/2014/main" id="{AA94F5B5-F45E-427A-A658-6B5414014ADE}"/>
              </a:ext>
            </a:extLst>
          </p:cNvPr>
          <p:cNvSpPr>
            <a:spLocks noGrp="1"/>
          </p:cNvSpPr>
          <p:nvPr/>
        </p:nvSpPr>
        <p:spPr>
          <a:xfrm>
            <a:off x="11144250" y="6343650"/>
            <a:ext cx="419100" cy="247650"/>
          </a:xfrm>
          <a:prstGeom prst="rect">
            <a:avLst/>
          </a:prstGeom>
          <a:noFill/>
          <a:ln w="0">
            <a:noFill/>
          </a:ln>
        </p:spPr>
        <p:txBody>
          <a:bodyPr>
            <a:noAutofit/>
          </a:bodyPr>
          <a:lstStyle/>
          <a:p>
            <a:pPr>
              <a:defRPr sz="1200" b="0">
                <a:solidFill>
                  <a:srgbClr val="526471"/>
                </a:solidFill>
                <a:latin typeface="Arial"/>
                <a:ea typeface="Arial"/>
                <a:cs typeface="Arial"/>
              </a:defRPr>
            </a:pPr>
            <a:r>
              <a:rPr sz="1200" b="0">
                <a:solidFill>
                  <a:srgbClr val="526471"/>
                </a:solidFill>
                <a:latin typeface="Arial"/>
                <a:ea typeface="Arial"/>
                <a:cs typeface="Arial"/>
              </a:rPr>
              <a:t>1</a:t>
            </a:r>
          </a:p>
        </p:txBody>
      </p:sp>
      <p:sp>
        <p:nvSpPr>
          <p:cNvPr id="4" name="Rectángulo 3">
            <a:extLst>
              <a:ext uri="{FF2B5EF4-FFF2-40B4-BE49-F238E27FC236}">
                <a16:creationId xmlns:a16="http://schemas.microsoft.com/office/drawing/2014/main" id="{E478155B-1039-4A63-8ACE-7416ADC7B6D6}"/>
              </a:ext>
            </a:extLst>
          </p:cNvPr>
          <p:cNvSpPr>
            <a:spLocks noGrp="1"/>
          </p:cNvSpPr>
          <p:nvPr/>
        </p:nvSpPr>
        <p:spPr>
          <a:xfrm>
            <a:off x="685800" y="1476375"/>
            <a:ext cx="5048250" cy="904875"/>
          </a:xfrm>
          <a:prstGeom prst="rect">
            <a:avLst/>
          </a:prstGeom>
          <a:noFill/>
          <a:ln w="0">
            <a:noFill/>
          </a:ln>
        </p:spPr>
        <p:txBody>
          <a:bodyPr>
            <a:noAutofit/>
          </a:bodyPr>
          <a:lstStyle/>
          <a:p>
            <a:pPr>
              <a:defRPr sz="5100" b="0">
                <a:solidFill>
                  <a:srgbClr val="A6405C"/>
                </a:solidFill>
                <a:latin typeface="Arial"/>
                <a:ea typeface="Arial"/>
                <a:cs typeface="Arial"/>
              </a:defRPr>
            </a:pPr>
            <a:r>
              <a:rPr sz="5100" b="0">
                <a:solidFill>
                  <a:srgbClr val="A6405C"/>
                </a:solidFill>
                <a:latin typeface="Arial"/>
                <a:ea typeface="Arial"/>
                <a:cs typeface="Arial"/>
              </a:rPr>
              <a:t>-21,37%</a:t>
            </a:r>
          </a:p>
        </p:txBody>
      </p:sp>
      <p:sp>
        <p:nvSpPr>
          <p:cNvPr id="5" name="Rectángulo 4">
            <a:extLst>
              <a:ext uri="{FF2B5EF4-FFF2-40B4-BE49-F238E27FC236}">
                <a16:creationId xmlns:a16="http://schemas.microsoft.com/office/drawing/2014/main" id="{DEEA5E8B-669F-4FE4-8140-E335A3370780}"/>
              </a:ext>
            </a:extLst>
          </p:cNvPr>
          <p:cNvSpPr>
            <a:spLocks noGrp="1"/>
          </p:cNvSpPr>
          <p:nvPr/>
        </p:nvSpPr>
        <p:spPr>
          <a:xfrm>
            <a:off x="685800" y="2571750"/>
            <a:ext cx="5048250" cy="952500"/>
          </a:xfrm>
          <a:prstGeom prst="rect">
            <a:avLst/>
          </a:prstGeom>
          <a:noFill/>
          <a:ln w="0">
            <a:noFill/>
          </a:ln>
        </p:spPr>
        <p:txBody>
          <a:bodyPr>
            <a:noAutofit/>
          </a:bodyPr>
          <a:lstStyle/>
          <a:p>
            <a:pPr>
              <a:defRPr sz="2175" b="0">
                <a:solidFill>
                  <a:srgbClr val="172F42"/>
                </a:solidFill>
                <a:latin typeface="Arial"/>
                <a:ea typeface="Arial"/>
                <a:cs typeface="Arial"/>
              </a:defRPr>
            </a:pPr>
            <a:r>
              <a:rPr sz="2175" b="0">
                <a:solidFill>
                  <a:srgbClr val="172F42"/>
                </a:solidFill>
                <a:latin typeface="Arial"/>
                <a:ea typeface="Arial"/>
                <a:cs typeface="Arial"/>
              </a:rPr>
              <a:t>Brecha incondicional</a:t>
            </a:r>
          </a:p>
          <a:p>
            <a:pPr>
              <a:defRPr sz="2175" b="0">
                <a:solidFill>
                  <a:srgbClr val="172F42"/>
                </a:solidFill>
                <a:latin typeface="Arial"/>
                <a:ea typeface="Arial"/>
                <a:cs typeface="Arial"/>
              </a:defRPr>
            </a:pPr>
            <a:r>
              <a:rPr sz="2175" b="0">
                <a:solidFill>
                  <a:srgbClr val="172F42"/>
                </a:solidFill>
                <a:latin typeface="Arial"/>
                <a:ea typeface="Arial"/>
                <a:cs typeface="Arial"/>
              </a:rPr>
              <a:t>Mujeres respecto a hombres</a:t>
            </a:r>
          </a:p>
        </p:txBody>
      </p:sp>
      <p:sp>
        <p:nvSpPr>
          <p:cNvPr id="6" name="Rectángulo 5">
            <a:extLst>
              <a:ext uri="{FF2B5EF4-FFF2-40B4-BE49-F238E27FC236}">
                <a16:creationId xmlns:a16="http://schemas.microsoft.com/office/drawing/2014/main" id="{D0EAE262-6664-4C08-9FCB-9E54BBB9375C}"/>
              </a:ext>
            </a:extLst>
          </p:cNvPr>
          <p:cNvSpPr>
            <a:spLocks noGrp="1"/>
          </p:cNvSpPr>
          <p:nvPr/>
        </p:nvSpPr>
        <p:spPr>
          <a:xfrm>
            <a:off x="6438900" y="1476375"/>
            <a:ext cx="5048250" cy="904875"/>
          </a:xfrm>
          <a:prstGeom prst="rect">
            <a:avLst/>
          </a:prstGeom>
          <a:noFill/>
          <a:ln w="0">
            <a:noFill/>
          </a:ln>
        </p:spPr>
        <p:txBody>
          <a:bodyPr>
            <a:noAutofit/>
          </a:bodyPr>
          <a:lstStyle/>
          <a:p>
            <a:pPr>
              <a:defRPr sz="5100" b="0">
                <a:solidFill>
                  <a:srgbClr val="1463AE"/>
                </a:solidFill>
                <a:latin typeface="Arial"/>
                <a:ea typeface="Arial"/>
                <a:cs typeface="Arial"/>
              </a:defRPr>
            </a:pPr>
            <a:r>
              <a:rPr sz="5100" b="0">
                <a:solidFill>
                  <a:srgbClr val="1463AE"/>
                </a:solidFill>
                <a:latin typeface="Arial"/>
                <a:ea typeface="Arial"/>
                <a:cs typeface="Arial"/>
              </a:rPr>
              <a:t>-16,75%</a:t>
            </a:r>
          </a:p>
        </p:txBody>
      </p:sp>
      <p:sp>
        <p:nvSpPr>
          <p:cNvPr id="7" name="Rectángulo 6">
            <a:extLst>
              <a:ext uri="{FF2B5EF4-FFF2-40B4-BE49-F238E27FC236}">
                <a16:creationId xmlns:a16="http://schemas.microsoft.com/office/drawing/2014/main" id="{D2807B8F-A3CA-46B1-AB8C-C46C5B607C6E}"/>
              </a:ext>
            </a:extLst>
          </p:cNvPr>
          <p:cNvSpPr>
            <a:spLocks noGrp="1"/>
          </p:cNvSpPr>
          <p:nvPr/>
        </p:nvSpPr>
        <p:spPr>
          <a:xfrm>
            <a:off x="6438900" y="2571750"/>
            <a:ext cx="5048250" cy="952500"/>
          </a:xfrm>
          <a:prstGeom prst="rect">
            <a:avLst/>
          </a:prstGeom>
          <a:noFill/>
          <a:ln w="0">
            <a:noFill/>
          </a:ln>
        </p:spPr>
        <p:txBody>
          <a:bodyPr>
            <a:noAutofit/>
          </a:bodyPr>
          <a:lstStyle/>
          <a:p>
            <a:pPr>
              <a:defRPr sz="2175" b="0">
                <a:solidFill>
                  <a:srgbClr val="172F42"/>
                </a:solidFill>
                <a:latin typeface="Arial"/>
                <a:ea typeface="Arial"/>
                <a:cs typeface="Arial"/>
              </a:defRPr>
            </a:pPr>
            <a:r>
              <a:rPr sz="2175" b="0">
                <a:solidFill>
                  <a:srgbClr val="172F42"/>
                </a:solidFill>
                <a:latin typeface="Arial"/>
                <a:ea typeface="Arial"/>
                <a:cs typeface="Arial"/>
              </a:rPr>
              <a:t>Brecha condicional S5</a:t>
            </a:r>
          </a:p>
          <a:p>
            <a:pPr>
              <a:defRPr sz="2175" b="0">
                <a:solidFill>
                  <a:srgbClr val="172F42"/>
                </a:solidFill>
                <a:latin typeface="Arial"/>
                <a:ea typeface="Arial"/>
                <a:cs typeface="Arial"/>
              </a:defRPr>
            </a:pPr>
            <a:r>
              <a:rPr sz="2175" b="0">
                <a:solidFill>
                  <a:srgbClr val="172F42"/>
                </a:solidFill>
                <a:latin typeface="Arial"/>
                <a:ea typeface="Arial"/>
                <a:cs typeface="Arial"/>
              </a:rPr>
              <a:t>Características observadas comunes</a:t>
            </a:r>
          </a:p>
        </p:txBody>
      </p:sp>
      <p:sp>
        <p:nvSpPr>
          <p:cNvPr id="8" name="Rectángulo 7">
            <a:extLst>
              <a:ext uri="{FF2B5EF4-FFF2-40B4-BE49-F238E27FC236}">
                <a16:creationId xmlns:a16="http://schemas.microsoft.com/office/drawing/2014/main" id="{DF19B1F4-2B87-4AB5-9AD9-50272EC01AA2}"/>
              </a:ext>
            </a:extLst>
          </p:cNvPr>
          <p:cNvSpPr>
            <a:spLocks noGrp="1"/>
          </p:cNvSpPr>
          <p:nvPr/>
        </p:nvSpPr>
        <p:spPr>
          <a:xfrm>
            <a:off x="685800" y="4095750"/>
            <a:ext cx="10668000" cy="1285875"/>
          </a:xfrm>
          <a:prstGeom prst="rect">
            <a:avLst/>
          </a:prstGeom>
          <a:noFill/>
          <a:ln w="0">
            <a:noFill/>
          </a:ln>
        </p:spPr>
        <p:txBody>
          <a:bodyPr>
            <a:noAutofit/>
          </a:bodyPr>
          <a:lstStyle/>
          <a:p>
            <a:pPr>
              <a:defRPr sz="2550" b="0">
                <a:solidFill>
                  <a:srgbClr val="172F42"/>
                </a:solidFill>
                <a:latin typeface="Arial"/>
                <a:ea typeface="Arial"/>
                <a:cs typeface="Arial"/>
              </a:defRPr>
            </a:pPr>
            <a:r>
              <a:rPr b="0" dirty="0">
                <a:solidFill>
                  <a:srgbClr val="172F42"/>
                </a:solidFill>
                <a:latin typeface="Arial"/>
                <a:ea typeface="Arial"/>
                <a:cs typeface="Arial"/>
              </a:rPr>
              <a:t>Los </a:t>
            </a:r>
            <a:r>
              <a:rPr b="0" dirty="0" err="1">
                <a:solidFill>
                  <a:srgbClr val="172F42"/>
                </a:solidFill>
                <a:latin typeface="Arial"/>
                <a:ea typeface="Arial"/>
                <a:cs typeface="Arial"/>
              </a:rPr>
              <a:t>controles</a:t>
            </a:r>
            <a:r>
              <a:rPr b="0" dirty="0">
                <a:solidFill>
                  <a:srgbClr val="172F42"/>
                </a:solidFill>
                <a:latin typeface="Arial"/>
                <a:ea typeface="Arial"/>
                <a:cs typeface="Arial"/>
              </a:rPr>
              <a:t> </a:t>
            </a:r>
            <a:r>
              <a:rPr b="0" dirty="0" err="1">
                <a:solidFill>
                  <a:srgbClr val="172F42"/>
                </a:solidFill>
                <a:latin typeface="Arial"/>
                <a:ea typeface="Arial"/>
                <a:cs typeface="Arial"/>
              </a:rPr>
              <a:t>reducen</a:t>
            </a:r>
            <a:r>
              <a:rPr b="0" dirty="0">
                <a:solidFill>
                  <a:srgbClr val="172F42"/>
                </a:solidFill>
                <a:latin typeface="Arial"/>
                <a:ea typeface="Arial"/>
                <a:cs typeface="Arial"/>
              </a:rPr>
              <a:t> la </a:t>
            </a:r>
            <a:r>
              <a:rPr b="0" dirty="0" err="1">
                <a:solidFill>
                  <a:srgbClr val="172F42"/>
                </a:solidFill>
                <a:latin typeface="Arial"/>
                <a:ea typeface="Arial"/>
                <a:cs typeface="Arial"/>
              </a:rPr>
              <a:t>diferencia</a:t>
            </a:r>
            <a:r>
              <a:rPr b="0" dirty="0">
                <a:solidFill>
                  <a:srgbClr val="172F42"/>
                </a:solidFill>
                <a:latin typeface="Arial"/>
                <a:ea typeface="Arial"/>
                <a:cs typeface="Arial"/>
              </a:rPr>
              <a:t>, </a:t>
            </a:r>
            <a:r>
              <a:rPr b="0" dirty="0" err="1">
                <a:solidFill>
                  <a:srgbClr val="172F42"/>
                </a:solidFill>
                <a:latin typeface="Arial"/>
                <a:ea typeface="Arial"/>
                <a:cs typeface="Arial"/>
              </a:rPr>
              <a:t>pero</a:t>
            </a:r>
            <a:r>
              <a:rPr b="0" dirty="0">
                <a:solidFill>
                  <a:srgbClr val="172F42"/>
                </a:solidFill>
                <a:latin typeface="Arial"/>
                <a:ea typeface="Arial"/>
                <a:cs typeface="Arial"/>
              </a:rPr>
              <a:t> no la </a:t>
            </a:r>
            <a:r>
              <a:rPr b="0" dirty="0" err="1">
                <a:solidFill>
                  <a:srgbClr val="172F42"/>
                </a:solidFill>
                <a:latin typeface="Arial"/>
                <a:ea typeface="Arial"/>
                <a:cs typeface="Arial"/>
              </a:rPr>
              <a:t>eliminan</a:t>
            </a:r>
            <a:r>
              <a:rPr b="0" dirty="0">
                <a:solidFill>
                  <a:srgbClr val="172F42"/>
                </a:solidFill>
                <a:latin typeface="Arial"/>
                <a:ea typeface="Arial"/>
                <a:cs typeface="Arial"/>
              </a:rPr>
              <a:t>. Su </a:t>
            </a:r>
            <a:r>
              <a:rPr b="0" dirty="0" err="1">
                <a:solidFill>
                  <a:srgbClr val="172F42"/>
                </a:solidFill>
                <a:latin typeface="Arial"/>
                <a:ea typeface="Arial"/>
                <a:cs typeface="Arial"/>
              </a:rPr>
              <a:t>elección</a:t>
            </a:r>
            <a:r>
              <a:rPr b="0" dirty="0">
                <a:solidFill>
                  <a:srgbClr val="172F42"/>
                </a:solidFill>
                <a:latin typeface="Arial"/>
                <a:ea typeface="Arial"/>
                <a:cs typeface="Arial"/>
              </a:rPr>
              <a:t> </a:t>
            </a:r>
            <a:r>
              <a:rPr b="0" dirty="0" err="1">
                <a:solidFill>
                  <a:srgbClr val="172F42"/>
                </a:solidFill>
                <a:latin typeface="Arial"/>
                <a:ea typeface="Arial"/>
                <a:cs typeface="Arial"/>
              </a:rPr>
              <a:t>determina</a:t>
            </a:r>
            <a:r>
              <a:rPr b="0" dirty="0">
                <a:solidFill>
                  <a:srgbClr val="172F42"/>
                </a:solidFill>
                <a:latin typeface="Arial"/>
                <a:ea typeface="Arial"/>
                <a:cs typeface="Arial"/>
              </a:rPr>
              <a:t> </a:t>
            </a:r>
            <a:r>
              <a:rPr b="0" dirty="0" err="1">
                <a:solidFill>
                  <a:srgbClr val="172F42"/>
                </a:solidFill>
                <a:latin typeface="Arial"/>
                <a:ea typeface="Arial"/>
                <a:cs typeface="Arial"/>
              </a:rPr>
              <a:t>qué</a:t>
            </a:r>
            <a:r>
              <a:rPr b="0" dirty="0">
                <a:solidFill>
                  <a:srgbClr val="172F42"/>
                </a:solidFill>
                <a:latin typeface="Arial"/>
                <a:ea typeface="Arial"/>
                <a:cs typeface="Arial"/>
              </a:rPr>
              <a:t> </a:t>
            </a:r>
            <a:r>
              <a:rPr b="0" dirty="0" err="1">
                <a:solidFill>
                  <a:srgbClr val="172F42"/>
                </a:solidFill>
                <a:latin typeface="Arial"/>
                <a:ea typeface="Arial"/>
                <a:cs typeface="Arial"/>
              </a:rPr>
              <a:t>comparación</a:t>
            </a:r>
            <a:r>
              <a:rPr b="0" dirty="0">
                <a:solidFill>
                  <a:srgbClr val="172F42"/>
                </a:solidFill>
                <a:latin typeface="Arial"/>
                <a:ea typeface="Arial"/>
                <a:cs typeface="Arial"/>
              </a:rPr>
              <a:t> </a:t>
            </a:r>
            <a:r>
              <a:rPr b="0" dirty="0" err="1">
                <a:solidFill>
                  <a:srgbClr val="172F42"/>
                </a:solidFill>
                <a:latin typeface="Arial"/>
                <a:ea typeface="Arial"/>
                <a:cs typeface="Arial"/>
              </a:rPr>
              <a:t>interpretamos</a:t>
            </a:r>
            <a:r>
              <a:rPr b="0" dirty="0">
                <a:solidFill>
                  <a:srgbClr val="172F42"/>
                </a:solidFill>
                <a:latin typeface="Arial"/>
                <a:ea typeface="Arial"/>
                <a:cs typeface="Arial"/>
              </a:rPr>
              <a:t>.</a:t>
            </a:r>
          </a:p>
        </p:txBody>
      </p:sp>
    </p:spTree>
    <p:extLst>
      <p:ext uri="{BB962C8B-B14F-4D97-AF65-F5344CB8AC3E}">
        <p14:creationId xmlns:p14="http://schemas.microsoft.com/office/powerpoint/2010/main" val="19489079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CFCC2144-F3B5-200E-74C7-1B8F2AFDE1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61" y="1074469"/>
            <a:ext cx="12182739" cy="4187995"/>
          </a:xfrm>
          <a:prstGeom prst="rect">
            <a:avLst/>
          </a:prstGeom>
        </p:spPr>
      </p:pic>
    </p:spTree>
    <p:extLst>
      <p:ext uri="{BB962C8B-B14F-4D97-AF65-F5344CB8AC3E}">
        <p14:creationId xmlns:p14="http://schemas.microsoft.com/office/powerpoint/2010/main" val="28670670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CA6F6FB0-4CE6-40D3-8696-EEBFE5671BB8}"/>
              </a:ext>
            </a:extLst>
          </p:cNvPr>
          <p:cNvSpPr>
            <a:spLocks noGrp="1"/>
          </p:cNvSpPr>
          <p:nvPr/>
        </p:nvSpPr>
        <p:spPr>
          <a:xfrm>
            <a:off x="609600" y="333375"/>
            <a:ext cx="10972800" cy="762000"/>
          </a:xfrm>
          <a:prstGeom prst="rect">
            <a:avLst/>
          </a:prstGeom>
          <a:noFill/>
          <a:ln w="0">
            <a:noFill/>
          </a:ln>
        </p:spPr>
        <p:txBody>
          <a:bodyPr>
            <a:noAutofit/>
          </a:bodyPr>
          <a:lstStyle/>
          <a:p>
            <a:pPr>
              <a:defRPr sz="3150" b="1">
                <a:solidFill>
                  <a:srgbClr val="172F42"/>
                </a:solidFill>
                <a:latin typeface="Arial"/>
                <a:ea typeface="Arial"/>
                <a:cs typeface="Arial"/>
              </a:defRPr>
            </a:pPr>
            <a:r>
              <a:rPr sz="3150" b="1">
                <a:solidFill>
                  <a:srgbClr val="172F42"/>
                </a:solidFill>
                <a:latin typeface="Arial"/>
                <a:ea typeface="Arial"/>
                <a:cs typeface="Arial"/>
              </a:rPr>
              <a:t>Anexo: muestra y población representada</a:t>
            </a:r>
          </a:p>
        </p:txBody>
      </p:sp>
      <p:sp>
        <p:nvSpPr>
          <p:cNvPr id="2" name="Rectángulo 1">
            <a:extLst>
              <a:ext uri="{FF2B5EF4-FFF2-40B4-BE49-F238E27FC236}">
                <a16:creationId xmlns:a16="http://schemas.microsoft.com/office/drawing/2014/main" id="{7C413B90-7588-4DA8-BAC9-DC63D5E5B460}"/>
              </a:ext>
            </a:extLst>
          </p:cNvPr>
          <p:cNvSpPr>
            <a:spLocks noGrp="1"/>
          </p:cNvSpPr>
          <p:nvPr/>
        </p:nvSpPr>
        <p:spPr>
          <a:xfrm>
            <a:off x="609600" y="6210300"/>
            <a:ext cx="10287000" cy="457200"/>
          </a:xfrm>
          <a:prstGeom prst="rect">
            <a:avLst/>
          </a:prstGeom>
          <a:noFill/>
          <a:ln w="0">
            <a:noFill/>
          </a:ln>
        </p:spPr>
        <p:txBody>
          <a:bodyPr>
            <a:noAutofit/>
          </a:bodyPr>
          <a:lstStyle/>
          <a:p>
            <a:pPr>
              <a:defRPr sz="1125" b="0">
                <a:solidFill>
                  <a:srgbClr val="526471"/>
                </a:solidFill>
                <a:latin typeface="Arial"/>
                <a:ea typeface="Arial"/>
                <a:cs typeface="Arial"/>
              </a:defRPr>
            </a:pPr>
            <a:r>
              <a:rPr sz="1125" b="0">
                <a:solidFill>
                  <a:srgbClr val="526471"/>
                </a:solidFill>
                <a:latin typeface="Arial"/>
                <a:ea typeface="Arial"/>
                <a:cs typeface="Arial"/>
              </a:rPr>
              <a:t>n = 14.764. Población representada ≈ 3.686.676 personas. Fuente: GEIH 2018, Bogotá.</a:t>
            </a:r>
          </a:p>
        </p:txBody>
      </p:sp>
      <p:sp>
        <p:nvSpPr>
          <p:cNvPr id="3" name="Rectángulo 2">
            <a:extLst>
              <a:ext uri="{FF2B5EF4-FFF2-40B4-BE49-F238E27FC236}">
                <a16:creationId xmlns:a16="http://schemas.microsoft.com/office/drawing/2014/main" id="{3AEAD05E-B12A-4BE4-9FD8-478F4477DC4F}"/>
              </a:ext>
            </a:extLst>
          </p:cNvPr>
          <p:cNvSpPr>
            <a:spLocks noGrp="1"/>
          </p:cNvSpPr>
          <p:nvPr/>
        </p:nvSpPr>
        <p:spPr>
          <a:xfrm>
            <a:off x="11144250" y="6343650"/>
            <a:ext cx="419100" cy="247650"/>
          </a:xfrm>
          <a:prstGeom prst="rect">
            <a:avLst/>
          </a:prstGeom>
          <a:noFill/>
          <a:ln w="0">
            <a:noFill/>
          </a:ln>
        </p:spPr>
        <p:txBody>
          <a:bodyPr>
            <a:noAutofit/>
          </a:bodyPr>
          <a:lstStyle/>
          <a:p>
            <a:pPr>
              <a:defRPr sz="1200" b="0">
                <a:solidFill>
                  <a:srgbClr val="526471"/>
                </a:solidFill>
                <a:latin typeface="Arial"/>
                <a:ea typeface="Arial"/>
                <a:cs typeface="Arial"/>
              </a:defRPr>
            </a:pPr>
            <a:r>
              <a:rPr sz="1200" b="0">
                <a:solidFill>
                  <a:srgbClr val="526471"/>
                </a:solidFill>
                <a:latin typeface="Arial"/>
                <a:ea typeface="Arial"/>
                <a:cs typeface="Arial"/>
              </a:rPr>
              <a:t>3</a:t>
            </a:r>
          </a:p>
        </p:txBody>
      </p:sp>
      <mc:AlternateContent xmlns:mc="http://schemas.openxmlformats.org/markup-compatibility/2006" xmlns:a14="http://schemas.microsoft.com/office/drawing/2010/main">
        <mc:Choice Requires="a14">
          <p:sp>
            <p:nvSpPr>
              <p:cNvPr id="4" name="EQ_age_10_6">
                <a:extLst>
                  <a:ext uri="{FF2B5EF4-FFF2-40B4-BE49-F238E27FC236}">
                    <a16:creationId xmlns:a16="http://schemas.microsoft.com/office/drawing/2014/main" id="{BB626DA8-06B5-4347-8161-2E3FA276E00B}"/>
                  </a:ext>
                </a:extLst>
              </p:cNvPr>
              <p:cNvSpPr>
                <a:spLocks noGrp="1"/>
              </p:cNvSpPr>
              <p:nvPr/>
            </p:nvSpPr>
            <p:spPr>
              <a:xfrm>
                <a:off x="685800" y="1190625"/>
                <a:ext cx="10763250" cy="809625"/>
              </a:xfrm>
              <a:prstGeom prst="rect">
                <a:avLst/>
              </a:prstGeom>
              <a:noFill/>
              <a:ln w="0">
                <a:noFill/>
              </a:ln>
            </p:spPr>
            <p:txBody>
              <a:bodyPr/>
              <a:lstStyle/>
              <a:p>
                <a:pPr algn="l"/>
                <a14:m>
                  <m:oMathPara xmlns:m="http://schemas.openxmlformats.org/officeDocument/2006/math">
                    <m:oMath>
                      <m:r>
                        <a:rPr>
                          <a:latin typeface="Cambria Math" panose="02040503050406030204" pitchFamily="18" charset="0"/>
                        </a:rPr>
                        <m:t>𝑛</m:t>
                      </m:r>
                      <m:r>
                        <a:rPr>
                          <a:latin typeface="Cambria Math" panose="02040503050406030204" pitchFamily="18" charset="0"/>
                        </a:rPr>
                        <m:t>=</m:t>
                      </m:r>
                      <m:nary>
                        <m:naryPr>
                          <m:chr m:val="∑"/>
                          <m:limLoc m:val="subSup"/>
                          <m:grow m:val="on"/>
                          <m:supHide m:val="on"/>
                          <m:ctrlPr>
                            <a:rPr>
                              <a:latin typeface="Cambria Math" panose="02040503050406030204" pitchFamily="18" charset="0"/>
                            </a:rPr>
                          </m:ctrlPr>
                        </m:naryPr>
                        <m:sub>
                          <m:r>
                            <a:rPr>
                              <a:latin typeface="Cambria Math" panose="02040503050406030204" pitchFamily="18" charset="0"/>
                            </a:rPr>
                            <m:t>𝑖</m:t>
                          </m:r>
                        </m:sub>
                        <m:sup/>
                        <m:e>
                          <m:r>
                            <a:rPr>
                              <a:latin typeface="Cambria Math" panose="02040503050406030204" pitchFamily="18" charset="0"/>
                            </a:rPr>
                            <m:t>1,</m:t>
                          </m:r>
                          <m:r>
                            <m:rPr>
                              <m:nor/>
                            </m:rPr>
                            <a:rPr i="0"/>
                            <m:t> </m:t>
                          </m:r>
                        </m:e>
                      </m:nary>
                      <m:acc>
                        <m:accPr>
                          <m:chr m:val="ˆ"/>
                          <m:ctrlPr>
                            <a:rPr>
                              <a:latin typeface="Cambria Math" panose="02040503050406030204" pitchFamily="18" charset="0"/>
                            </a:rPr>
                          </m:ctrlPr>
                        </m:accPr>
                        <m:e>
                          <m:r>
                            <a:rPr>
                              <a:latin typeface="Cambria Math" panose="02040503050406030204" pitchFamily="18" charset="0"/>
                            </a:rPr>
                            <m:t>𝑁</m:t>
                          </m:r>
                        </m:e>
                      </m:acc>
                      <m:r>
                        <a:rPr>
                          <a:latin typeface="Cambria Math" panose="02040503050406030204" pitchFamily="18" charset="0"/>
                        </a:rPr>
                        <m:t>=</m:t>
                      </m:r>
                      <m:nary>
                        <m:naryPr>
                          <m:chr m:val="∑"/>
                          <m:limLoc m:val="subSup"/>
                          <m:grow m:val="on"/>
                          <m:supHide m:val="on"/>
                          <m:ctrlPr>
                            <a:rPr>
                              <a:latin typeface="Cambria Math" panose="02040503050406030204" pitchFamily="18" charset="0"/>
                            </a:rPr>
                          </m:ctrlPr>
                        </m:naryPr>
                        <m:sub>
                          <m:r>
                            <a:rPr>
                              <a:latin typeface="Cambria Math" panose="02040503050406030204" pitchFamily="18" charset="0"/>
                            </a:rPr>
                            <m:t>𝑖</m:t>
                          </m:r>
                        </m:sub>
                        <m:sup/>
                        <m:e>
                          <m:sSub>
                            <m:sSubPr>
                              <m:ctrlPr>
                                <a:rPr>
                                  <a:latin typeface="Cambria Math" panose="02040503050406030204" pitchFamily="18" charset="0"/>
                                </a:rPr>
                              </m:ctrlPr>
                            </m:sSubPr>
                            <m:e>
                              <m:r>
                                <a:rPr>
                                  <a:latin typeface="Cambria Math" panose="02040503050406030204" pitchFamily="18" charset="0"/>
                                </a:rPr>
                                <m:t>𝑤</m:t>
                              </m:r>
                            </m:e>
                            <m:sub>
                              <m:r>
                                <a:rPr>
                                  <a:latin typeface="Cambria Math" panose="02040503050406030204" pitchFamily="18" charset="0"/>
                                </a:rPr>
                                <m:t>𝑖</m:t>
                              </m:r>
                            </m:sub>
                          </m:sSub>
                        </m:e>
                      </m:nary>
                      <m:r>
                        <a:rPr>
                          <a:latin typeface="Cambria Math" panose="02040503050406030204" pitchFamily="18" charset="0"/>
                        </a:rPr>
                        <m:t>,</m:t>
                      </m:r>
                      <m:r>
                        <m:rPr>
                          <m:nor/>
                        </m:rPr>
                        <a:rPr i="0"/>
                        <m:t> </m:t>
                      </m:r>
                      <m:sSub>
                        <m:sSubPr>
                          <m:ctrlPr>
                            <a:rPr>
                              <a:latin typeface="Cambria Math" panose="02040503050406030204" pitchFamily="18" charset="0"/>
                            </a:rPr>
                          </m:ctrlPr>
                        </m:sSubPr>
                        <m:e>
                          <m:r>
                            <a:rPr>
                              <a:latin typeface="Cambria Math" panose="02040503050406030204" pitchFamily="18" charset="0"/>
                            </a:rPr>
                            <m:t>𝑤</m:t>
                          </m:r>
                        </m:e>
                        <m:sub>
                          <m:r>
                            <a:rPr>
                              <a:latin typeface="Cambria Math" panose="02040503050406030204" pitchFamily="18" charset="0"/>
                            </a:rPr>
                            <m:t>𝑖</m:t>
                          </m:r>
                        </m:sub>
                      </m:sSub>
                      <m:r>
                        <a:rPr>
                          <a:latin typeface="Cambria Math" panose="02040503050406030204" pitchFamily="18" charset="0"/>
                        </a:rPr>
                        <m:t>=</m:t>
                      </m:r>
                      <m:sSub>
                        <m:sSubPr>
                          <m:ctrlPr>
                            <a:rPr>
                              <a:latin typeface="Cambria Math" panose="02040503050406030204" pitchFamily="18" charset="0"/>
                            </a:rPr>
                          </m:ctrlPr>
                        </m:sSubPr>
                        <m:e>
                          <m:r>
                            <m:rPr>
                              <m:sty m:val="p"/>
                            </m:rPr>
                            <a:rPr>
                              <a:latin typeface="Cambria Math" panose="02040503050406030204" pitchFamily="18" charset="0"/>
                            </a:rPr>
                            <m:t>fex</m:t>
                          </m:r>
                          <m:r>
                            <a:rPr>
                              <a:latin typeface="Cambria Math" panose="02040503050406030204" pitchFamily="18" charset="0"/>
                            </a:rPr>
                            <m:t>_</m:t>
                          </m:r>
                          <m:r>
                            <m:rPr>
                              <m:sty m:val="p"/>
                            </m:rPr>
                            <a:rPr>
                              <a:latin typeface="Cambria Math" panose="02040503050406030204" pitchFamily="18" charset="0"/>
                            </a:rPr>
                            <m:t>c</m:t>
                          </m:r>
                        </m:e>
                        <m:sub>
                          <m:r>
                            <a:rPr>
                              <a:latin typeface="Cambria Math" panose="02040503050406030204" pitchFamily="18" charset="0"/>
                            </a:rPr>
                            <m:t>𝑖</m:t>
                          </m:r>
                        </m:sub>
                      </m:sSub>
                    </m:oMath>
                  </m:oMathPara>
                </a14:m>
                <a:endParaRPr sz="2800"/>
              </a:p>
            </p:txBody>
          </p:sp>
        </mc:Choice>
        <mc:Fallback xmlns="">
          <p:sp>
            <p:nvSpPr>
              <p:cNvPr id="4" name="EQ_age_10_6">
                <a:extLst>
                  <a:ext uri="{FF2B5EF4-FFF2-40B4-BE49-F238E27FC236}">
                    <a16:creationId xmlns:a16="http://schemas.microsoft.com/office/drawing/2014/main" id="{BB626DA8-06B5-4347-8161-2E3FA276E00B}"/>
                  </a:ext>
                </a:extLst>
              </p:cNvPr>
              <p:cNvSpPr>
                <a:spLocks noGrp="1" noRot="1" noChangeAspect="1" noMove="1" noResize="1" noEditPoints="1" noAdjustHandles="1" noChangeArrowheads="1" noChangeShapeType="1" noTextEdit="1"/>
              </p:cNvSpPr>
              <p:nvPr/>
            </p:nvSpPr>
            <p:spPr>
              <a:xfrm>
                <a:off x="685800" y="1190625"/>
                <a:ext cx="10763250" cy="809625"/>
              </a:xfrm>
              <a:prstGeom prst="rect">
                <a:avLst/>
              </a:prstGeom>
              <a:blipFill>
                <a:blip r:embed="rId3"/>
                <a:stretch>
                  <a:fillRect/>
                </a:stretch>
              </a:blipFill>
              <a:ln w="0">
                <a:noFill/>
              </a:ln>
            </p:spPr>
            <p:txBody>
              <a:bodyPr/>
              <a:lstStyle/>
              <a:p>
                <a:r>
                  <a:rPr lang="es-CO">
                    <a:noFill/>
                  </a:rPr>
                  <a:t> </a:t>
                </a:r>
              </a:p>
            </p:txBody>
          </p:sp>
        </mc:Fallback>
      </mc:AlternateContent>
      <p:graphicFrame>
        <p:nvGraphicFramePr>
          <p:cNvPr id="11" name="Tabla 10"/>
          <p:cNvGraphicFramePr/>
          <p:nvPr/>
        </p:nvGraphicFramePr>
        <p:xfrm>
          <a:off x="609600" y="2476500"/>
          <a:ext cx="10972800" cy="2333624"/>
        </p:xfrm>
        <a:graphic>
          <a:graphicData uri="http://schemas.openxmlformats.org/drawingml/2006/table">
            <a:tbl>
              <a:tblPr/>
              <a:tblGrid>
                <a:gridCol w="5334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3352800">
                  <a:extLst>
                    <a:ext uri="{9D8B030D-6E8A-4147-A177-3AD203B41FA5}">
                      <a16:colId xmlns:a16="http://schemas.microsoft.com/office/drawing/2014/main" val="20002"/>
                    </a:ext>
                  </a:extLst>
                </a:gridCol>
              </a:tblGrid>
              <a:tr h="583406">
                <a:tc>
                  <a:txBody>
                    <a:bodyPr/>
                    <a:lstStyle/>
                    <a:p>
                      <a:r>
                        <a:rPr sz="1875" b="0">
                          <a:solidFill>
                            <a:srgbClr val="172F42"/>
                          </a:solidFill>
                          <a:latin typeface="Arial"/>
                          <a:ea typeface="Arial"/>
                          <a:cs typeface="Arial"/>
                        </a:rPr>
                        <a:t>Población cubierta</a:t>
                      </a:r>
                    </a:p>
                  </a:txBody>
                  <a:tcPr marL="95250" marR="95250" marT="57150" marB="57150">
                    <a:solidFill>
                      <a:srgbClr val="EDF3F7"/>
                    </a:solidFill>
                  </a:tcPr>
                </a:tc>
                <a:tc>
                  <a:txBody>
                    <a:bodyPr/>
                    <a:lstStyle/>
                    <a:p>
                      <a:r>
                        <a:rPr sz="1875" b="0">
                          <a:solidFill>
                            <a:srgbClr val="172F42"/>
                          </a:solidFill>
                          <a:latin typeface="Arial"/>
                          <a:ea typeface="Arial"/>
                          <a:cs typeface="Arial"/>
                        </a:rPr>
                        <a:t>Registros</a:t>
                      </a:r>
                    </a:p>
                  </a:txBody>
                  <a:tcPr marL="95250" marR="95250" marT="57150" marB="57150">
                    <a:solidFill>
                      <a:srgbClr val="EDF3F7"/>
                    </a:solidFill>
                  </a:tcPr>
                </a:tc>
                <a:tc>
                  <a:txBody>
                    <a:bodyPr/>
                    <a:lstStyle/>
                    <a:p>
                      <a:r>
                        <a:rPr sz="1875" b="0">
                          <a:solidFill>
                            <a:srgbClr val="172F42"/>
                          </a:solidFill>
                          <a:latin typeface="Arial"/>
                          <a:ea typeface="Arial"/>
                          <a:cs typeface="Arial"/>
                        </a:rPr>
                        <a:t>Personas representadas</a:t>
                      </a:r>
                    </a:p>
                  </a:txBody>
                  <a:tcPr marL="95250" marR="95250" marT="57150" marB="57150">
                    <a:solidFill>
                      <a:srgbClr val="EDF3F7"/>
                    </a:solidFill>
                  </a:tcPr>
                </a:tc>
                <a:extLst>
                  <a:ext uri="{0D108BD9-81ED-4DB2-BD59-A6C34878D82A}">
                    <a16:rowId xmlns:a16="http://schemas.microsoft.com/office/drawing/2014/main" val="10000"/>
                  </a:ext>
                </a:extLst>
              </a:tr>
              <a:tr h="583406">
                <a:tc>
                  <a:txBody>
                    <a:bodyPr/>
                    <a:lstStyle/>
                    <a:p>
                      <a:r>
                        <a:rPr sz="1875" b="0">
                          <a:solidFill>
                            <a:srgbClr val="172F42"/>
                          </a:solidFill>
                          <a:latin typeface="Arial"/>
                          <a:ea typeface="Arial"/>
                          <a:cs typeface="Arial"/>
                        </a:rPr>
                        <a:t>Base consolidada</a:t>
                      </a:r>
                    </a:p>
                  </a:txBody>
                  <a:tcPr marL="95250" marR="95250" marT="57150" marB="57150">
                    <a:solidFill>
                      <a:srgbClr val="FFFFFF"/>
                    </a:solidFill>
                  </a:tcPr>
                </a:tc>
                <a:tc>
                  <a:txBody>
                    <a:bodyPr/>
                    <a:lstStyle/>
                    <a:p>
                      <a:r>
                        <a:rPr sz="1875" b="0" dirty="0">
                          <a:solidFill>
                            <a:srgbClr val="172F42"/>
                          </a:solidFill>
                          <a:latin typeface="Arial"/>
                          <a:ea typeface="Arial"/>
                          <a:cs typeface="Arial"/>
                        </a:rPr>
                        <a:t>32.177</a:t>
                      </a:r>
                    </a:p>
                  </a:txBody>
                  <a:tcPr marL="95250" marR="95250" marT="57150" marB="57150">
                    <a:solidFill>
                      <a:srgbClr val="FFFFFF"/>
                    </a:solidFill>
                  </a:tcPr>
                </a:tc>
                <a:tc>
                  <a:txBody>
                    <a:bodyPr/>
                    <a:lstStyle/>
                    <a:p>
                      <a:r>
                        <a:rPr sz="1875" b="0" dirty="0">
                          <a:solidFill>
                            <a:srgbClr val="172F42"/>
                          </a:solidFill>
                          <a:latin typeface="Arial"/>
                          <a:ea typeface="Arial"/>
                          <a:cs typeface="Arial"/>
                        </a:rPr>
                        <a:t>8.164.164</a:t>
                      </a:r>
                    </a:p>
                  </a:txBody>
                  <a:tcPr marL="95250" marR="95250" marT="57150" marB="57150">
                    <a:solidFill>
                      <a:srgbClr val="FFFFFF"/>
                    </a:solidFill>
                  </a:tcPr>
                </a:tc>
                <a:extLst>
                  <a:ext uri="{0D108BD9-81ED-4DB2-BD59-A6C34878D82A}">
                    <a16:rowId xmlns:a16="http://schemas.microsoft.com/office/drawing/2014/main" val="10001"/>
                  </a:ext>
                </a:extLst>
              </a:tr>
              <a:tr h="583406">
                <a:tc>
                  <a:txBody>
                    <a:bodyPr/>
                    <a:lstStyle/>
                    <a:p>
                      <a:r>
                        <a:rPr sz="1875" b="0" dirty="0" err="1">
                          <a:solidFill>
                            <a:srgbClr val="172F42"/>
                          </a:solidFill>
                          <a:latin typeface="Arial"/>
                          <a:ea typeface="Arial"/>
                          <a:cs typeface="Arial"/>
                        </a:rPr>
                        <a:t>Ocupados</a:t>
                      </a:r>
                      <a:r>
                        <a:rPr sz="1875" b="0" dirty="0">
                          <a:solidFill>
                            <a:srgbClr val="172F42"/>
                          </a:solidFill>
                          <a:latin typeface="Arial"/>
                          <a:ea typeface="Arial"/>
                          <a:cs typeface="Arial"/>
                        </a:rPr>
                        <a:t> de 18 </a:t>
                      </a:r>
                      <a:r>
                        <a:rPr sz="1875" b="0" dirty="0" err="1">
                          <a:solidFill>
                            <a:srgbClr val="172F42"/>
                          </a:solidFill>
                          <a:latin typeface="Arial"/>
                          <a:ea typeface="Arial"/>
                          <a:cs typeface="Arial"/>
                        </a:rPr>
                        <a:t>años</a:t>
                      </a:r>
                      <a:r>
                        <a:rPr sz="1875" b="0" dirty="0">
                          <a:solidFill>
                            <a:srgbClr val="172F42"/>
                          </a:solidFill>
                          <a:latin typeface="Arial"/>
                          <a:ea typeface="Arial"/>
                          <a:cs typeface="Arial"/>
                        </a:rPr>
                        <a:t> o </a:t>
                      </a:r>
                      <a:r>
                        <a:rPr sz="1875" b="0" dirty="0" err="1">
                          <a:solidFill>
                            <a:srgbClr val="172F42"/>
                          </a:solidFill>
                          <a:latin typeface="Arial"/>
                          <a:ea typeface="Arial"/>
                          <a:cs typeface="Arial"/>
                        </a:rPr>
                        <a:t>más</a:t>
                      </a:r>
                      <a:endParaRPr sz="1875" b="0" dirty="0">
                        <a:solidFill>
                          <a:srgbClr val="172F42"/>
                        </a:solidFill>
                        <a:latin typeface="Arial"/>
                        <a:ea typeface="Arial"/>
                        <a:cs typeface="Arial"/>
                      </a:endParaRPr>
                    </a:p>
                  </a:txBody>
                  <a:tcPr marL="95250" marR="95250" marT="57150" marB="57150">
                    <a:solidFill>
                      <a:srgbClr val="FFFFFF"/>
                    </a:solidFill>
                  </a:tcPr>
                </a:tc>
                <a:tc>
                  <a:txBody>
                    <a:bodyPr/>
                    <a:lstStyle/>
                    <a:p>
                      <a:r>
                        <a:rPr sz="1875" b="0">
                          <a:solidFill>
                            <a:srgbClr val="172F42"/>
                          </a:solidFill>
                          <a:latin typeface="Arial"/>
                          <a:ea typeface="Arial"/>
                          <a:cs typeface="Arial"/>
                        </a:rPr>
                        <a:t>16.542</a:t>
                      </a:r>
                    </a:p>
                  </a:txBody>
                  <a:tcPr marL="95250" marR="95250" marT="57150" marB="57150">
                    <a:solidFill>
                      <a:srgbClr val="FFFFFF"/>
                    </a:solidFill>
                  </a:tcPr>
                </a:tc>
                <a:tc>
                  <a:txBody>
                    <a:bodyPr/>
                    <a:lstStyle/>
                    <a:p>
                      <a:r>
                        <a:rPr sz="1875" b="0">
                          <a:solidFill>
                            <a:srgbClr val="172F42"/>
                          </a:solidFill>
                          <a:latin typeface="Arial"/>
                          <a:ea typeface="Arial"/>
                          <a:cs typeface="Arial"/>
                        </a:rPr>
                        <a:t>4.120.583</a:t>
                      </a:r>
                    </a:p>
                  </a:txBody>
                  <a:tcPr marL="95250" marR="95250" marT="57150" marB="57150">
                    <a:solidFill>
                      <a:srgbClr val="FFFFFF"/>
                    </a:solidFill>
                  </a:tcPr>
                </a:tc>
                <a:extLst>
                  <a:ext uri="{0D108BD9-81ED-4DB2-BD59-A6C34878D82A}">
                    <a16:rowId xmlns:a16="http://schemas.microsoft.com/office/drawing/2014/main" val="10002"/>
                  </a:ext>
                </a:extLst>
              </a:tr>
              <a:tr h="583406">
                <a:tc>
                  <a:txBody>
                    <a:bodyPr/>
                    <a:lstStyle/>
                    <a:p>
                      <a:r>
                        <a:rPr sz="1875" b="0">
                          <a:solidFill>
                            <a:srgbClr val="172F42"/>
                          </a:solidFill>
                          <a:latin typeface="Arial"/>
                          <a:ea typeface="Arial"/>
                          <a:cs typeface="Arial"/>
                        </a:rPr>
                        <a:t>Ingreso positivo observado</a:t>
                      </a:r>
                    </a:p>
                  </a:txBody>
                  <a:tcPr marL="95250" marR="95250" marT="57150" marB="57150">
                    <a:solidFill>
                      <a:srgbClr val="FFFFFF"/>
                    </a:solidFill>
                  </a:tcPr>
                </a:tc>
                <a:tc>
                  <a:txBody>
                    <a:bodyPr/>
                    <a:lstStyle/>
                    <a:p>
                      <a:r>
                        <a:rPr sz="1875" b="0" dirty="0">
                          <a:solidFill>
                            <a:srgbClr val="172F42"/>
                          </a:solidFill>
                          <a:latin typeface="Arial"/>
                          <a:ea typeface="Arial"/>
                          <a:cs typeface="Arial"/>
                        </a:rPr>
                        <a:t>14.764</a:t>
                      </a:r>
                    </a:p>
                  </a:txBody>
                  <a:tcPr marL="95250" marR="95250" marT="57150" marB="57150">
                    <a:solidFill>
                      <a:srgbClr val="FFFFFF"/>
                    </a:solidFill>
                  </a:tcPr>
                </a:tc>
                <a:tc>
                  <a:txBody>
                    <a:bodyPr/>
                    <a:lstStyle/>
                    <a:p>
                      <a:r>
                        <a:rPr sz="1875" b="0" dirty="0">
                          <a:solidFill>
                            <a:srgbClr val="172F42"/>
                          </a:solidFill>
                          <a:latin typeface="Arial"/>
                          <a:ea typeface="Arial"/>
                          <a:cs typeface="Arial"/>
                        </a:rPr>
                        <a:t>3.686.676</a:t>
                      </a:r>
                    </a:p>
                  </a:txBody>
                  <a:tcPr marL="95250" marR="95250" marT="57150" marB="57150">
                    <a:solidFill>
                      <a:srgbClr val="FFFFFF"/>
                    </a:solidFill>
                  </a:tcPr>
                </a:tc>
                <a:extLst>
                  <a:ext uri="{0D108BD9-81ED-4DB2-BD59-A6C34878D82A}">
                    <a16:rowId xmlns:a16="http://schemas.microsoft.com/office/drawing/2014/main" val="10003"/>
                  </a:ext>
                </a:extLst>
              </a:tr>
            </a:tbl>
          </a:graphicData>
        </a:graphic>
      </p:graphicFrame>
      <p:sp>
        <p:nvSpPr>
          <p:cNvPr id="6" name="Rectángulo 5">
            <a:extLst>
              <a:ext uri="{FF2B5EF4-FFF2-40B4-BE49-F238E27FC236}">
                <a16:creationId xmlns:a16="http://schemas.microsoft.com/office/drawing/2014/main" id="{0434FEBC-EE36-42BD-8739-0EE1AF044DE7}"/>
              </a:ext>
            </a:extLst>
          </p:cNvPr>
          <p:cNvSpPr>
            <a:spLocks noGrp="1"/>
          </p:cNvSpPr>
          <p:nvPr/>
        </p:nvSpPr>
        <p:spPr>
          <a:xfrm>
            <a:off x="685800" y="5191125"/>
            <a:ext cx="10763250" cy="733425"/>
          </a:xfrm>
          <a:prstGeom prst="rect">
            <a:avLst/>
          </a:prstGeom>
          <a:noFill/>
          <a:ln w="0">
            <a:noFill/>
          </a:ln>
        </p:spPr>
        <p:txBody>
          <a:bodyPr>
            <a:noAutofit/>
          </a:bodyPr>
          <a:lstStyle/>
          <a:p>
            <a:pPr>
              <a:defRPr sz="1875" b="0">
                <a:solidFill>
                  <a:srgbClr val="172F42"/>
                </a:solidFill>
                <a:latin typeface="Arial"/>
                <a:ea typeface="Arial"/>
                <a:cs typeface="Arial"/>
              </a:defRPr>
            </a:pPr>
            <a:r>
              <a:rPr sz="1875" b="0">
                <a:solidFill>
                  <a:srgbClr val="172F42"/>
                </a:solidFill>
                <a:latin typeface="Arial"/>
                <a:ea typeface="Arial"/>
                <a:cs typeface="Arial"/>
              </a:rPr>
              <a:t>IC del total: no estimable con el diseño disponible. Faltan estratos, conglomerados completos o pesos replicados.</a:t>
            </a:r>
          </a:p>
        </p:txBody>
      </p:sp>
    </p:spTree>
    <p:extLst>
      <p:ext uri="{BB962C8B-B14F-4D97-AF65-F5344CB8AC3E}">
        <p14:creationId xmlns:p14="http://schemas.microsoft.com/office/powerpoint/2010/main" val="2616220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9431B43C-9E68-4773-981E-941795EE25F6}"/>
              </a:ext>
            </a:extLst>
          </p:cNvPr>
          <p:cNvSpPr>
            <a:spLocks noGrp="1"/>
          </p:cNvSpPr>
          <p:nvPr/>
        </p:nvSpPr>
        <p:spPr>
          <a:xfrm>
            <a:off x="609600" y="333375"/>
            <a:ext cx="10972800" cy="762000"/>
          </a:xfrm>
          <a:prstGeom prst="rect">
            <a:avLst/>
          </a:prstGeom>
          <a:noFill/>
          <a:ln w="0">
            <a:noFill/>
          </a:ln>
        </p:spPr>
        <p:txBody>
          <a:bodyPr>
            <a:noAutofit/>
          </a:bodyPr>
          <a:lstStyle/>
          <a:p>
            <a:pPr>
              <a:defRPr sz="3150" b="1">
                <a:solidFill>
                  <a:srgbClr val="172F42"/>
                </a:solidFill>
                <a:latin typeface="Arial"/>
                <a:ea typeface="Arial"/>
                <a:cs typeface="Arial"/>
              </a:defRPr>
            </a:pPr>
            <a:r>
              <a:rPr sz="3150" b="1">
                <a:solidFill>
                  <a:srgbClr val="172F42"/>
                </a:solidFill>
                <a:latin typeface="Arial"/>
                <a:ea typeface="Arial"/>
                <a:cs typeface="Arial"/>
              </a:rPr>
              <a:t>Educación y horas motivan controles distintos</a:t>
            </a:r>
          </a:p>
        </p:txBody>
      </p:sp>
      <p:sp>
        <p:nvSpPr>
          <p:cNvPr id="2" name="Rectángulo 1">
            <a:extLst>
              <a:ext uri="{FF2B5EF4-FFF2-40B4-BE49-F238E27FC236}">
                <a16:creationId xmlns:a16="http://schemas.microsoft.com/office/drawing/2014/main" id="{C064DDEE-ABC4-4A7F-A71C-45A28AE2F9F8}"/>
              </a:ext>
            </a:extLst>
          </p:cNvPr>
          <p:cNvSpPr>
            <a:spLocks noGrp="1"/>
          </p:cNvSpPr>
          <p:nvPr/>
        </p:nvSpPr>
        <p:spPr>
          <a:xfrm>
            <a:off x="609600" y="6210300"/>
            <a:ext cx="10287000" cy="457200"/>
          </a:xfrm>
          <a:prstGeom prst="rect">
            <a:avLst/>
          </a:prstGeom>
          <a:noFill/>
          <a:ln w="0">
            <a:noFill/>
          </a:ln>
        </p:spPr>
        <p:txBody>
          <a:bodyPr>
            <a:noAutofit/>
          </a:bodyPr>
          <a:lstStyle/>
          <a:p>
            <a:pPr>
              <a:defRPr sz="1125" b="0">
                <a:solidFill>
                  <a:srgbClr val="526471"/>
                </a:solidFill>
                <a:latin typeface="Arial"/>
                <a:ea typeface="Arial"/>
                <a:cs typeface="Arial"/>
              </a:defRPr>
            </a:pPr>
            <a:r>
              <a:rPr sz="1125" b="0">
                <a:solidFill>
                  <a:srgbClr val="526471"/>
                </a:solidFill>
                <a:latin typeface="Arial"/>
                <a:ea typeface="Arial"/>
                <a:cs typeface="Arial"/>
              </a:rPr>
              <a:t>n = 14.763. Población representada ≈ 3.686.406 personas. Fuente: GEIH 2018, Bogotá.</a:t>
            </a:r>
          </a:p>
        </p:txBody>
      </p:sp>
      <p:sp>
        <p:nvSpPr>
          <p:cNvPr id="3" name="Rectángulo 2">
            <a:extLst>
              <a:ext uri="{FF2B5EF4-FFF2-40B4-BE49-F238E27FC236}">
                <a16:creationId xmlns:a16="http://schemas.microsoft.com/office/drawing/2014/main" id="{C768D771-9095-4B2C-AFF4-214C1407ACF1}"/>
              </a:ext>
            </a:extLst>
          </p:cNvPr>
          <p:cNvSpPr>
            <a:spLocks noGrp="1"/>
          </p:cNvSpPr>
          <p:nvPr/>
        </p:nvSpPr>
        <p:spPr>
          <a:xfrm>
            <a:off x="11144250" y="6343650"/>
            <a:ext cx="419100" cy="247650"/>
          </a:xfrm>
          <a:prstGeom prst="rect">
            <a:avLst/>
          </a:prstGeom>
          <a:noFill/>
          <a:ln w="0">
            <a:noFill/>
          </a:ln>
        </p:spPr>
        <p:txBody>
          <a:bodyPr>
            <a:noAutofit/>
          </a:bodyPr>
          <a:lstStyle/>
          <a:p>
            <a:pPr>
              <a:defRPr sz="1200" b="0">
                <a:solidFill>
                  <a:srgbClr val="526471"/>
                </a:solidFill>
                <a:latin typeface="Arial"/>
                <a:ea typeface="Arial"/>
                <a:cs typeface="Arial"/>
              </a:defRPr>
            </a:pPr>
            <a:r>
              <a:rPr sz="1200" b="0">
                <a:solidFill>
                  <a:srgbClr val="526471"/>
                </a:solidFill>
                <a:latin typeface="Arial"/>
                <a:ea typeface="Arial"/>
                <a:cs typeface="Arial"/>
              </a:rPr>
              <a:t>4</a:t>
            </a:r>
          </a:p>
        </p:txBody>
      </p:sp>
      <p:graphicFrame>
        <p:nvGraphicFramePr>
          <p:cNvPr id="8" name="Tabla 7"/>
          <p:cNvGraphicFramePr/>
          <p:nvPr/>
        </p:nvGraphicFramePr>
        <p:xfrm>
          <a:off x="609600" y="1476375"/>
          <a:ext cx="10972800" cy="4000500"/>
        </p:xfrm>
        <a:graphic>
          <a:graphicData uri="http://schemas.openxmlformats.org/drawingml/2006/table">
            <a:tbl>
              <a:tblPr/>
              <a:tblGrid>
                <a:gridCol w="5238750">
                  <a:extLst>
                    <a:ext uri="{9D8B030D-6E8A-4147-A177-3AD203B41FA5}">
                      <a16:colId xmlns:a16="http://schemas.microsoft.com/office/drawing/2014/main" val="20000"/>
                    </a:ext>
                  </a:extLst>
                </a:gridCol>
                <a:gridCol w="2867025">
                  <a:extLst>
                    <a:ext uri="{9D8B030D-6E8A-4147-A177-3AD203B41FA5}">
                      <a16:colId xmlns:a16="http://schemas.microsoft.com/office/drawing/2014/main" val="20001"/>
                    </a:ext>
                  </a:extLst>
                </a:gridCol>
                <a:gridCol w="2867025">
                  <a:extLst>
                    <a:ext uri="{9D8B030D-6E8A-4147-A177-3AD203B41FA5}">
                      <a16:colId xmlns:a16="http://schemas.microsoft.com/office/drawing/2014/main" val="20002"/>
                    </a:ext>
                  </a:extLst>
                </a:gridCol>
              </a:tblGrid>
              <a:tr h="571500">
                <a:tc>
                  <a:txBody>
                    <a:bodyPr/>
                    <a:lstStyle/>
                    <a:p>
                      <a:r>
                        <a:rPr sz="1950" b="0">
                          <a:solidFill>
                            <a:srgbClr val="172F42"/>
                          </a:solidFill>
                          <a:latin typeface="Arial"/>
                          <a:ea typeface="Arial"/>
                          <a:cs typeface="Arial"/>
                        </a:rPr>
                        <a:t>Característica</a:t>
                      </a:r>
                    </a:p>
                  </a:txBody>
                  <a:tcPr marL="95250" marR="95250" marT="57150" marB="57150">
                    <a:solidFill>
                      <a:srgbClr val="EDF3F7"/>
                    </a:solidFill>
                  </a:tcPr>
                </a:tc>
                <a:tc>
                  <a:txBody>
                    <a:bodyPr/>
                    <a:lstStyle/>
                    <a:p>
                      <a:r>
                        <a:rPr sz="1950" b="0">
                          <a:solidFill>
                            <a:srgbClr val="172F42"/>
                          </a:solidFill>
                          <a:latin typeface="Arial"/>
                          <a:ea typeface="Arial"/>
                          <a:cs typeface="Arial"/>
                        </a:rPr>
                        <a:t>Hombres</a:t>
                      </a:r>
                    </a:p>
                  </a:txBody>
                  <a:tcPr marL="95250" marR="95250" marT="57150" marB="57150">
                    <a:solidFill>
                      <a:srgbClr val="EDF3F7"/>
                    </a:solidFill>
                  </a:tcPr>
                </a:tc>
                <a:tc>
                  <a:txBody>
                    <a:bodyPr/>
                    <a:lstStyle/>
                    <a:p>
                      <a:r>
                        <a:rPr sz="1950" b="0">
                          <a:solidFill>
                            <a:srgbClr val="172F42"/>
                          </a:solidFill>
                          <a:latin typeface="Arial"/>
                          <a:ea typeface="Arial"/>
                          <a:cs typeface="Arial"/>
                        </a:rPr>
                        <a:t>Mujeres</a:t>
                      </a:r>
                    </a:p>
                  </a:txBody>
                  <a:tcPr marL="95250" marR="95250" marT="57150" marB="57150">
                    <a:solidFill>
                      <a:srgbClr val="EDF3F7"/>
                    </a:solidFill>
                  </a:tcPr>
                </a:tc>
                <a:extLst>
                  <a:ext uri="{0D108BD9-81ED-4DB2-BD59-A6C34878D82A}">
                    <a16:rowId xmlns:a16="http://schemas.microsoft.com/office/drawing/2014/main" val="10000"/>
                  </a:ext>
                </a:extLst>
              </a:tr>
              <a:tr h="571500">
                <a:tc>
                  <a:txBody>
                    <a:bodyPr/>
                    <a:lstStyle/>
                    <a:p>
                      <a:r>
                        <a:rPr sz="1950" b="0">
                          <a:solidFill>
                            <a:srgbClr val="172F42"/>
                          </a:solidFill>
                          <a:latin typeface="Arial"/>
                          <a:ea typeface="Arial"/>
                          <a:cs typeface="Arial"/>
                        </a:rPr>
                        <a:t>Edad media</a:t>
                      </a:r>
                    </a:p>
                  </a:txBody>
                  <a:tcPr marL="95250" marR="95250" marT="57150" marB="57150">
                    <a:solidFill>
                      <a:srgbClr val="FFFFFF"/>
                    </a:solidFill>
                  </a:tcPr>
                </a:tc>
                <a:tc>
                  <a:txBody>
                    <a:bodyPr/>
                    <a:lstStyle/>
                    <a:p>
                      <a:r>
                        <a:rPr sz="1950" b="0">
                          <a:solidFill>
                            <a:srgbClr val="172F42"/>
                          </a:solidFill>
                          <a:latin typeface="Arial"/>
                          <a:ea typeface="Arial"/>
                          <a:cs typeface="Arial"/>
                        </a:rPr>
                        <a:t>38,81</a:t>
                      </a:r>
                    </a:p>
                  </a:txBody>
                  <a:tcPr marL="95250" marR="95250" marT="57150" marB="57150">
                    <a:solidFill>
                      <a:srgbClr val="FFFFFF"/>
                    </a:solidFill>
                  </a:tcPr>
                </a:tc>
                <a:tc>
                  <a:txBody>
                    <a:bodyPr/>
                    <a:lstStyle/>
                    <a:p>
                      <a:r>
                        <a:rPr sz="1950" b="0">
                          <a:solidFill>
                            <a:srgbClr val="172F42"/>
                          </a:solidFill>
                          <a:latin typeface="Arial"/>
                          <a:ea typeface="Arial"/>
                          <a:cs typeface="Arial"/>
                        </a:rPr>
                        <a:t>38,54</a:t>
                      </a:r>
                    </a:p>
                  </a:txBody>
                  <a:tcPr marL="95250" marR="95250" marT="57150" marB="57150">
                    <a:solidFill>
                      <a:srgbClr val="FFFFFF"/>
                    </a:solidFill>
                  </a:tcPr>
                </a:tc>
                <a:extLst>
                  <a:ext uri="{0D108BD9-81ED-4DB2-BD59-A6C34878D82A}">
                    <a16:rowId xmlns:a16="http://schemas.microsoft.com/office/drawing/2014/main" val="10001"/>
                  </a:ext>
                </a:extLst>
              </a:tr>
              <a:tr h="571500">
                <a:tc>
                  <a:txBody>
                    <a:bodyPr/>
                    <a:lstStyle/>
                    <a:p>
                      <a:r>
                        <a:rPr sz="1950" b="0">
                          <a:solidFill>
                            <a:srgbClr val="172F42"/>
                          </a:solidFill>
                          <a:latin typeface="Arial"/>
                          <a:ea typeface="Arial"/>
                          <a:cs typeface="Arial"/>
                        </a:rPr>
                        <a:t>Años de educación</a:t>
                      </a:r>
                    </a:p>
                  </a:txBody>
                  <a:tcPr marL="95250" marR="95250" marT="57150" marB="57150">
                    <a:solidFill>
                      <a:srgbClr val="FFFFFF"/>
                    </a:solidFill>
                  </a:tcPr>
                </a:tc>
                <a:tc>
                  <a:txBody>
                    <a:bodyPr/>
                    <a:lstStyle/>
                    <a:p>
                      <a:r>
                        <a:rPr sz="1950" b="0">
                          <a:solidFill>
                            <a:srgbClr val="172F42"/>
                          </a:solidFill>
                          <a:latin typeface="Arial"/>
                          <a:ea typeface="Arial"/>
                          <a:cs typeface="Arial"/>
                        </a:rPr>
                        <a:t>11,09</a:t>
                      </a:r>
                    </a:p>
                  </a:txBody>
                  <a:tcPr marL="95250" marR="95250" marT="57150" marB="57150">
                    <a:solidFill>
                      <a:srgbClr val="FFFFFF"/>
                    </a:solidFill>
                  </a:tcPr>
                </a:tc>
                <a:tc>
                  <a:txBody>
                    <a:bodyPr/>
                    <a:lstStyle/>
                    <a:p>
                      <a:r>
                        <a:rPr sz="1950" b="0">
                          <a:solidFill>
                            <a:srgbClr val="172F42"/>
                          </a:solidFill>
                          <a:latin typeface="Arial"/>
                          <a:ea typeface="Arial"/>
                          <a:cs typeface="Arial"/>
                        </a:rPr>
                        <a:t>11,65</a:t>
                      </a:r>
                    </a:p>
                  </a:txBody>
                  <a:tcPr marL="95250" marR="95250" marT="57150" marB="57150">
                    <a:solidFill>
                      <a:srgbClr val="FFFFFF"/>
                    </a:solidFill>
                  </a:tcPr>
                </a:tc>
                <a:extLst>
                  <a:ext uri="{0D108BD9-81ED-4DB2-BD59-A6C34878D82A}">
                    <a16:rowId xmlns:a16="http://schemas.microsoft.com/office/drawing/2014/main" val="10002"/>
                  </a:ext>
                </a:extLst>
              </a:tr>
              <a:tr h="571500">
                <a:tc>
                  <a:txBody>
                    <a:bodyPr/>
                    <a:lstStyle/>
                    <a:p>
                      <a:r>
                        <a:rPr sz="1950" b="0">
                          <a:solidFill>
                            <a:srgbClr val="172F42"/>
                          </a:solidFill>
                          <a:latin typeface="Arial"/>
                          <a:ea typeface="Arial"/>
                          <a:cs typeface="Arial"/>
                        </a:rPr>
                        <a:t>Horas totales trabajadas</a:t>
                      </a:r>
                    </a:p>
                  </a:txBody>
                  <a:tcPr marL="95250" marR="95250" marT="57150" marB="57150">
                    <a:solidFill>
                      <a:srgbClr val="FFFFFF"/>
                    </a:solidFill>
                  </a:tcPr>
                </a:tc>
                <a:tc>
                  <a:txBody>
                    <a:bodyPr/>
                    <a:lstStyle/>
                    <a:p>
                      <a:r>
                        <a:rPr sz="1950" b="0">
                          <a:solidFill>
                            <a:srgbClr val="172F42"/>
                          </a:solidFill>
                          <a:latin typeface="Arial"/>
                          <a:ea typeface="Arial"/>
                          <a:cs typeface="Arial"/>
                        </a:rPr>
                        <a:t>50,47</a:t>
                      </a:r>
                    </a:p>
                  </a:txBody>
                  <a:tcPr marL="95250" marR="95250" marT="57150" marB="57150">
                    <a:solidFill>
                      <a:srgbClr val="FFFFFF"/>
                    </a:solidFill>
                  </a:tcPr>
                </a:tc>
                <a:tc>
                  <a:txBody>
                    <a:bodyPr/>
                    <a:lstStyle/>
                    <a:p>
                      <a:r>
                        <a:rPr sz="1950" b="0">
                          <a:solidFill>
                            <a:srgbClr val="172F42"/>
                          </a:solidFill>
                          <a:latin typeface="Arial"/>
                          <a:ea typeface="Arial"/>
                          <a:cs typeface="Arial"/>
                        </a:rPr>
                        <a:t>44,75</a:t>
                      </a:r>
                    </a:p>
                  </a:txBody>
                  <a:tcPr marL="95250" marR="95250" marT="57150" marB="57150">
                    <a:solidFill>
                      <a:srgbClr val="FFFFFF"/>
                    </a:solidFill>
                  </a:tcPr>
                </a:tc>
                <a:extLst>
                  <a:ext uri="{0D108BD9-81ED-4DB2-BD59-A6C34878D82A}">
                    <a16:rowId xmlns:a16="http://schemas.microsoft.com/office/drawing/2014/main" val="10003"/>
                  </a:ext>
                </a:extLst>
              </a:tr>
              <a:tr h="571500">
                <a:tc>
                  <a:txBody>
                    <a:bodyPr/>
                    <a:lstStyle/>
                    <a:p>
                      <a:r>
                        <a:rPr sz="1950" b="0">
                          <a:solidFill>
                            <a:srgbClr val="172F42"/>
                          </a:solidFill>
                          <a:latin typeface="Arial"/>
                          <a:ea typeface="Arial"/>
                          <a:cs typeface="Arial"/>
                        </a:rPr>
                        <a:t>Educación terciaria (%)</a:t>
                      </a:r>
                    </a:p>
                  </a:txBody>
                  <a:tcPr marL="95250" marR="95250" marT="57150" marB="57150">
                    <a:solidFill>
                      <a:srgbClr val="FFFFFF"/>
                    </a:solidFill>
                  </a:tcPr>
                </a:tc>
                <a:tc>
                  <a:txBody>
                    <a:bodyPr/>
                    <a:lstStyle/>
                    <a:p>
                      <a:r>
                        <a:rPr sz="1950" b="0">
                          <a:solidFill>
                            <a:srgbClr val="172F42"/>
                          </a:solidFill>
                          <a:latin typeface="Arial"/>
                          <a:ea typeface="Arial"/>
                          <a:cs typeface="Arial"/>
                        </a:rPr>
                        <a:t>36,97</a:t>
                      </a:r>
                    </a:p>
                  </a:txBody>
                  <a:tcPr marL="95250" marR="95250" marT="57150" marB="57150">
                    <a:solidFill>
                      <a:srgbClr val="FFFFFF"/>
                    </a:solidFill>
                  </a:tcPr>
                </a:tc>
                <a:tc>
                  <a:txBody>
                    <a:bodyPr/>
                    <a:lstStyle/>
                    <a:p>
                      <a:r>
                        <a:rPr sz="1950" b="0">
                          <a:solidFill>
                            <a:srgbClr val="172F42"/>
                          </a:solidFill>
                          <a:latin typeface="Arial"/>
                          <a:ea typeface="Arial"/>
                          <a:cs typeface="Arial"/>
                        </a:rPr>
                        <a:t>45,08</a:t>
                      </a:r>
                    </a:p>
                  </a:txBody>
                  <a:tcPr marL="95250" marR="95250" marT="57150" marB="57150">
                    <a:solidFill>
                      <a:srgbClr val="FFFFFF"/>
                    </a:solidFill>
                  </a:tcPr>
                </a:tc>
                <a:extLst>
                  <a:ext uri="{0D108BD9-81ED-4DB2-BD59-A6C34878D82A}">
                    <a16:rowId xmlns:a16="http://schemas.microsoft.com/office/drawing/2014/main" val="10004"/>
                  </a:ext>
                </a:extLst>
              </a:tr>
              <a:tr h="571500">
                <a:tc>
                  <a:txBody>
                    <a:bodyPr/>
                    <a:lstStyle/>
                    <a:p>
                      <a:r>
                        <a:rPr sz="1950" b="0">
                          <a:solidFill>
                            <a:srgbClr val="172F42"/>
                          </a:solidFill>
                          <a:latin typeface="Arial"/>
                          <a:ea typeface="Arial"/>
                          <a:cs typeface="Arial"/>
                        </a:rPr>
                        <a:t>Registros</a:t>
                      </a:r>
                    </a:p>
                  </a:txBody>
                  <a:tcPr marL="95250" marR="95250" marT="57150" marB="57150">
                    <a:solidFill>
                      <a:srgbClr val="FFFFFF"/>
                    </a:solidFill>
                  </a:tcPr>
                </a:tc>
                <a:tc>
                  <a:txBody>
                    <a:bodyPr/>
                    <a:lstStyle/>
                    <a:p>
                      <a:r>
                        <a:rPr sz="1950" b="0">
                          <a:solidFill>
                            <a:srgbClr val="172F42"/>
                          </a:solidFill>
                          <a:latin typeface="Arial"/>
                          <a:ea typeface="Arial"/>
                          <a:cs typeface="Arial"/>
                        </a:rPr>
                        <a:t>7.774</a:t>
                      </a:r>
                    </a:p>
                  </a:txBody>
                  <a:tcPr marL="95250" marR="95250" marT="57150" marB="57150">
                    <a:solidFill>
                      <a:srgbClr val="FFFFFF"/>
                    </a:solidFill>
                  </a:tcPr>
                </a:tc>
                <a:tc>
                  <a:txBody>
                    <a:bodyPr/>
                    <a:lstStyle/>
                    <a:p>
                      <a:r>
                        <a:rPr sz="1950" b="0">
                          <a:solidFill>
                            <a:srgbClr val="172F42"/>
                          </a:solidFill>
                          <a:latin typeface="Arial"/>
                          <a:ea typeface="Arial"/>
                          <a:cs typeface="Arial"/>
                        </a:rPr>
                        <a:t>6.989</a:t>
                      </a:r>
                    </a:p>
                  </a:txBody>
                  <a:tcPr marL="95250" marR="95250" marT="57150" marB="57150">
                    <a:solidFill>
                      <a:srgbClr val="FFFFFF"/>
                    </a:solidFill>
                  </a:tcPr>
                </a:tc>
                <a:extLst>
                  <a:ext uri="{0D108BD9-81ED-4DB2-BD59-A6C34878D82A}">
                    <a16:rowId xmlns:a16="http://schemas.microsoft.com/office/drawing/2014/main" val="10005"/>
                  </a:ext>
                </a:extLst>
              </a:tr>
              <a:tr h="571500">
                <a:tc>
                  <a:txBody>
                    <a:bodyPr/>
                    <a:lstStyle/>
                    <a:p>
                      <a:r>
                        <a:rPr sz="1950" b="0">
                          <a:solidFill>
                            <a:srgbClr val="172F42"/>
                          </a:solidFill>
                          <a:latin typeface="Arial"/>
                          <a:ea typeface="Arial"/>
                          <a:cs typeface="Arial"/>
                        </a:rPr>
                        <a:t>Personas representadas</a:t>
                      </a:r>
                    </a:p>
                  </a:txBody>
                  <a:tcPr marL="95250" marR="95250" marT="57150" marB="57150">
                    <a:solidFill>
                      <a:srgbClr val="FFFFFF"/>
                    </a:solidFill>
                  </a:tcPr>
                </a:tc>
                <a:tc>
                  <a:txBody>
                    <a:bodyPr/>
                    <a:lstStyle/>
                    <a:p>
                      <a:r>
                        <a:rPr sz="1950" b="0">
                          <a:solidFill>
                            <a:srgbClr val="172F42"/>
                          </a:solidFill>
                          <a:latin typeface="Arial"/>
                          <a:ea typeface="Arial"/>
                          <a:cs typeface="Arial"/>
                        </a:rPr>
                        <a:t>1.957.870</a:t>
                      </a:r>
                    </a:p>
                  </a:txBody>
                  <a:tcPr marL="95250" marR="95250" marT="57150" marB="57150">
                    <a:solidFill>
                      <a:srgbClr val="FFFFFF"/>
                    </a:solidFill>
                  </a:tcPr>
                </a:tc>
                <a:tc>
                  <a:txBody>
                    <a:bodyPr/>
                    <a:lstStyle/>
                    <a:p>
                      <a:r>
                        <a:rPr sz="1950" b="0">
                          <a:solidFill>
                            <a:srgbClr val="172F42"/>
                          </a:solidFill>
                          <a:latin typeface="Arial"/>
                          <a:ea typeface="Arial"/>
                          <a:cs typeface="Arial"/>
                        </a:rPr>
                        <a:t>1.728.536</a:t>
                      </a:r>
                    </a:p>
                  </a:txBody>
                  <a:tcPr marL="95250" marR="95250" marT="57150" marB="57150">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564893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203937D2-D154-46D3-BE44-2AEF6C7E768C}"/>
              </a:ext>
            </a:extLst>
          </p:cNvPr>
          <p:cNvSpPr>
            <a:spLocks noGrp="1"/>
          </p:cNvSpPr>
          <p:nvPr/>
        </p:nvSpPr>
        <p:spPr>
          <a:xfrm>
            <a:off x="11144250" y="6343650"/>
            <a:ext cx="419100" cy="247650"/>
          </a:xfrm>
          <a:prstGeom prst="rect">
            <a:avLst/>
          </a:prstGeom>
          <a:noFill/>
          <a:ln w="0">
            <a:noFill/>
          </a:ln>
        </p:spPr>
        <p:txBody>
          <a:bodyPr>
            <a:noAutofit/>
          </a:bodyPr>
          <a:lstStyle/>
          <a:p>
            <a:pPr>
              <a:defRPr sz="1200" b="0">
                <a:solidFill>
                  <a:srgbClr val="526471"/>
                </a:solidFill>
                <a:latin typeface="Arial"/>
                <a:ea typeface="Arial"/>
                <a:cs typeface="Arial"/>
              </a:defRPr>
            </a:pPr>
            <a:r>
              <a:rPr sz="1200" b="0">
                <a:solidFill>
                  <a:srgbClr val="526471"/>
                </a:solidFill>
                <a:latin typeface="Arial"/>
                <a:ea typeface="Arial"/>
                <a:cs typeface="Arial"/>
              </a:rPr>
              <a:t>5</a:t>
            </a:r>
          </a:p>
        </p:txBody>
      </p:sp>
      <p:pic>
        <p:nvPicPr>
          <p:cNvPr id="7" name="Imagen 6">
            <a:extLst>
              <a:ext uri="{FF2B5EF4-FFF2-40B4-BE49-F238E27FC236}">
                <a16:creationId xmlns:a16="http://schemas.microsoft.com/office/drawing/2014/main" id="{9F22C4E7-B095-E073-F1AC-98E2500B59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5367" y="0"/>
            <a:ext cx="10621267" cy="6858000"/>
          </a:xfrm>
          <a:prstGeom prst="rect">
            <a:avLst/>
          </a:prstGeom>
        </p:spPr>
      </p:pic>
    </p:spTree>
    <p:extLst>
      <p:ext uri="{BB962C8B-B14F-4D97-AF65-F5344CB8AC3E}">
        <p14:creationId xmlns:p14="http://schemas.microsoft.com/office/powerpoint/2010/main" val="766136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910860-38DD-B695-8C40-90E592E6BF75}"/>
            </a:ext>
          </a:extLst>
        </p:cNvPr>
        <p:cNvGrpSpPr/>
        <p:nvPr/>
      </p:nvGrpSpPr>
      <p:grpSpPr>
        <a:xfrm>
          <a:off x="0" y="0"/>
          <a:ext cx="0" cy="0"/>
          <a:chOff x="0" y="0"/>
          <a:chExt cx="0" cy="0"/>
        </a:xfrm>
      </p:grpSpPr>
      <p:sp>
        <p:nvSpPr>
          <p:cNvPr id="7" name="Rectángulo 6">
            <a:extLst>
              <a:ext uri="{FF2B5EF4-FFF2-40B4-BE49-F238E27FC236}">
                <a16:creationId xmlns:a16="http://schemas.microsoft.com/office/drawing/2014/main" id="{B48135B0-30FD-1774-580A-B8EE7AA441C0}"/>
              </a:ext>
            </a:extLst>
          </p:cNvPr>
          <p:cNvSpPr>
            <a:spLocks noGrp="1"/>
          </p:cNvSpPr>
          <p:nvPr/>
        </p:nvSpPr>
        <p:spPr>
          <a:xfrm>
            <a:off x="609600" y="333375"/>
            <a:ext cx="10972800" cy="762000"/>
          </a:xfrm>
          <a:prstGeom prst="rect">
            <a:avLst/>
          </a:prstGeom>
          <a:noFill/>
          <a:ln w="0">
            <a:noFill/>
          </a:ln>
        </p:spPr>
        <p:txBody>
          <a:bodyPr>
            <a:noAutofit/>
          </a:bodyPr>
          <a:lstStyle/>
          <a:p>
            <a:pPr>
              <a:defRPr sz="3150" b="1">
                <a:solidFill>
                  <a:srgbClr val="172F42"/>
                </a:solidFill>
                <a:latin typeface="Arial"/>
                <a:ea typeface="Arial"/>
                <a:cs typeface="Arial"/>
              </a:defRPr>
            </a:pPr>
            <a:r>
              <a:rPr sz="3150" b="1" dirty="0">
                <a:solidFill>
                  <a:srgbClr val="172F42"/>
                </a:solidFill>
                <a:latin typeface="Arial"/>
                <a:ea typeface="Arial"/>
                <a:cs typeface="Arial"/>
              </a:rPr>
              <a:t>Anexo: </a:t>
            </a:r>
            <a:r>
              <a:rPr lang="es-CO" sz="3150" b="1" dirty="0">
                <a:solidFill>
                  <a:srgbClr val="172F42"/>
                </a:solidFill>
                <a:latin typeface="Arial"/>
                <a:ea typeface="Arial"/>
                <a:cs typeface="Arial"/>
              </a:rPr>
              <a:t>FWL</a:t>
            </a:r>
            <a:endParaRPr sz="3150" b="1" dirty="0">
              <a:solidFill>
                <a:srgbClr val="172F42"/>
              </a:solidFill>
              <a:latin typeface="Arial"/>
              <a:ea typeface="Arial"/>
              <a:cs typeface="Arial"/>
            </a:endParaRPr>
          </a:p>
        </p:txBody>
      </p:sp>
      <p:sp>
        <p:nvSpPr>
          <p:cNvPr id="2" name="Rectángulo 1">
            <a:extLst>
              <a:ext uri="{FF2B5EF4-FFF2-40B4-BE49-F238E27FC236}">
                <a16:creationId xmlns:a16="http://schemas.microsoft.com/office/drawing/2014/main" id="{79624142-87A7-F70E-5908-7F9005EC3B67}"/>
              </a:ext>
            </a:extLst>
          </p:cNvPr>
          <p:cNvSpPr>
            <a:spLocks noGrp="1"/>
          </p:cNvSpPr>
          <p:nvPr/>
        </p:nvSpPr>
        <p:spPr>
          <a:xfrm>
            <a:off x="609600" y="6210300"/>
            <a:ext cx="10287000" cy="457200"/>
          </a:xfrm>
          <a:prstGeom prst="rect">
            <a:avLst/>
          </a:prstGeom>
          <a:noFill/>
          <a:ln w="0">
            <a:noFill/>
          </a:ln>
        </p:spPr>
        <p:txBody>
          <a:bodyPr>
            <a:noAutofit/>
          </a:bodyPr>
          <a:lstStyle/>
          <a:p>
            <a:pPr>
              <a:defRPr sz="1125" b="0">
                <a:solidFill>
                  <a:srgbClr val="526471"/>
                </a:solidFill>
                <a:latin typeface="Arial"/>
                <a:ea typeface="Arial"/>
                <a:cs typeface="Arial"/>
              </a:defRPr>
            </a:pPr>
            <a:r>
              <a:rPr sz="1125" b="0">
                <a:solidFill>
                  <a:srgbClr val="526471"/>
                </a:solidFill>
                <a:latin typeface="Arial"/>
                <a:ea typeface="Arial"/>
                <a:cs typeface="Arial"/>
              </a:rPr>
              <a:t>n = 14.763. Población representada ≈ 3.686.406 personas. Fuente: GEIH 2018, Bogotá.</a:t>
            </a:r>
          </a:p>
        </p:txBody>
      </p:sp>
      <p:sp>
        <p:nvSpPr>
          <p:cNvPr id="3" name="Rectángulo 2">
            <a:extLst>
              <a:ext uri="{FF2B5EF4-FFF2-40B4-BE49-F238E27FC236}">
                <a16:creationId xmlns:a16="http://schemas.microsoft.com/office/drawing/2014/main" id="{18C50E3D-34E7-1674-4CE6-C16EA21A3DF9}"/>
              </a:ext>
            </a:extLst>
          </p:cNvPr>
          <p:cNvSpPr>
            <a:spLocks noGrp="1"/>
          </p:cNvSpPr>
          <p:nvPr/>
        </p:nvSpPr>
        <p:spPr>
          <a:xfrm>
            <a:off x="11144250" y="6343650"/>
            <a:ext cx="419100" cy="247650"/>
          </a:xfrm>
          <a:prstGeom prst="rect">
            <a:avLst/>
          </a:prstGeom>
          <a:noFill/>
          <a:ln w="0">
            <a:noFill/>
          </a:ln>
        </p:spPr>
        <p:txBody>
          <a:bodyPr>
            <a:noAutofit/>
          </a:bodyPr>
          <a:lstStyle/>
          <a:p>
            <a:pPr>
              <a:defRPr sz="1200" b="0">
                <a:solidFill>
                  <a:srgbClr val="526471"/>
                </a:solidFill>
                <a:latin typeface="Arial"/>
                <a:ea typeface="Arial"/>
                <a:cs typeface="Arial"/>
              </a:defRPr>
            </a:pPr>
            <a:r>
              <a:rPr sz="1200" b="0">
                <a:solidFill>
                  <a:srgbClr val="526471"/>
                </a:solidFill>
                <a:latin typeface="Arial"/>
                <a:ea typeface="Arial"/>
                <a:cs typeface="Arial"/>
              </a:rPr>
              <a:t>6</a:t>
            </a:r>
          </a:p>
        </p:txBody>
      </p:sp>
      <p:sp>
        <p:nvSpPr>
          <p:cNvPr id="6" name="Rectángulo 5">
            <a:extLst>
              <a:ext uri="{FF2B5EF4-FFF2-40B4-BE49-F238E27FC236}">
                <a16:creationId xmlns:a16="http://schemas.microsoft.com/office/drawing/2014/main" id="{4E930A1E-5EB8-B12C-DCA0-462F6E1FF027}"/>
              </a:ext>
            </a:extLst>
          </p:cNvPr>
          <p:cNvSpPr>
            <a:spLocks noGrp="1"/>
          </p:cNvSpPr>
          <p:nvPr/>
        </p:nvSpPr>
        <p:spPr>
          <a:xfrm>
            <a:off x="685800" y="5191125"/>
            <a:ext cx="10877550" cy="733425"/>
          </a:xfrm>
          <a:prstGeom prst="rect">
            <a:avLst/>
          </a:prstGeom>
          <a:noFill/>
          <a:ln w="0">
            <a:noFill/>
          </a:ln>
        </p:spPr>
        <p:txBody>
          <a:bodyPr>
            <a:noAutofit/>
          </a:bodyPr>
          <a:lstStyle/>
          <a:p>
            <a:pPr>
              <a:defRPr sz="1875" b="0">
                <a:solidFill>
                  <a:srgbClr val="172F42"/>
                </a:solidFill>
                <a:latin typeface="Arial"/>
                <a:ea typeface="Arial"/>
                <a:cs typeface="Arial"/>
              </a:defRPr>
            </a:pPr>
            <a:r>
              <a:rPr lang="es-CO" sz="1875" dirty="0">
                <a:solidFill>
                  <a:srgbClr val="172F42"/>
                </a:solidFill>
                <a:latin typeface="Arial"/>
              </a:rPr>
              <a:t>La brecha condicional se identifica a partir de la variación en género que queda después de remover las diferencias observables capturadas por los controles de S5.</a:t>
            </a:r>
            <a:endParaRPr sz="1875" b="0" dirty="0">
              <a:solidFill>
                <a:srgbClr val="172F42"/>
              </a:solidFill>
              <a:latin typeface="Arial"/>
              <a:ea typeface="Arial"/>
              <a:cs typeface="Arial"/>
            </a:endParaRPr>
          </a:p>
        </p:txBody>
      </p:sp>
      <p:graphicFrame>
        <p:nvGraphicFramePr>
          <p:cNvPr id="5" name="Tabla 4">
            <a:extLst>
              <a:ext uri="{FF2B5EF4-FFF2-40B4-BE49-F238E27FC236}">
                <a16:creationId xmlns:a16="http://schemas.microsoft.com/office/drawing/2014/main" id="{6CC29041-F3AD-196D-D53B-D16714B3404F}"/>
              </a:ext>
            </a:extLst>
          </p:cNvPr>
          <p:cNvGraphicFramePr>
            <a:graphicFrameLocks noGrp="1"/>
          </p:cNvGraphicFramePr>
          <p:nvPr>
            <p:extLst>
              <p:ext uri="{D42A27DB-BD31-4B8C-83A1-F6EECF244321}">
                <p14:modId xmlns:p14="http://schemas.microsoft.com/office/powerpoint/2010/main" val="211023966"/>
              </p:ext>
            </p:extLst>
          </p:nvPr>
        </p:nvGraphicFramePr>
        <p:xfrm>
          <a:off x="838200" y="1719263"/>
          <a:ext cx="10515600" cy="1828800"/>
        </p:xfrm>
        <a:graphic>
          <a:graphicData uri="http://schemas.openxmlformats.org/drawingml/2006/table">
            <a:tbl>
              <a:tblPr>
                <a:tableStyleId>{5940675A-B579-460E-94D1-54222C63F5DA}</a:tableStyleId>
              </a:tblPr>
              <a:tblGrid>
                <a:gridCol w="3505200">
                  <a:extLst>
                    <a:ext uri="{9D8B030D-6E8A-4147-A177-3AD203B41FA5}">
                      <a16:colId xmlns:a16="http://schemas.microsoft.com/office/drawing/2014/main" val="2469682966"/>
                    </a:ext>
                  </a:extLst>
                </a:gridCol>
                <a:gridCol w="3505200">
                  <a:extLst>
                    <a:ext uri="{9D8B030D-6E8A-4147-A177-3AD203B41FA5}">
                      <a16:colId xmlns:a16="http://schemas.microsoft.com/office/drawing/2014/main" val="32969094"/>
                    </a:ext>
                  </a:extLst>
                </a:gridCol>
                <a:gridCol w="3505200">
                  <a:extLst>
                    <a:ext uri="{9D8B030D-6E8A-4147-A177-3AD203B41FA5}">
                      <a16:colId xmlns:a16="http://schemas.microsoft.com/office/drawing/2014/main" val="2089790120"/>
                    </a:ext>
                  </a:extLst>
                </a:gridCol>
              </a:tblGrid>
              <a:tr h="0">
                <a:tc>
                  <a:txBody>
                    <a:bodyPr/>
                    <a:lstStyle/>
                    <a:p>
                      <a:pPr>
                        <a:buNone/>
                      </a:pPr>
                      <a:r>
                        <a:rPr lang="es-CO"/>
                        <a:t>Paso</a:t>
                      </a:r>
                    </a:p>
                  </a:txBody>
                  <a:tcPr anchor="ctr"/>
                </a:tc>
                <a:tc>
                  <a:txBody>
                    <a:bodyPr/>
                    <a:lstStyle/>
                    <a:p>
                      <a:pPr>
                        <a:buNone/>
                      </a:pPr>
                      <a:r>
                        <a:rPr lang="es-CO" dirty="0"/>
                        <a:t>Regresión</a:t>
                      </a:r>
                    </a:p>
                  </a:txBody>
                  <a:tcPr anchor="ctr"/>
                </a:tc>
                <a:tc>
                  <a:txBody>
                    <a:bodyPr/>
                    <a:lstStyle/>
                    <a:p>
                      <a:pPr>
                        <a:buNone/>
                      </a:pPr>
                      <a:r>
                        <a:rPr lang="es-CO"/>
                        <a:t>Resultado</a:t>
                      </a:r>
                    </a:p>
                  </a:txBody>
                  <a:tcPr anchor="ctr"/>
                </a:tc>
                <a:extLst>
                  <a:ext uri="{0D108BD9-81ED-4DB2-BD59-A6C34878D82A}">
                    <a16:rowId xmlns:a16="http://schemas.microsoft.com/office/drawing/2014/main" val="1662237815"/>
                  </a:ext>
                </a:extLst>
              </a:tr>
              <a:tr h="0">
                <a:tc>
                  <a:txBody>
                    <a:bodyPr/>
                    <a:lstStyle/>
                    <a:p>
                      <a:pPr>
                        <a:buNone/>
                      </a:pPr>
                      <a:r>
                        <a:rPr lang="es-CO"/>
                        <a:t>1</a:t>
                      </a:r>
                    </a:p>
                  </a:txBody>
                  <a:tcPr anchor="ctr"/>
                </a:tc>
                <a:tc>
                  <a:txBody>
                    <a:bodyPr/>
                    <a:lstStyle/>
                    <a:p>
                      <a:pPr>
                        <a:buNone/>
                      </a:pPr>
                      <a:r>
                        <a:rPr lang="es-CO"/>
                        <a:t>log(w) ~ controles</a:t>
                      </a:r>
                    </a:p>
                  </a:txBody>
                  <a:tcPr anchor="ctr"/>
                </a:tc>
                <a:tc>
                  <a:txBody>
                    <a:bodyPr/>
                    <a:lstStyle/>
                    <a:p>
                      <a:pPr>
                        <a:buNone/>
                      </a:pPr>
                      <a:r>
                        <a:rPr lang="es-CO"/>
                        <a:t>Ỹ</a:t>
                      </a:r>
                    </a:p>
                  </a:txBody>
                  <a:tcPr anchor="ctr"/>
                </a:tc>
                <a:extLst>
                  <a:ext uri="{0D108BD9-81ED-4DB2-BD59-A6C34878D82A}">
                    <a16:rowId xmlns:a16="http://schemas.microsoft.com/office/drawing/2014/main" val="4127381719"/>
                  </a:ext>
                </a:extLst>
              </a:tr>
              <a:tr h="0">
                <a:tc>
                  <a:txBody>
                    <a:bodyPr/>
                    <a:lstStyle/>
                    <a:p>
                      <a:pPr>
                        <a:buNone/>
                      </a:pPr>
                      <a:r>
                        <a:rPr lang="es-CO"/>
                        <a:t>2</a:t>
                      </a:r>
                    </a:p>
                  </a:txBody>
                  <a:tcPr anchor="ctr"/>
                </a:tc>
                <a:tc>
                  <a:txBody>
                    <a:bodyPr/>
                    <a:lstStyle/>
                    <a:p>
                      <a:pPr>
                        <a:buNone/>
                      </a:pPr>
                      <a:r>
                        <a:rPr lang="es-CO"/>
                        <a:t>Female ~ controles</a:t>
                      </a:r>
                    </a:p>
                  </a:txBody>
                  <a:tcPr anchor="ctr"/>
                </a:tc>
                <a:tc>
                  <a:txBody>
                    <a:bodyPr/>
                    <a:lstStyle/>
                    <a:p>
                      <a:pPr>
                        <a:buNone/>
                      </a:pPr>
                      <a:r>
                        <a:rPr lang="es-CO"/>
                        <a:t>Femalẽ</a:t>
                      </a:r>
                    </a:p>
                  </a:txBody>
                  <a:tcPr anchor="ctr"/>
                </a:tc>
                <a:extLst>
                  <a:ext uri="{0D108BD9-81ED-4DB2-BD59-A6C34878D82A}">
                    <a16:rowId xmlns:a16="http://schemas.microsoft.com/office/drawing/2014/main" val="3434641138"/>
                  </a:ext>
                </a:extLst>
              </a:tr>
              <a:tr h="0">
                <a:tc>
                  <a:txBody>
                    <a:bodyPr/>
                    <a:lstStyle/>
                    <a:p>
                      <a:pPr>
                        <a:buNone/>
                      </a:pPr>
                      <a:r>
                        <a:rPr lang="es-CO"/>
                        <a:t>3</a:t>
                      </a:r>
                    </a:p>
                  </a:txBody>
                  <a:tcPr anchor="ctr"/>
                </a:tc>
                <a:tc>
                  <a:txBody>
                    <a:bodyPr/>
                    <a:lstStyle/>
                    <a:p>
                      <a:pPr>
                        <a:buNone/>
                      </a:pPr>
                      <a:r>
                        <a:rPr lang="es-CO"/>
                        <a:t>Ỹ ~ Femalẽ</a:t>
                      </a:r>
                    </a:p>
                  </a:txBody>
                  <a:tcPr anchor="ctr"/>
                </a:tc>
                <a:tc>
                  <a:txBody>
                    <a:bodyPr/>
                    <a:lstStyle/>
                    <a:p>
                      <a:pPr>
                        <a:buNone/>
                      </a:pPr>
                      <a:r>
                        <a:rPr lang="es-CO"/>
                        <a:t>β̂FemaleFWL</a:t>
                      </a:r>
                    </a:p>
                  </a:txBody>
                  <a:tcPr anchor="ctr"/>
                </a:tc>
                <a:extLst>
                  <a:ext uri="{0D108BD9-81ED-4DB2-BD59-A6C34878D82A}">
                    <a16:rowId xmlns:a16="http://schemas.microsoft.com/office/drawing/2014/main" val="3808719700"/>
                  </a:ext>
                </a:extLst>
              </a:tr>
              <a:tr h="0">
                <a:tc>
                  <a:txBody>
                    <a:bodyPr/>
                    <a:lstStyle/>
                    <a:p>
                      <a:pPr>
                        <a:buNone/>
                      </a:pPr>
                      <a:r>
                        <a:rPr lang="es-CO"/>
                        <a:t>Full</a:t>
                      </a:r>
                    </a:p>
                  </a:txBody>
                  <a:tcPr anchor="ctr"/>
                </a:tc>
                <a:tc>
                  <a:txBody>
                    <a:bodyPr/>
                    <a:lstStyle/>
                    <a:p>
                      <a:pPr>
                        <a:buNone/>
                      </a:pPr>
                      <a:r>
                        <a:rPr lang="es-CO"/>
                        <a:t>log(w) ~ Female + controles</a:t>
                      </a:r>
                    </a:p>
                  </a:txBody>
                  <a:tcPr anchor="ctr"/>
                </a:tc>
                <a:tc>
                  <a:txBody>
                    <a:bodyPr/>
                    <a:lstStyle/>
                    <a:p>
                      <a:pPr>
                        <a:buNone/>
                      </a:pPr>
                      <a:r>
                        <a:rPr lang="es-CO" dirty="0"/>
                        <a:t>β̂</a:t>
                      </a:r>
                      <a:r>
                        <a:rPr lang="es-CO" dirty="0" err="1"/>
                        <a:t>FemaleOLS</a:t>
                      </a:r>
                      <a:endParaRPr lang="es-CO" dirty="0"/>
                    </a:p>
                  </a:txBody>
                  <a:tcPr anchor="ctr"/>
                </a:tc>
                <a:extLst>
                  <a:ext uri="{0D108BD9-81ED-4DB2-BD59-A6C34878D82A}">
                    <a16:rowId xmlns:a16="http://schemas.microsoft.com/office/drawing/2014/main" val="22031568"/>
                  </a:ext>
                </a:extLst>
              </a:tr>
            </a:tbl>
          </a:graphicData>
        </a:graphic>
      </p:graphicFrame>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0F030ECD-F3C5-E76E-4A43-0103F8018174}"/>
                  </a:ext>
                </a:extLst>
              </p:cNvPr>
              <p:cNvSpPr txBox="1"/>
              <p:nvPr/>
            </p:nvSpPr>
            <p:spPr>
              <a:xfrm>
                <a:off x="3963632" y="4348932"/>
                <a:ext cx="3887282" cy="276999"/>
              </a:xfrm>
              <a:prstGeom prst="rect">
                <a:avLst/>
              </a:prstGeom>
              <a:noFill/>
            </p:spPr>
            <p:txBody>
              <a:bodyPr wrap="none" lIns="0" tIns="0" rIns="0" bIns="0" rtlCol="0">
                <a:spAutoFit/>
              </a:bodyPr>
              <a:lstStyle/>
              <a:p>
                <a:pPr/>
                <a14:m>
                  <m:oMathPara xmlns:m="http://schemas.openxmlformats.org/officeDocument/2006/math">
                    <m:oMath>
                      <m:r>
                        <m:rPr>
                          <m:nor/>
                        </m:rPr>
                        <a:rPr lang="es-CO" b="0" i="0" smtClean="0"/>
                        <m:t>(</m:t>
                      </m:r>
                      <m:r>
                        <m:rPr>
                          <m:nor/>
                        </m:rPr>
                        <a:rPr lang="es-CO" i="0"/>
                        <m:t>β</m:t>
                      </m:r>
                      <m:r>
                        <m:rPr>
                          <m:nor/>
                        </m:rPr>
                        <a:rPr lang="es-CO" b="0" i="0" smtClean="0"/>
                        <m:t>)</m:t>
                      </m:r>
                      <m:r>
                        <m:rPr>
                          <m:nor/>
                        </m:rPr>
                        <a:rPr lang="es-CO" i="0"/>
                        <m:t>​FemaleFWL</m:t>
                      </m:r>
                      <m:r>
                        <m:rPr>
                          <m:nor/>
                        </m:rPr>
                        <a:rPr lang="es-CO" b="0" i="0" smtClean="0"/>
                        <m:t> </m:t>
                      </m:r>
                      <m:r>
                        <m:rPr>
                          <m:nor/>
                        </m:rPr>
                        <a:rPr lang="es-CO" i="0"/>
                        <m:t>​=</m:t>
                      </m:r>
                      <m:r>
                        <m:rPr>
                          <m:nor/>
                        </m:rPr>
                        <a:rPr lang="es-CO" b="0" i="0" smtClean="0"/>
                        <m:t> (</m:t>
                      </m:r>
                      <m:r>
                        <m:rPr>
                          <m:nor/>
                        </m:rPr>
                        <a:rPr lang="es-CO" i="0"/>
                        <m:t>β</m:t>
                      </m:r>
                      <m:r>
                        <m:rPr>
                          <m:nor/>
                        </m:rPr>
                        <a:rPr lang="es-CO" b="0" i="0" smtClean="0"/>
                        <m:t>)</m:t>
                      </m:r>
                      <m:r>
                        <m:rPr>
                          <m:nor/>
                        </m:rPr>
                        <a:rPr lang="es-CO" i="0"/>
                        <m:t>​FemaleOLS</m:t>
                      </m:r>
                      <m:r>
                        <m:rPr>
                          <m:nor/>
                        </m:rPr>
                        <a:rPr lang="es-CO" b="0" i="0" smtClean="0"/>
                        <m:t> =</m:t>
                      </m:r>
                      <m:r>
                        <m:rPr>
                          <m:nor/>
                        </m:rPr>
                        <a:rPr lang="es-CO" i="0" dirty="0">
                          <a:solidFill>
                            <a:srgbClr val="172F42"/>
                          </a:solidFill>
                          <a:latin typeface="Arial"/>
                          <a:ea typeface="Arial"/>
                          <a:cs typeface="Arial"/>
                        </a:rPr>
                        <m:t>−0,1833</m:t>
                      </m:r>
                      <m:r>
                        <m:rPr>
                          <m:nor/>
                        </m:rPr>
                        <a:rPr lang="es-CO" i="0"/>
                        <m:t>​</m:t>
                      </m:r>
                    </m:oMath>
                  </m:oMathPara>
                </a14:m>
                <a:endParaRPr lang="es-CO" dirty="0"/>
              </a:p>
            </p:txBody>
          </p:sp>
        </mc:Choice>
        <mc:Fallback xmlns="">
          <p:sp>
            <p:nvSpPr>
              <p:cNvPr id="10" name="CuadroTexto 9">
                <a:extLst>
                  <a:ext uri="{FF2B5EF4-FFF2-40B4-BE49-F238E27FC236}">
                    <a16:creationId xmlns:a16="http://schemas.microsoft.com/office/drawing/2014/main" id="{0F030ECD-F3C5-E76E-4A43-0103F8018174}"/>
                  </a:ext>
                </a:extLst>
              </p:cNvPr>
              <p:cNvSpPr txBox="1">
                <a:spLocks noRot="1" noChangeAspect="1" noMove="1" noResize="1" noEditPoints="1" noAdjustHandles="1" noChangeArrowheads="1" noChangeShapeType="1" noTextEdit="1"/>
              </p:cNvSpPr>
              <p:nvPr/>
            </p:nvSpPr>
            <p:spPr>
              <a:xfrm>
                <a:off x="3963632" y="4348932"/>
                <a:ext cx="3887282" cy="276999"/>
              </a:xfrm>
              <a:prstGeom prst="rect">
                <a:avLst/>
              </a:prstGeom>
              <a:blipFill>
                <a:blip r:embed="rId3"/>
                <a:stretch>
                  <a:fillRect l="-1567" t="-2174" r="-1567" b="-30435"/>
                </a:stretch>
              </a:blipFill>
            </p:spPr>
            <p:txBody>
              <a:bodyPr/>
              <a:lstStyle/>
              <a:p>
                <a:r>
                  <a:rPr lang="es-CO">
                    <a:noFill/>
                  </a:rPr>
                  <a:t> </a:t>
                </a:r>
              </a:p>
            </p:txBody>
          </p:sp>
        </mc:Fallback>
      </mc:AlternateContent>
    </p:spTree>
    <p:extLst>
      <p:ext uri="{BB962C8B-B14F-4D97-AF65-F5344CB8AC3E}">
        <p14:creationId xmlns:p14="http://schemas.microsoft.com/office/powerpoint/2010/main" val="23882123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5BD294D5-3709-4F56-A208-C11FE6536D14}"/>
              </a:ext>
            </a:extLst>
          </p:cNvPr>
          <p:cNvSpPr>
            <a:spLocks noGrp="1"/>
          </p:cNvSpPr>
          <p:nvPr/>
        </p:nvSpPr>
        <p:spPr>
          <a:xfrm>
            <a:off x="609600" y="333375"/>
            <a:ext cx="10972800" cy="762000"/>
          </a:xfrm>
          <a:prstGeom prst="rect">
            <a:avLst/>
          </a:prstGeom>
          <a:noFill/>
          <a:ln w="0">
            <a:noFill/>
          </a:ln>
        </p:spPr>
        <p:txBody>
          <a:bodyPr>
            <a:noAutofit/>
          </a:bodyPr>
          <a:lstStyle/>
          <a:p>
            <a:pPr>
              <a:defRPr sz="3150" b="1">
                <a:solidFill>
                  <a:srgbClr val="172F42"/>
                </a:solidFill>
                <a:latin typeface="Arial"/>
                <a:ea typeface="Arial"/>
                <a:cs typeface="Arial"/>
              </a:defRPr>
            </a:pPr>
            <a:r>
              <a:rPr sz="3150" b="1">
                <a:solidFill>
                  <a:srgbClr val="172F42"/>
                </a:solidFill>
                <a:latin typeface="Arial"/>
                <a:ea typeface="Arial"/>
                <a:cs typeface="Arial"/>
              </a:rPr>
              <a:t>Los controles definen la comparación de ingresos</a:t>
            </a:r>
          </a:p>
        </p:txBody>
      </p:sp>
      <p:sp>
        <p:nvSpPr>
          <p:cNvPr id="2" name="Rectángulo 1">
            <a:extLst>
              <a:ext uri="{FF2B5EF4-FFF2-40B4-BE49-F238E27FC236}">
                <a16:creationId xmlns:a16="http://schemas.microsoft.com/office/drawing/2014/main" id="{5C67B370-A38D-4C2C-B794-C4D29A75A594}"/>
              </a:ext>
            </a:extLst>
          </p:cNvPr>
          <p:cNvSpPr>
            <a:spLocks noGrp="1"/>
          </p:cNvSpPr>
          <p:nvPr/>
        </p:nvSpPr>
        <p:spPr>
          <a:xfrm>
            <a:off x="609600" y="6210300"/>
            <a:ext cx="10287000" cy="457200"/>
          </a:xfrm>
          <a:prstGeom prst="rect">
            <a:avLst/>
          </a:prstGeom>
          <a:noFill/>
          <a:ln w="0">
            <a:noFill/>
          </a:ln>
        </p:spPr>
        <p:txBody>
          <a:bodyPr>
            <a:noAutofit/>
          </a:bodyPr>
          <a:lstStyle/>
          <a:p>
            <a:pPr>
              <a:defRPr sz="1125" b="0">
                <a:solidFill>
                  <a:srgbClr val="526471"/>
                </a:solidFill>
                <a:latin typeface="Arial"/>
                <a:ea typeface="Arial"/>
                <a:cs typeface="Arial"/>
              </a:defRPr>
            </a:pPr>
            <a:r>
              <a:rPr sz="1125" b="0">
                <a:solidFill>
                  <a:srgbClr val="526471"/>
                </a:solidFill>
                <a:latin typeface="Arial"/>
                <a:ea typeface="Arial"/>
                <a:cs typeface="Arial"/>
              </a:rPr>
              <a:t>n = 14.763. Población representada ≈ 3.686.406 personas. Fuente: GEIH 2018, Bogotá.</a:t>
            </a:r>
          </a:p>
        </p:txBody>
      </p:sp>
      <p:sp>
        <p:nvSpPr>
          <p:cNvPr id="3" name="Rectángulo 2">
            <a:extLst>
              <a:ext uri="{FF2B5EF4-FFF2-40B4-BE49-F238E27FC236}">
                <a16:creationId xmlns:a16="http://schemas.microsoft.com/office/drawing/2014/main" id="{1179E10F-7C37-47F9-8ED6-C380CBE04C59}"/>
              </a:ext>
            </a:extLst>
          </p:cNvPr>
          <p:cNvSpPr>
            <a:spLocks noGrp="1"/>
          </p:cNvSpPr>
          <p:nvPr/>
        </p:nvSpPr>
        <p:spPr>
          <a:xfrm>
            <a:off x="11144250" y="6343650"/>
            <a:ext cx="419100" cy="247650"/>
          </a:xfrm>
          <a:prstGeom prst="rect">
            <a:avLst/>
          </a:prstGeom>
          <a:noFill/>
          <a:ln w="0">
            <a:noFill/>
          </a:ln>
        </p:spPr>
        <p:txBody>
          <a:bodyPr>
            <a:noAutofit/>
          </a:bodyPr>
          <a:lstStyle/>
          <a:p>
            <a:pPr>
              <a:defRPr sz="1200" b="0">
                <a:solidFill>
                  <a:srgbClr val="526471"/>
                </a:solidFill>
                <a:latin typeface="Arial"/>
                <a:ea typeface="Arial"/>
                <a:cs typeface="Arial"/>
              </a:defRPr>
            </a:pPr>
            <a:r>
              <a:rPr sz="1200" b="0">
                <a:solidFill>
                  <a:srgbClr val="526471"/>
                </a:solidFill>
                <a:latin typeface="Arial"/>
                <a:ea typeface="Arial"/>
                <a:cs typeface="Arial"/>
              </a:rPr>
              <a:t>7</a:t>
            </a:r>
          </a:p>
        </p:txBody>
      </p:sp>
      <mc:AlternateContent xmlns:mc="http://schemas.openxmlformats.org/markup-compatibility/2006" xmlns:a14="http://schemas.microsoft.com/office/drawing/2010/main">
        <mc:Choice Requires="a14">
          <p:sp>
            <p:nvSpPr>
              <p:cNvPr id="4" name="EQ_gap_4_0">
                <a:extLst>
                  <a:ext uri="{FF2B5EF4-FFF2-40B4-BE49-F238E27FC236}">
                    <a16:creationId xmlns:a16="http://schemas.microsoft.com/office/drawing/2014/main" id="{0601DDA2-5A58-4A67-8360-AAEB3781FAF3}"/>
                  </a:ext>
                </a:extLst>
              </p:cNvPr>
              <p:cNvSpPr>
                <a:spLocks noGrp="1"/>
              </p:cNvSpPr>
              <p:nvPr/>
            </p:nvSpPr>
            <p:spPr>
              <a:xfrm>
                <a:off x="685800" y="1333500"/>
                <a:ext cx="10763250" cy="857250"/>
              </a:xfrm>
              <a:prstGeom prst="rect">
                <a:avLst/>
              </a:prstGeom>
              <a:noFill/>
              <a:ln w="0">
                <a:noFill/>
              </a:ln>
            </p:spPr>
            <p:txBody>
              <a:bodyPr/>
              <a:lstStyle/>
              <a:p>
                <a:pPr algn="l"/>
                <a14:m>
                  <m:oMathPara xmlns:m="http://schemas.openxmlformats.org/officeDocument/2006/math">
                    <m:oMath>
                      <m:sSub>
                        <m:sSubPr>
                          <m:ctrlPr>
                            <a:rPr>
                              <a:latin typeface="Cambria Math" panose="02040503050406030204" pitchFamily="18" charset="0"/>
                            </a:rPr>
                          </m:ctrlPr>
                        </m:sSubPr>
                        <m:e>
                          <m:r>
                            <a:rPr>
                              <a:latin typeface="Cambria Math" panose="02040503050406030204" pitchFamily="18" charset="0"/>
                            </a:rPr>
                            <m:t>𝑦</m:t>
                          </m:r>
                        </m:e>
                        <m:sub>
                          <m:r>
                            <a:rPr>
                              <a:latin typeface="Cambria Math" panose="02040503050406030204" pitchFamily="18" charset="0"/>
                            </a:rPr>
                            <m:t>𝑖</m:t>
                          </m:r>
                        </m:sub>
                      </m:sSub>
                      <m:r>
                        <a:rPr>
                          <a:latin typeface="Cambria Math" panose="02040503050406030204" pitchFamily="18" charset="0"/>
                        </a:rPr>
                        <m:t>=</m:t>
                      </m:r>
                      <m:r>
                        <a:rPr>
                          <a:latin typeface="Cambria Math" panose="02040503050406030204" pitchFamily="18" charset="0"/>
                        </a:rPr>
                        <m:t>𝛼</m:t>
                      </m:r>
                      <m:r>
                        <a:rPr>
                          <a:latin typeface="Cambria Math" panose="02040503050406030204" pitchFamily="18" charset="0"/>
                        </a:rPr>
                        <m:t>+</m:t>
                      </m:r>
                      <m:r>
                        <a:rPr>
                          <a:latin typeface="Cambria Math" panose="02040503050406030204" pitchFamily="18" charset="0"/>
                        </a:rPr>
                        <m:t>𝛿</m:t>
                      </m:r>
                      <m:sSub>
                        <m:sSubPr>
                          <m:ctrlPr>
                            <a:rPr>
                              <a:latin typeface="Cambria Math" panose="02040503050406030204" pitchFamily="18" charset="0"/>
                            </a:rPr>
                          </m:ctrlPr>
                        </m:sSubPr>
                        <m:e>
                          <m:r>
                            <a:rPr>
                              <a:latin typeface="Cambria Math" panose="02040503050406030204" pitchFamily="18" charset="0"/>
                            </a:rPr>
                            <m:t>𝐹</m:t>
                          </m:r>
                        </m:e>
                        <m:sub>
                          <m:r>
                            <a:rPr>
                              <a:latin typeface="Cambria Math" panose="02040503050406030204" pitchFamily="18" charset="0"/>
                            </a:rPr>
                            <m:t>𝑖</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𝑢</m:t>
                          </m:r>
                        </m:e>
                        <m:sub>
                          <m:r>
                            <a:rPr>
                              <a:latin typeface="Cambria Math" panose="02040503050406030204" pitchFamily="18" charset="0"/>
                            </a:rPr>
                            <m:t>𝑖</m:t>
                          </m:r>
                        </m:sub>
                      </m:sSub>
                      <m:r>
                        <a:rPr>
                          <a:latin typeface="Cambria Math" panose="02040503050406030204" pitchFamily="18" charset="0"/>
                        </a:rPr>
                        <m:t>,</m:t>
                      </m:r>
                      <m:r>
                        <m:rPr>
                          <m:nor/>
                        </m:rPr>
                        <a:rPr i="0"/>
                        <m:t> </m:t>
                      </m:r>
                      <m:r>
                        <m:rPr>
                          <m:sty m:val="p"/>
                        </m:rPr>
                        <a:rPr>
                          <a:latin typeface="Cambria Math" panose="02040503050406030204" pitchFamily="18" charset="0"/>
                        </a:rPr>
                        <m:t>brecha</m:t>
                      </m:r>
                      <m:r>
                        <a:rPr>
                          <a:latin typeface="Cambria Math" panose="02040503050406030204" pitchFamily="18" charset="0"/>
                        </a:rPr>
                        <m:t>=100[</m:t>
                      </m:r>
                      <m:r>
                        <m:rPr>
                          <m:sty m:val="p"/>
                        </m:rPr>
                        <a:rPr>
                          <a:latin typeface="Cambria Math" panose="02040503050406030204" pitchFamily="18" charset="0"/>
                        </a:rPr>
                        <m:t>exp</m:t>
                      </m:r>
                      <m:r>
                        <a:rPr>
                          <a:latin typeface="Cambria Math" panose="02040503050406030204" pitchFamily="18" charset="0"/>
                        </a:rPr>
                        <m:t>(</m:t>
                      </m:r>
                      <m:acc>
                        <m:accPr>
                          <m:chr m:val="ˆ"/>
                          <m:ctrlPr>
                            <a:rPr>
                              <a:latin typeface="Cambria Math" panose="02040503050406030204" pitchFamily="18" charset="0"/>
                            </a:rPr>
                          </m:ctrlPr>
                        </m:accPr>
                        <m:e>
                          <m:r>
                            <a:rPr>
                              <a:latin typeface="Cambria Math" panose="02040503050406030204" pitchFamily="18" charset="0"/>
                            </a:rPr>
                            <m:t>𝛿</m:t>
                          </m:r>
                        </m:e>
                      </m:acc>
                      <m:r>
                        <a:rPr>
                          <a:latin typeface="Cambria Math" panose="02040503050406030204" pitchFamily="18" charset="0"/>
                        </a:rPr>
                        <m:t>)−1]</m:t>
                      </m:r>
                    </m:oMath>
                  </m:oMathPara>
                </a14:m>
                <a:endParaRPr sz="2800"/>
              </a:p>
            </p:txBody>
          </p:sp>
        </mc:Choice>
        <mc:Fallback xmlns="">
          <p:sp>
            <p:nvSpPr>
              <p:cNvPr id="4" name="EQ_gap_4_0">
                <a:extLst>
                  <a:ext uri="{FF2B5EF4-FFF2-40B4-BE49-F238E27FC236}">
                    <a16:creationId xmlns:a16="http://schemas.microsoft.com/office/drawing/2014/main" id="{0601DDA2-5A58-4A67-8360-AAEB3781FAF3}"/>
                  </a:ext>
                </a:extLst>
              </p:cNvPr>
              <p:cNvSpPr>
                <a:spLocks noGrp="1" noRot="1" noChangeAspect="1" noMove="1" noResize="1" noEditPoints="1" noAdjustHandles="1" noChangeArrowheads="1" noChangeShapeType="1" noTextEdit="1"/>
              </p:cNvSpPr>
              <p:nvPr/>
            </p:nvSpPr>
            <p:spPr>
              <a:xfrm>
                <a:off x="685800" y="1333500"/>
                <a:ext cx="10763250" cy="857250"/>
              </a:xfrm>
              <a:prstGeom prst="rect">
                <a:avLst/>
              </a:prstGeom>
              <a:blipFill>
                <a:blip r:embed="rId3"/>
                <a:stretch>
                  <a:fillRect t="-3571"/>
                </a:stretch>
              </a:blipFill>
              <a:ln w="0">
                <a:noFill/>
              </a:ln>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5" name="EQ_gap_4_1">
                <a:extLst>
                  <a:ext uri="{FF2B5EF4-FFF2-40B4-BE49-F238E27FC236}">
                    <a16:creationId xmlns:a16="http://schemas.microsoft.com/office/drawing/2014/main" id="{933CAD28-0B26-4CBB-A4BD-96EE44628E42}"/>
                  </a:ext>
                </a:extLst>
              </p:cNvPr>
              <p:cNvSpPr>
                <a:spLocks noGrp="1"/>
              </p:cNvSpPr>
              <p:nvPr/>
            </p:nvSpPr>
            <p:spPr>
              <a:xfrm>
                <a:off x="685800" y="2619375"/>
                <a:ext cx="10763250" cy="619125"/>
              </a:xfrm>
              <a:prstGeom prst="rect">
                <a:avLst/>
              </a:prstGeom>
              <a:noFill/>
              <a:ln w="0">
                <a:noFill/>
              </a:ln>
            </p:spPr>
            <p:txBody>
              <a:bodyPr/>
              <a:lstStyle/>
              <a:p>
                <a:pPr algn="l"/>
                <a14:m>
                  <m:oMathPara xmlns:m="http://schemas.openxmlformats.org/officeDocument/2006/math">
                    <m:oMath>
                      <m:sSub>
                        <m:sSubPr>
                          <m:ctrlPr>
                            <a:rPr>
                              <a:latin typeface="Cambria Math" panose="02040503050406030204" pitchFamily="18" charset="0"/>
                            </a:rPr>
                          </m:ctrlPr>
                        </m:sSubPr>
                        <m:e>
                          <m:r>
                            <a:rPr>
                              <a:latin typeface="Cambria Math" panose="02040503050406030204" pitchFamily="18" charset="0"/>
                            </a:rPr>
                            <m:t>𝑦</m:t>
                          </m:r>
                        </m:e>
                        <m:sub>
                          <m:r>
                            <a:rPr>
                              <a:latin typeface="Cambria Math" panose="02040503050406030204" pitchFamily="18" charset="0"/>
                            </a:rPr>
                            <m:t>𝑖</m:t>
                          </m:r>
                        </m:sub>
                      </m:sSub>
                      <m:r>
                        <a:rPr>
                          <a:latin typeface="Cambria Math" panose="02040503050406030204" pitchFamily="18" charset="0"/>
                        </a:rPr>
                        <m:t>=</m:t>
                      </m:r>
                      <m:r>
                        <a:rPr>
                          <a:latin typeface="Cambria Math" panose="02040503050406030204" pitchFamily="18" charset="0"/>
                        </a:rPr>
                        <m:t>𝛿</m:t>
                      </m:r>
                      <m:sSub>
                        <m:sSubPr>
                          <m:ctrlPr>
                            <a:rPr>
                              <a:latin typeface="Cambria Math" panose="02040503050406030204" pitchFamily="18" charset="0"/>
                            </a:rPr>
                          </m:ctrlPr>
                        </m:sSubPr>
                        <m:e>
                          <m:r>
                            <a:rPr>
                              <a:latin typeface="Cambria Math" panose="02040503050406030204" pitchFamily="18" charset="0"/>
                            </a:rPr>
                            <m:t>𝐹</m:t>
                          </m:r>
                        </m:e>
                        <m:sub>
                          <m:r>
                            <a:rPr>
                              <a:latin typeface="Cambria Math" panose="02040503050406030204" pitchFamily="18" charset="0"/>
                            </a:rPr>
                            <m:t>𝑖</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𝑊</m:t>
                          </m:r>
                        </m:e>
                        <m:sub>
                          <m:r>
                            <a:rPr>
                              <a:latin typeface="Cambria Math" panose="02040503050406030204" pitchFamily="18" charset="0"/>
                            </a:rPr>
                            <m:t>𝑖</m:t>
                          </m:r>
                        </m:sub>
                      </m:sSub>
                      <m:r>
                        <a:rPr>
                          <a:latin typeface="Cambria Math" panose="02040503050406030204" pitchFamily="18" charset="0"/>
                        </a:rPr>
                        <m:t>′</m:t>
                      </m:r>
                      <m:r>
                        <a:rPr>
                          <a:latin typeface="Cambria Math" panose="02040503050406030204" pitchFamily="18" charset="0"/>
                        </a:rPr>
                        <m:t>𝛾</m:t>
                      </m:r>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𝑢</m:t>
                          </m:r>
                        </m:e>
                        <m:sub>
                          <m:r>
                            <a:rPr>
                              <a:latin typeface="Cambria Math" panose="02040503050406030204" pitchFamily="18" charset="0"/>
                            </a:rPr>
                            <m:t>𝑖</m:t>
                          </m:r>
                        </m:sub>
                      </m:sSub>
                    </m:oMath>
                  </m:oMathPara>
                </a14:m>
                <a:endParaRPr sz="2900"/>
              </a:p>
            </p:txBody>
          </p:sp>
        </mc:Choice>
        <mc:Fallback xmlns="">
          <p:sp>
            <p:nvSpPr>
              <p:cNvPr id="5" name="EQ_gap_4_1">
                <a:extLst>
                  <a:ext uri="{FF2B5EF4-FFF2-40B4-BE49-F238E27FC236}">
                    <a16:creationId xmlns:a16="http://schemas.microsoft.com/office/drawing/2014/main" id="{933CAD28-0B26-4CBB-A4BD-96EE44628E42}"/>
                  </a:ext>
                </a:extLst>
              </p:cNvPr>
              <p:cNvSpPr>
                <a:spLocks noGrp="1" noRot="1" noChangeAspect="1" noMove="1" noResize="1" noEditPoints="1" noAdjustHandles="1" noChangeArrowheads="1" noChangeShapeType="1" noTextEdit="1"/>
              </p:cNvSpPr>
              <p:nvPr/>
            </p:nvSpPr>
            <p:spPr>
              <a:xfrm>
                <a:off x="685800" y="2619375"/>
                <a:ext cx="10763250" cy="619125"/>
              </a:xfrm>
              <a:prstGeom prst="rect">
                <a:avLst/>
              </a:prstGeom>
              <a:blipFill>
                <a:blip r:embed="rId4"/>
                <a:stretch>
                  <a:fillRect/>
                </a:stretch>
              </a:blipFill>
              <a:ln w="0">
                <a:noFill/>
              </a:ln>
            </p:spPr>
            <p:txBody>
              <a:bodyPr/>
              <a:lstStyle/>
              <a:p>
                <a:r>
                  <a:rPr lang="es-CO">
                    <a:noFill/>
                  </a:rPr>
                  <a:t> </a:t>
                </a:r>
              </a:p>
            </p:txBody>
          </p:sp>
        </mc:Fallback>
      </mc:AlternateContent>
      <p:sp>
        <p:nvSpPr>
          <p:cNvPr id="6" name="Rectángulo 5">
            <a:extLst>
              <a:ext uri="{FF2B5EF4-FFF2-40B4-BE49-F238E27FC236}">
                <a16:creationId xmlns:a16="http://schemas.microsoft.com/office/drawing/2014/main" id="{9C5D6EF8-D8E1-4F69-9B51-9B39C1F30673}"/>
              </a:ext>
            </a:extLst>
          </p:cNvPr>
          <p:cNvSpPr>
            <a:spLocks noGrp="1"/>
          </p:cNvSpPr>
          <p:nvPr/>
        </p:nvSpPr>
        <p:spPr>
          <a:xfrm>
            <a:off x="685800" y="3714750"/>
            <a:ext cx="5048250" cy="2143125"/>
          </a:xfrm>
          <a:prstGeom prst="rect">
            <a:avLst/>
          </a:prstGeom>
          <a:noFill/>
          <a:ln w="0">
            <a:noFill/>
          </a:ln>
        </p:spPr>
        <p:txBody>
          <a:bodyPr>
            <a:noAutofit/>
          </a:bodyPr>
          <a:lstStyle/>
          <a:p>
            <a:pPr>
              <a:defRPr sz="2025" b="0">
                <a:solidFill>
                  <a:srgbClr val="172F42"/>
                </a:solidFill>
                <a:latin typeface="Arial"/>
                <a:ea typeface="Arial"/>
                <a:cs typeface="Arial"/>
              </a:defRPr>
            </a:pPr>
            <a:r>
              <a:rPr sz="2025" b="0" dirty="0">
                <a:solidFill>
                  <a:srgbClr val="172F42"/>
                </a:solidFill>
                <a:latin typeface="Arial"/>
                <a:ea typeface="Arial"/>
                <a:cs typeface="Arial"/>
              </a:rPr>
              <a:t>F = 1 para </a:t>
            </a:r>
            <a:r>
              <a:rPr sz="2025" b="0" dirty="0" err="1">
                <a:solidFill>
                  <a:srgbClr val="172F42"/>
                </a:solidFill>
                <a:latin typeface="Arial"/>
                <a:ea typeface="Arial"/>
                <a:cs typeface="Arial"/>
              </a:rPr>
              <a:t>mujeres</a:t>
            </a:r>
            <a:endParaRPr sz="2025" b="0" dirty="0">
              <a:solidFill>
                <a:srgbClr val="172F42"/>
              </a:solidFill>
              <a:latin typeface="Arial"/>
              <a:ea typeface="Arial"/>
              <a:cs typeface="Arial"/>
            </a:endParaRPr>
          </a:p>
          <a:p>
            <a:endParaRPr sz="2025" b="0" dirty="0">
              <a:solidFill>
                <a:srgbClr val="172F42"/>
              </a:solidFill>
              <a:latin typeface="Arial"/>
              <a:ea typeface="Arial"/>
              <a:cs typeface="Arial"/>
            </a:endParaRPr>
          </a:p>
          <a:p>
            <a:pPr>
              <a:defRPr sz="2025" b="0">
                <a:solidFill>
                  <a:srgbClr val="172F42"/>
                </a:solidFill>
                <a:latin typeface="Arial"/>
                <a:ea typeface="Arial"/>
                <a:cs typeface="Arial"/>
              </a:defRPr>
            </a:pPr>
            <a:r>
              <a:rPr sz="2025" b="0" dirty="0">
                <a:solidFill>
                  <a:srgbClr val="172F42"/>
                </a:solidFill>
                <a:latin typeface="Arial"/>
                <a:ea typeface="Arial"/>
                <a:cs typeface="Arial"/>
              </a:rPr>
              <a:t>W </a:t>
            </a:r>
            <a:r>
              <a:rPr sz="2025" b="0" dirty="0" err="1">
                <a:solidFill>
                  <a:srgbClr val="172F42"/>
                </a:solidFill>
                <a:latin typeface="Arial"/>
                <a:ea typeface="Arial"/>
                <a:cs typeface="Arial"/>
              </a:rPr>
              <a:t>incluye</a:t>
            </a:r>
            <a:r>
              <a:rPr sz="2025" b="0" dirty="0">
                <a:solidFill>
                  <a:srgbClr val="172F42"/>
                </a:solidFill>
                <a:latin typeface="Arial"/>
                <a:ea typeface="Arial"/>
                <a:cs typeface="Arial"/>
              </a:rPr>
              <a:t> </a:t>
            </a:r>
            <a:r>
              <a:rPr sz="2025" b="0" dirty="0" err="1">
                <a:solidFill>
                  <a:srgbClr val="172F42"/>
                </a:solidFill>
                <a:latin typeface="Arial"/>
                <a:ea typeface="Arial"/>
                <a:cs typeface="Arial"/>
              </a:rPr>
              <a:t>constante</a:t>
            </a:r>
            <a:r>
              <a:rPr sz="2025" b="0" dirty="0">
                <a:solidFill>
                  <a:srgbClr val="172F42"/>
                </a:solidFill>
                <a:latin typeface="Arial"/>
                <a:ea typeface="Arial"/>
                <a:cs typeface="Arial"/>
              </a:rPr>
              <a:t> y </a:t>
            </a:r>
            <a:r>
              <a:rPr sz="2025" b="0" dirty="0" err="1">
                <a:solidFill>
                  <a:srgbClr val="172F42"/>
                </a:solidFill>
                <a:latin typeface="Arial"/>
                <a:ea typeface="Arial"/>
                <a:cs typeface="Arial"/>
              </a:rPr>
              <a:t>los</a:t>
            </a:r>
            <a:r>
              <a:rPr sz="2025" b="0" dirty="0">
                <a:solidFill>
                  <a:srgbClr val="172F42"/>
                </a:solidFill>
                <a:latin typeface="Arial"/>
                <a:ea typeface="Arial"/>
                <a:cs typeface="Arial"/>
              </a:rPr>
              <a:t> </a:t>
            </a:r>
            <a:r>
              <a:rPr sz="2025" b="0" dirty="0" err="1">
                <a:solidFill>
                  <a:srgbClr val="172F42"/>
                </a:solidFill>
                <a:latin typeface="Arial"/>
                <a:ea typeface="Arial"/>
                <a:cs typeface="Arial"/>
              </a:rPr>
              <a:t>controles</a:t>
            </a:r>
            <a:r>
              <a:rPr sz="2025" b="0" dirty="0">
                <a:solidFill>
                  <a:srgbClr val="172F42"/>
                </a:solidFill>
                <a:latin typeface="Arial"/>
                <a:ea typeface="Arial"/>
                <a:cs typeface="Arial"/>
              </a:rPr>
              <a:t> de la </a:t>
            </a:r>
            <a:r>
              <a:rPr sz="2025" b="0" dirty="0" err="1">
                <a:solidFill>
                  <a:srgbClr val="172F42"/>
                </a:solidFill>
                <a:latin typeface="Arial"/>
                <a:ea typeface="Arial"/>
                <a:cs typeface="Arial"/>
              </a:rPr>
              <a:t>especificación</a:t>
            </a:r>
            <a:r>
              <a:rPr sz="2025" b="0" dirty="0">
                <a:solidFill>
                  <a:srgbClr val="172F42"/>
                </a:solidFill>
                <a:latin typeface="Arial"/>
                <a:ea typeface="Arial"/>
                <a:cs typeface="Arial"/>
              </a:rPr>
              <a:t>. S5 </a:t>
            </a:r>
            <a:r>
              <a:rPr sz="2025" b="0" dirty="0" err="1">
                <a:solidFill>
                  <a:srgbClr val="172F42"/>
                </a:solidFill>
                <a:latin typeface="Arial"/>
                <a:ea typeface="Arial"/>
                <a:cs typeface="Arial"/>
              </a:rPr>
              <a:t>compara</a:t>
            </a:r>
            <a:r>
              <a:rPr sz="2025" b="0" dirty="0">
                <a:solidFill>
                  <a:srgbClr val="172F42"/>
                </a:solidFill>
                <a:latin typeface="Arial"/>
                <a:ea typeface="Arial"/>
                <a:cs typeface="Arial"/>
              </a:rPr>
              <a:t> capital </a:t>
            </a:r>
            <a:r>
              <a:rPr sz="2025" b="0" dirty="0" err="1">
                <a:solidFill>
                  <a:srgbClr val="172F42"/>
                </a:solidFill>
                <a:latin typeface="Arial"/>
                <a:ea typeface="Arial"/>
                <a:cs typeface="Arial"/>
              </a:rPr>
              <a:t>humano</a:t>
            </a:r>
            <a:r>
              <a:rPr sz="2025" b="0" dirty="0">
                <a:solidFill>
                  <a:srgbClr val="172F42"/>
                </a:solidFill>
                <a:latin typeface="Arial"/>
                <a:ea typeface="Arial"/>
                <a:cs typeface="Arial"/>
              </a:rPr>
              <a:t> e </a:t>
            </a:r>
            <a:r>
              <a:rPr sz="2025" b="0" dirty="0" err="1">
                <a:solidFill>
                  <a:srgbClr val="172F42"/>
                </a:solidFill>
                <a:latin typeface="Arial"/>
                <a:ea typeface="Arial"/>
                <a:cs typeface="Arial"/>
              </a:rPr>
              <a:t>inserción</a:t>
            </a:r>
            <a:r>
              <a:rPr sz="2025" b="0" dirty="0">
                <a:solidFill>
                  <a:srgbClr val="172F42"/>
                </a:solidFill>
                <a:latin typeface="Arial"/>
                <a:ea typeface="Arial"/>
                <a:cs typeface="Arial"/>
              </a:rPr>
              <a:t> </a:t>
            </a:r>
            <a:r>
              <a:rPr sz="2025" b="0" dirty="0" err="1">
                <a:solidFill>
                  <a:srgbClr val="172F42"/>
                </a:solidFill>
                <a:latin typeface="Arial"/>
                <a:ea typeface="Arial"/>
                <a:cs typeface="Arial"/>
              </a:rPr>
              <a:t>laboral</a:t>
            </a:r>
            <a:r>
              <a:rPr sz="2025" b="0" dirty="0">
                <a:solidFill>
                  <a:srgbClr val="172F42"/>
                </a:solidFill>
                <a:latin typeface="Arial"/>
                <a:ea typeface="Arial"/>
                <a:cs typeface="Arial"/>
              </a:rPr>
              <a:t>.</a:t>
            </a:r>
          </a:p>
        </p:txBody>
      </p:sp>
      <p:sp>
        <p:nvSpPr>
          <p:cNvPr id="7" name="Rectángulo 6">
            <a:extLst>
              <a:ext uri="{FF2B5EF4-FFF2-40B4-BE49-F238E27FC236}">
                <a16:creationId xmlns:a16="http://schemas.microsoft.com/office/drawing/2014/main" id="{33181640-745E-4F4A-80D3-39F83479DFFF}"/>
              </a:ext>
            </a:extLst>
          </p:cNvPr>
          <p:cNvSpPr>
            <a:spLocks noGrp="1"/>
          </p:cNvSpPr>
          <p:nvPr/>
        </p:nvSpPr>
        <p:spPr>
          <a:xfrm>
            <a:off x="6438900" y="3714750"/>
            <a:ext cx="5048250" cy="2143125"/>
          </a:xfrm>
          <a:prstGeom prst="rect">
            <a:avLst/>
          </a:prstGeom>
          <a:noFill/>
          <a:ln w="0">
            <a:noFill/>
          </a:ln>
        </p:spPr>
        <p:txBody>
          <a:bodyPr>
            <a:noAutofit/>
          </a:bodyPr>
          <a:lstStyle/>
          <a:p>
            <a:pPr>
              <a:defRPr sz="2025" b="0">
                <a:solidFill>
                  <a:srgbClr val="172F42"/>
                </a:solidFill>
                <a:latin typeface="Arial"/>
                <a:ea typeface="Arial"/>
                <a:cs typeface="Arial"/>
              </a:defRPr>
            </a:pPr>
            <a:r>
              <a:rPr sz="2025" b="0">
                <a:solidFill>
                  <a:srgbClr val="172F42"/>
                </a:solidFill>
                <a:latin typeface="Arial"/>
                <a:ea typeface="Arial"/>
                <a:cs typeface="Arial"/>
              </a:rPr>
              <a:t>La interpretación requiere cuidado</a:t>
            </a:r>
          </a:p>
          <a:p>
            <a:endParaRPr sz="2025" b="0">
              <a:solidFill>
                <a:srgbClr val="172F42"/>
              </a:solidFill>
              <a:latin typeface="Arial"/>
              <a:ea typeface="Arial"/>
              <a:cs typeface="Arial"/>
            </a:endParaRPr>
          </a:p>
          <a:p>
            <a:pPr>
              <a:defRPr sz="2025" b="0">
                <a:solidFill>
                  <a:srgbClr val="172F42"/>
                </a:solidFill>
                <a:latin typeface="Arial"/>
                <a:ea typeface="Arial"/>
                <a:cs typeface="Arial"/>
              </a:defRPr>
            </a:pPr>
            <a:r>
              <a:rPr sz="2025" b="0">
                <a:solidFill>
                  <a:srgbClr val="172F42"/>
                </a:solidFill>
                <a:latin typeface="Arial"/>
                <a:ea typeface="Arial"/>
                <a:cs typeface="Arial"/>
              </a:rPr>
              <a:t>Ocupación, vínculo y horas pueden reflejar mecanismos de la propia desigualdad.</a:t>
            </a:r>
          </a:p>
        </p:txBody>
      </p:sp>
    </p:spTree>
    <p:extLst>
      <p:ext uri="{BB962C8B-B14F-4D97-AF65-F5344CB8AC3E}">
        <p14:creationId xmlns:p14="http://schemas.microsoft.com/office/powerpoint/2010/main" val="8668412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D52ED56D-14A3-43D0-936F-7EFD272F73C4}"/>
              </a:ext>
            </a:extLst>
          </p:cNvPr>
          <p:cNvSpPr>
            <a:spLocks noGrp="1"/>
          </p:cNvSpPr>
          <p:nvPr/>
        </p:nvSpPr>
        <p:spPr>
          <a:xfrm>
            <a:off x="609600" y="333375"/>
            <a:ext cx="10972800" cy="762000"/>
          </a:xfrm>
          <a:prstGeom prst="rect">
            <a:avLst/>
          </a:prstGeom>
          <a:noFill/>
          <a:ln w="0">
            <a:noFill/>
          </a:ln>
        </p:spPr>
        <p:txBody>
          <a:bodyPr>
            <a:noAutofit/>
          </a:bodyPr>
          <a:lstStyle/>
          <a:p>
            <a:pPr>
              <a:defRPr sz="3150" b="1">
                <a:solidFill>
                  <a:srgbClr val="172F42"/>
                </a:solidFill>
                <a:latin typeface="Arial"/>
                <a:ea typeface="Arial"/>
                <a:cs typeface="Arial"/>
              </a:defRPr>
            </a:pPr>
            <a:r>
              <a:rPr sz="3150" b="1">
                <a:solidFill>
                  <a:srgbClr val="172F42"/>
                </a:solidFill>
                <a:latin typeface="Arial"/>
                <a:ea typeface="Arial"/>
                <a:cs typeface="Arial"/>
              </a:rPr>
              <a:t>La escalera de controles cambia la brecha</a:t>
            </a:r>
          </a:p>
        </p:txBody>
      </p:sp>
      <p:sp>
        <p:nvSpPr>
          <p:cNvPr id="2" name="Rectángulo 1">
            <a:extLst>
              <a:ext uri="{FF2B5EF4-FFF2-40B4-BE49-F238E27FC236}">
                <a16:creationId xmlns:a16="http://schemas.microsoft.com/office/drawing/2014/main" id="{FE5E215B-566C-4DF7-B60A-92E17ACB5888}"/>
              </a:ext>
            </a:extLst>
          </p:cNvPr>
          <p:cNvSpPr>
            <a:spLocks noGrp="1"/>
          </p:cNvSpPr>
          <p:nvPr/>
        </p:nvSpPr>
        <p:spPr>
          <a:xfrm>
            <a:off x="609600" y="6210300"/>
            <a:ext cx="10287000" cy="457200"/>
          </a:xfrm>
          <a:prstGeom prst="rect">
            <a:avLst/>
          </a:prstGeom>
          <a:noFill/>
          <a:ln w="0">
            <a:noFill/>
          </a:ln>
        </p:spPr>
        <p:txBody>
          <a:bodyPr>
            <a:noAutofit/>
          </a:bodyPr>
          <a:lstStyle/>
          <a:p>
            <a:pPr>
              <a:defRPr sz="1125" b="0">
                <a:solidFill>
                  <a:srgbClr val="526471"/>
                </a:solidFill>
                <a:latin typeface="Arial"/>
                <a:ea typeface="Arial"/>
                <a:cs typeface="Arial"/>
              </a:defRPr>
            </a:pPr>
            <a:r>
              <a:rPr sz="1125" b="0">
                <a:solidFill>
                  <a:srgbClr val="526471"/>
                </a:solidFill>
                <a:latin typeface="Arial"/>
                <a:ea typeface="Arial"/>
                <a:cs typeface="Arial"/>
              </a:rPr>
              <a:t>n = 14.763. Población representada ≈ 3.686.406 personas. Fuente: GEIH 2018, Bogotá.</a:t>
            </a:r>
          </a:p>
        </p:txBody>
      </p:sp>
      <p:sp>
        <p:nvSpPr>
          <p:cNvPr id="3" name="Rectángulo 2">
            <a:extLst>
              <a:ext uri="{FF2B5EF4-FFF2-40B4-BE49-F238E27FC236}">
                <a16:creationId xmlns:a16="http://schemas.microsoft.com/office/drawing/2014/main" id="{A1B3149D-4387-424E-86BE-7EFB3A80D4B6}"/>
              </a:ext>
            </a:extLst>
          </p:cNvPr>
          <p:cNvSpPr>
            <a:spLocks noGrp="1"/>
          </p:cNvSpPr>
          <p:nvPr/>
        </p:nvSpPr>
        <p:spPr>
          <a:xfrm>
            <a:off x="11144250" y="6343650"/>
            <a:ext cx="419100" cy="247650"/>
          </a:xfrm>
          <a:prstGeom prst="rect">
            <a:avLst/>
          </a:prstGeom>
          <a:noFill/>
          <a:ln w="0">
            <a:noFill/>
          </a:ln>
        </p:spPr>
        <p:txBody>
          <a:bodyPr>
            <a:noAutofit/>
          </a:bodyPr>
          <a:lstStyle/>
          <a:p>
            <a:pPr>
              <a:defRPr sz="1200" b="0">
                <a:solidFill>
                  <a:srgbClr val="526471"/>
                </a:solidFill>
                <a:latin typeface="Arial"/>
                <a:ea typeface="Arial"/>
                <a:cs typeface="Arial"/>
              </a:defRPr>
            </a:pPr>
            <a:r>
              <a:rPr sz="1200" b="0">
                <a:solidFill>
                  <a:srgbClr val="526471"/>
                </a:solidFill>
                <a:latin typeface="Arial"/>
                <a:ea typeface="Arial"/>
                <a:cs typeface="Arial"/>
              </a:rPr>
              <a:t>8</a:t>
            </a:r>
          </a:p>
        </p:txBody>
      </p:sp>
      <p:graphicFrame>
        <p:nvGraphicFramePr>
          <p:cNvPr id="9" name="Tabla 8"/>
          <p:cNvGraphicFramePr/>
          <p:nvPr/>
        </p:nvGraphicFramePr>
        <p:xfrm>
          <a:off x="609600" y="1285875"/>
          <a:ext cx="10972800" cy="3752847"/>
        </p:xfrm>
        <a:graphic>
          <a:graphicData uri="http://schemas.openxmlformats.org/drawingml/2006/table">
            <a:tbl>
              <a:tblPr/>
              <a:tblGrid>
                <a:gridCol w="1238250">
                  <a:extLst>
                    <a:ext uri="{9D8B030D-6E8A-4147-A177-3AD203B41FA5}">
                      <a16:colId xmlns:a16="http://schemas.microsoft.com/office/drawing/2014/main" val="20000"/>
                    </a:ext>
                  </a:extLst>
                </a:gridCol>
                <a:gridCol w="1905000">
                  <a:extLst>
                    <a:ext uri="{9D8B030D-6E8A-4147-A177-3AD203B41FA5}">
                      <a16:colId xmlns:a16="http://schemas.microsoft.com/office/drawing/2014/main" val="20001"/>
                    </a:ext>
                  </a:extLst>
                </a:gridCol>
                <a:gridCol w="2000250">
                  <a:extLst>
                    <a:ext uri="{9D8B030D-6E8A-4147-A177-3AD203B41FA5}">
                      <a16:colId xmlns:a16="http://schemas.microsoft.com/office/drawing/2014/main" val="20002"/>
                    </a:ext>
                  </a:extLst>
                </a:gridCol>
                <a:gridCol w="1809750">
                  <a:extLst>
                    <a:ext uri="{9D8B030D-6E8A-4147-A177-3AD203B41FA5}">
                      <a16:colId xmlns:a16="http://schemas.microsoft.com/office/drawing/2014/main" val="20003"/>
                    </a:ext>
                  </a:extLst>
                </a:gridCol>
                <a:gridCol w="2209800">
                  <a:extLst>
                    <a:ext uri="{9D8B030D-6E8A-4147-A177-3AD203B41FA5}">
                      <a16:colId xmlns:a16="http://schemas.microsoft.com/office/drawing/2014/main" val="20004"/>
                    </a:ext>
                  </a:extLst>
                </a:gridCol>
                <a:gridCol w="1809750">
                  <a:extLst>
                    <a:ext uri="{9D8B030D-6E8A-4147-A177-3AD203B41FA5}">
                      <a16:colId xmlns:a16="http://schemas.microsoft.com/office/drawing/2014/main" val="20005"/>
                    </a:ext>
                  </a:extLst>
                </a:gridCol>
              </a:tblGrid>
              <a:tr h="416983">
                <a:tc>
                  <a:txBody>
                    <a:bodyPr/>
                    <a:lstStyle/>
                    <a:p>
                      <a:r>
                        <a:rPr sz="1725" b="0">
                          <a:solidFill>
                            <a:srgbClr val="172F42"/>
                          </a:solidFill>
                          <a:latin typeface="Arial"/>
                          <a:ea typeface="Arial"/>
                          <a:cs typeface="Arial"/>
                        </a:rPr>
                        <a:t>Modelo</a:t>
                      </a:r>
                    </a:p>
                  </a:txBody>
                  <a:tcPr marL="95250" marR="95250" marT="57150" marB="57150">
                    <a:solidFill>
                      <a:srgbClr val="EDF3F7"/>
                    </a:solidFill>
                  </a:tcPr>
                </a:tc>
                <a:tc>
                  <a:txBody>
                    <a:bodyPr/>
                    <a:lstStyle/>
                    <a:p>
                      <a:r>
                        <a:rPr sz="1725" b="0">
                          <a:solidFill>
                            <a:srgbClr val="172F42"/>
                          </a:solidFill>
                          <a:latin typeface="Arial"/>
                          <a:ea typeface="Arial"/>
                          <a:cs typeface="Arial"/>
                        </a:rPr>
                        <a:t>β de Female</a:t>
                      </a:r>
                    </a:p>
                  </a:txBody>
                  <a:tcPr marL="95250" marR="95250" marT="57150" marB="57150">
                    <a:solidFill>
                      <a:srgbClr val="EDF3F7"/>
                    </a:solidFill>
                  </a:tcPr>
                </a:tc>
                <a:tc>
                  <a:txBody>
                    <a:bodyPr/>
                    <a:lstStyle/>
                    <a:p>
                      <a:r>
                        <a:rPr sz="1725" b="0">
                          <a:solidFill>
                            <a:srgbClr val="172F42"/>
                          </a:solidFill>
                          <a:latin typeface="Arial"/>
                          <a:ea typeface="Arial"/>
                          <a:cs typeface="Arial"/>
                        </a:rPr>
                        <a:t>Brecha (%)</a:t>
                      </a:r>
                    </a:p>
                  </a:txBody>
                  <a:tcPr marL="95250" marR="95250" marT="57150" marB="57150">
                    <a:solidFill>
                      <a:srgbClr val="EDF3F7"/>
                    </a:solidFill>
                  </a:tcPr>
                </a:tc>
                <a:tc>
                  <a:txBody>
                    <a:bodyPr/>
                    <a:lstStyle/>
                    <a:p>
                      <a:r>
                        <a:rPr sz="1725" b="0">
                          <a:solidFill>
                            <a:srgbClr val="172F42"/>
                          </a:solidFill>
                          <a:latin typeface="Arial"/>
                          <a:ea typeface="Arial"/>
                          <a:cs typeface="Arial"/>
                        </a:rPr>
                        <a:t>EE HC1</a:t>
                      </a:r>
                    </a:p>
                  </a:txBody>
                  <a:tcPr marL="95250" marR="95250" marT="57150" marB="57150">
                    <a:solidFill>
                      <a:srgbClr val="EDF3F7"/>
                    </a:solidFill>
                  </a:tcPr>
                </a:tc>
                <a:tc>
                  <a:txBody>
                    <a:bodyPr/>
                    <a:lstStyle/>
                    <a:p>
                      <a:r>
                        <a:rPr sz="1725" b="0">
                          <a:solidFill>
                            <a:srgbClr val="172F42"/>
                          </a:solidFill>
                          <a:latin typeface="Arial"/>
                          <a:ea typeface="Arial"/>
                          <a:cs typeface="Arial"/>
                        </a:rPr>
                        <a:t>EE bootstrap</a:t>
                      </a:r>
                    </a:p>
                  </a:txBody>
                  <a:tcPr marL="95250" marR="95250" marT="57150" marB="57150">
                    <a:solidFill>
                      <a:srgbClr val="EDF3F7"/>
                    </a:solidFill>
                  </a:tcPr>
                </a:tc>
                <a:tc>
                  <a:txBody>
                    <a:bodyPr/>
                    <a:lstStyle/>
                    <a:p>
                      <a:r>
                        <a:rPr sz="1725" b="0">
                          <a:solidFill>
                            <a:srgbClr val="172F42"/>
                          </a:solidFill>
                          <a:latin typeface="Arial"/>
                          <a:ea typeface="Arial"/>
                          <a:cs typeface="Arial"/>
                        </a:rPr>
                        <a:t>R² pond.</a:t>
                      </a:r>
                    </a:p>
                  </a:txBody>
                  <a:tcPr marL="95250" marR="95250" marT="57150" marB="57150">
                    <a:solidFill>
                      <a:srgbClr val="EDF3F7"/>
                    </a:solidFill>
                  </a:tcPr>
                </a:tc>
                <a:extLst>
                  <a:ext uri="{0D108BD9-81ED-4DB2-BD59-A6C34878D82A}">
                    <a16:rowId xmlns:a16="http://schemas.microsoft.com/office/drawing/2014/main" val="10000"/>
                  </a:ext>
                </a:extLst>
              </a:tr>
              <a:tr h="416983">
                <a:tc>
                  <a:txBody>
                    <a:bodyPr/>
                    <a:lstStyle/>
                    <a:p>
                      <a:r>
                        <a:rPr sz="1725" b="0">
                          <a:solidFill>
                            <a:srgbClr val="172F42"/>
                          </a:solidFill>
                          <a:latin typeface="Arial"/>
                          <a:ea typeface="Arial"/>
                          <a:cs typeface="Arial"/>
                        </a:rPr>
                        <a:t>S0</a:t>
                      </a:r>
                    </a:p>
                  </a:txBody>
                  <a:tcPr marL="95250" marR="95250" marT="57150" marB="57150">
                    <a:solidFill>
                      <a:srgbClr val="FFFFFF"/>
                    </a:solidFill>
                  </a:tcPr>
                </a:tc>
                <a:tc>
                  <a:txBody>
                    <a:bodyPr/>
                    <a:lstStyle/>
                    <a:p>
                      <a:r>
                        <a:rPr sz="1725" b="0" dirty="0">
                          <a:solidFill>
                            <a:srgbClr val="172F42"/>
                          </a:solidFill>
                          <a:latin typeface="Arial"/>
                          <a:ea typeface="Arial"/>
                          <a:cs typeface="Arial"/>
                        </a:rPr>
                        <a:t>-0,2405</a:t>
                      </a:r>
                    </a:p>
                  </a:txBody>
                  <a:tcPr marL="95250" marR="95250" marT="57150" marB="57150">
                    <a:solidFill>
                      <a:srgbClr val="FFFFFF"/>
                    </a:solidFill>
                  </a:tcPr>
                </a:tc>
                <a:tc>
                  <a:txBody>
                    <a:bodyPr/>
                    <a:lstStyle/>
                    <a:p>
                      <a:r>
                        <a:rPr sz="1725" b="0">
                          <a:solidFill>
                            <a:srgbClr val="172F42"/>
                          </a:solidFill>
                          <a:latin typeface="Arial"/>
                          <a:ea typeface="Arial"/>
                          <a:cs typeface="Arial"/>
                        </a:rPr>
                        <a:t>-21,37</a:t>
                      </a:r>
                    </a:p>
                  </a:txBody>
                  <a:tcPr marL="95250" marR="95250" marT="57150" marB="57150">
                    <a:solidFill>
                      <a:srgbClr val="FFFFFF"/>
                    </a:solidFill>
                  </a:tcPr>
                </a:tc>
                <a:tc>
                  <a:txBody>
                    <a:bodyPr/>
                    <a:lstStyle/>
                    <a:p>
                      <a:r>
                        <a:rPr sz="1725" b="0">
                          <a:solidFill>
                            <a:srgbClr val="172F42"/>
                          </a:solidFill>
                          <a:latin typeface="Arial"/>
                          <a:ea typeface="Arial"/>
                          <a:cs typeface="Arial"/>
                        </a:rPr>
                        <a:t>0,0152</a:t>
                      </a:r>
                    </a:p>
                  </a:txBody>
                  <a:tcPr marL="95250" marR="95250" marT="57150" marB="57150">
                    <a:solidFill>
                      <a:srgbClr val="FFFFFF"/>
                    </a:solidFill>
                  </a:tcPr>
                </a:tc>
                <a:tc>
                  <a:txBody>
                    <a:bodyPr/>
                    <a:lstStyle/>
                    <a:p>
                      <a:r>
                        <a:rPr sz="1725" b="0">
                          <a:solidFill>
                            <a:srgbClr val="172F42"/>
                          </a:solidFill>
                          <a:latin typeface="Arial"/>
                          <a:ea typeface="Arial"/>
                          <a:cs typeface="Arial"/>
                        </a:rPr>
                        <a:t>0,0159</a:t>
                      </a:r>
                    </a:p>
                  </a:txBody>
                  <a:tcPr marL="95250" marR="95250" marT="57150" marB="57150">
                    <a:solidFill>
                      <a:srgbClr val="FFFFFF"/>
                    </a:solidFill>
                  </a:tcPr>
                </a:tc>
                <a:tc>
                  <a:txBody>
                    <a:bodyPr/>
                    <a:lstStyle/>
                    <a:p>
                      <a:r>
                        <a:rPr sz="1725" b="0">
                          <a:solidFill>
                            <a:srgbClr val="172F42"/>
                          </a:solidFill>
                          <a:latin typeface="Arial"/>
                          <a:ea typeface="Arial"/>
                          <a:cs typeface="Arial"/>
                        </a:rPr>
                        <a:t>0,018</a:t>
                      </a:r>
                    </a:p>
                  </a:txBody>
                  <a:tcPr marL="95250" marR="95250" marT="57150" marB="57150">
                    <a:solidFill>
                      <a:srgbClr val="FFFFFF"/>
                    </a:solidFill>
                  </a:tcPr>
                </a:tc>
                <a:extLst>
                  <a:ext uri="{0D108BD9-81ED-4DB2-BD59-A6C34878D82A}">
                    <a16:rowId xmlns:a16="http://schemas.microsoft.com/office/drawing/2014/main" val="10001"/>
                  </a:ext>
                </a:extLst>
              </a:tr>
              <a:tr h="416983">
                <a:tc>
                  <a:txBody>
                    <a:bodyPr/>
                    <a:lstStyle/>
                    <a:p>
                      <a:r>
                        <a:rPr sz="1725" b="0">
                          <a:solidFill>
                            <a:srgbClr val="172F42"/>
                          </a:solidFill>
                          <a:latin typeface="Arial"/>
                          <a:ea typeface="Arial"/>
                          <a:cs typeface="Arial"/>
                        </a:rPr>
                        <a:t>S1</a:t>
                      </a:r>
                    </a:p>
                  </a:txBody>
                  <a:tcPr marL="95250" marR="95250" marT="57150" marB="57150">
                    <a:solidFill>
                      <a:srgbClr val="FFFFFF"/>
                    </a:solidFill>
                  </a:tcPr>
                </a:tc>
                <a:tc>
                  <a:txBody>
                    <a:bodyPr/>
                    <a:lstStyle/>
                    <a:p>
                      <a:r>
                        <a:rPr sz="1725" b="0">
                          <a:solidFill>
                            <a:srgbClr val="172F42"/>
                          </a:solidFill>
                          <a:latin typeface="Arial"/>
                          <a:ea typeface="Arial"/>
                          <a:cs typeface="Arial"/>
                        </a:rPr>
                        <a:t>-0,2603</a:t>
                      </a:r>
                    </a:p>
                  </a:txBody>
                  <a:tcPr marL="95250" marR="95250" marT="57150" marB="57150">
                    <a:solidFill>
                      <a:srgbClr val="FFFFFF"/>
                    </a:solidFill>
                  </a:tcPr>
                </a:tc>
                <a:tc>
                  <a:txBody>
                    <a:bodyPr/>
                    <a:lstStyle/>
                    <a:p>
                      <a:r>
                        <a:rPr sz="1725" b="0">
                          <a:solidFill>
                            <a:srgbClr val="172F42"/>
                          </a:solidFill>
                          <a:latin typeface="Arial"/>
                          <a:ea typeface="Arial"/>
                          <a:cs typeface="Arial"/>
                        </a:rPr>
                        <a:t>-22,92</a:t>
                      </a:r>
                    </a:p>
                  </a:txBody>
                  <a:tcPr marL="95250" marR="95250" marT="57150" marB="57150">
                    <a:solidFill>
                      <a:srgbClr val="FFFFFF"/>
                    </a:solidFill>
                  </a:tcPr>
                </a:tc>
                <a:tc>
                  <a:txBody>
                    <a:bodyPr/>
                    <a:lstStyle/>
                    <a:p>
                      <a:r>
                        <a:rPr sz="1725" b="0">
                          <a:solidFill>
                            <a:srgbClr val="172F42"/>
                          </a:solidFill>
                          <a:latin typeface="Arial"/>
                          <a:ea typeface="Arial"/>
                          <a:cs typeface="Arial"/>
                        </a:rPr>
                        <a:t>0,0147</a:t>
                      </a:r>
                    </a:p>
                  </a:txBody>
                  <a:tcPr marL="95250" marR="95250" marT="57150" marB="57150">
                    <a:solidFill>
                      <a:srgbClr val="FFFFFF"/>
                    </a:solidFill>
                  </a:tcPr>
                </a:tc>
                <a:tc>
                  <a:txBody>
                    <a:bodyPr/>
                    <a:lstStyle/>
                    <a:p>
                      <a:r>
                        <a:rPr sz="1725" b="0">
                          <a:solidFill>
                            <a:srgbClr val="172F42"/>
                          </a:solidFill>
                          <a:latin typeface="Arial"/>
                          <a:ea typeface="Arial"/>
                          <a:cs typeface="Arial"/>
                        </a:rPr>
                        <a:t>0,0154</a:t>
                      </a:r>
                    </a:p>
                  </a:txBody>
                  <a:tcPr marL="95250" marR="95250" marT="57150" marB="57150">
                    <a:solidFill>
                      <a:srgbClr val="FFFFFF"/>
                    </a:solidFill>
                  </a:tcPr>
                </a:tc>
                <a:tc>
                  <a:txBody>
                    <a:bodyPr/>
                    <a:lstStyle/>
                    <a:p>
                      <a:r>
                        <a:rPr sz="1725" b="0">
                          <a:solidFill>
                            <a:srgbClr val="172F42"/>
                          </a:solidFill>
                          <a:latin typeface="Arial"/>
                          <a:ea typeface="Arial"/>
                          <a:cs typeface="Arial"/>
                        </a:rPr>
                        <a:t>0,073</a:t>
                      </a:r>
                    </a:p>
                  </a:txBody>
                  <a:tcPr marL="95250" marR="95250" marT="57150" marB="57150">
                    <a:solidFill>
                      <a:srgbClr val="FFFFFF"/>
                    </a:solidFill>
                  </a:tcPr>
                </a:tc>
                <a:extLst>
                  <a:ext uri="{0D108BD9-81ED-4DB2-BD59-A6C34878D82A}">
                    <a16:rowId xmlns:a16="http://schemas.microsoft.com/office/drawing/2014/main" val="10002"/>
                  </a:ext>
                </a:extLst>
              </a:tr>
              <a:tr h="416983">
                <a:tc>
                  <a:txBody>
                    <a:bodyPr/>
                    <a:lstStyle/>
                    <a:p>
                      <a:r>
                        <a:rPr sz="1725" b="0">
                          <a:solidFill>
                            <a:srgbClr val="172F42"/>
                          </a:solidFill>
                          <a:latin typeface="Arial"/>
                          <a:ea typeface="Arial"/>
                          <a:cs typeface="Arial"/>
                        </a:rPr>
                        <a:t>S2</a:t>
                      </a:r>
                    </a:p>
                  </a:txBody>
                  <a:tcPr marL="95250" marR="95250" marT="57150" marB="57150">
                    <a:solidFill>
                      <a:srgbClr val="FFFFFF"/>
                    </a:solidFill>
                  </a:tcPr>
                </a:tc>
                <a:tc>
                  <a:txBody>
                    <a:bodyPr/>
                    <a:lstStyle/>
                    <a:p>
                      <a:r>
                        <a:rPr sz="1725" b="0">
                          <a:solidFill>
                            <a:srgbClr val="172F42"/>
                          </a:solidFill>
                          <a:latin typeface="Arial"/>
                          <a:ea typeface="Arial"/>
                          <a:cs typeface="Arial"/>
                        </a:rPr>
                        <a:t>-0,3220</a:t>
                      </a:r>
                    </a:p>
                  </a:txBody>
                  <a:tcPr marL="95250" marR="95250" marT="57150" marB="57150">
                    <a:solidFill>
                      <a:srgbClr val="FFFFFF"/>
                    </a:solidFill>
                  </a:tcPr>
                </a:tc>
                <a:tc>
                  <a:txBody>
                    <a:bodyPr/>
                    <a:lstStyle/>
                    <a:p>
                      <a:r>
                        <a:rPr sz="1725" b="0">
                          <a:solidFill>
                            <a:srgbClr val="172F42"/>
                          </a:solidFill>
                          <a:latin typeface="Arial"/>
                          <a:ea typeface="Arial"/>
                          <a:cs typeface="Arial"/>
                        </a:rPr>
                        <a:t>-27,53</a:t>
                      </a:r>
                    </a:p>
                  </a:txBody>
                  <a:tcPr marL="95250" marR="95250" marT="57150" marB="57150">
                    <a:solidFill>
                      <a:srgbClr val="FFFFFF"/>
                    </a:solidFill>
                  </a:tcPr>
                </a:tc>
                <a:tc>
                  <a:txBody>
                    <a:bodyPr/>
                    <a:lstStyle/>
                    <a:p>
                      <a:r>
                        <a:rPr sz="1725" b="0">
                          <a:solidFill>
                            <a:srgbClr val="172F42"/>
                          </a:solidFill>
                          <a:latin typeface="Arial"/>
                          <a:ea typeface="Arial"/>
                          <a:cs typeface="Arial"/>
                        </a:rPr>
                        <a:t>0,0132</a:t>
                      </a:r>
                    </a:p>
                  </a:txBody>
                  <a:tcPr marL="95250" marR="95250" marT="57150" marB="57150">
                    <a:solidFill>
                      <a:srgbClr val="FFFFFF"/>
                    </a:solidFill>
                  </a:tcPr>
                </a:tc>
                <a:tc>
                  <a:txBody>
                    <a:bodyPr/>
                    <a:lstStyle/>
                    <a:p>
                      <a:r>
                        <a:rPr sz="1725" b="0">
                          <a:solidFill>
                            <a:srgbClr val="172F42"/>
                          </a:solidFill>
                          <a:latin typeface="Arial"/>
                          <a:ea typeface="Arial"/>
                          <a:cs typeface="Arial"/>
                        </a:rPr>
                        <a:t>0,0136</a:t>
                      </a:r>
                    </a:p>
                  </a:txBody>
                  <a:tcPr marL="95250" marR="95250" marT="57150" marB="57150">
                    <a:solidFill>
                      <a:srgbClr val="FFFFFF"/>
                    </a:solidFill>
                  </a:tcPr>
                </a:tc>
                <a:tc>
                  <a:txBody>
                    <a:bodyPr/>
                    <a:lstStyle/>
                    <a:p>
                      <a:r>
                        <a:rPr sz="1725" b="0">
                          <a:solidFill>
                            <a:srgbClr val="172F42"/>
                          </a:solidFill>
                          <a:latin typeface="Arial"/>
                          <a:ea typeface="Arial"/>
                          <a:cs typeface="Arial"/>
                        </a:rPr>
                        <a:t>0,267</a:t>
                      </a:r>
                    </a:p>
                  </a:txBody>
                  <a:tcPr marL="95250" marR="95250" marT="57150" marB="57150">
                    <a:solidFill>
                      <a:srgbClr val="FFFFFF"/>
                    </a:solidFill>
                  </a:tcPr>
                </a:tc>
                <a:extLst>
                  <a:ext uri="{0D108BD9-81ED-4DB2-BD59-A6C34878D82A}">
                    <a16:rowId xmlns:a16="http://schemas.microsoft.com/office/drawing/2014/main" val="10003"/>
                  </a:ext>
                </a:extLst>
              </a:tr>
              <a:tr h="416983">
                <a:tc>
                  <a:txBody>
                    <a:bodyPr/>
                    <a:lstStyle/>
                    <a:p>
                      <a:r>
                        <a:rPr sz="1725" b="0">
                          <a:solidFill>
                            <a:srgbClr val="172F42"/>
                          </a:solidFill>
                          <a:latin typeface="Arial"/>
                          <a:ea typeface="Arial"/>
                          <a:cs typeface="Arial"/>
                        </a:rPr>
                        <a:t>S3</a:t>
                      </a:r>
                    </a:p>
                  </a:txBody>
                  <a:tcPr marL="95250" marR="95250" marT="57150" marB="57150">
                    <a:solidFill>
                      <a:srgbClr val="FFFFFF"/>
                    </a:solidFill>
                  </a:tcPr>
                </a:tc>
                <a:tc>
                  <a:txBody>
                    <a:bodyPr/>
                    <a:lstStyle/>
                    <a:p>
                      <a:r>
                        <a:rPr sz="1725" b="0">
                          <a:solidFill>
                            <a:srgbClr val="172F42"/>
                          </a:solidFill>
                          <a:latin typeface="Arial"/>
                          <a:ea typeface="Arial"/>
                          <a:cs typeface="Arial"/>
                        </a:rPr>
                        <a:t>-0,2119</a:t>
                      </a:r>
                    </a:p>
                  </a:txBody>
                  <a:tcPr marL="95250" marR="95250" marT="57150" marB="57150">
                    <a:solidFill>
                      <a:srgbClr val="FFFFFF"/>
                    </a:solidFill>
                  </a:tcPr>
                </a:tc>
                <a:tc>
                  <a:txBody>
                    <a:bodyPr/>
                    <a:lstStyle/>
                    <a:p>
                      <a:r>
                        <a:rPr sz="1725" b="0">
                          <a:solidFill>
                            <a:srgbClr val="172F42"/>
                          </a:solidFill>
                          <a:latin typeface="Arial"/>
                          <a:ea typeface="Arial"/>
                          <a:cs typeface="Arial"/>
                        </a:rPr>
                        <a:t>-19,10</a:t>
                      </a:r>
                    </a:p>
                  </a:txBody>
                  <a:tcPr marL="95250" marR="95250" marT="57150" marB="57150">
                    <a:solidFill>
                      <a:srgbClr val="FFFFFF"/>
                    </a:solidFill>
                  </a:tcPr>
                </a:tc>
                <a:tc>
                  <a:txBody>
                    <a:bodyPr/>
                    <a:lstStyle/>
                    <a:p>
                      <a:r>
                        <a:rPr sz="1725" b="0">
                          <a:solidFill>
                            <a:srgbClr val="172F42"/>
                          </a:solidFill>
                          <a:latin typeface="Arial"/>
                          <a:ea typeface="Arial"/>
                          <a:cs typeface="Arial"/>
                        </a:rPr>
                        <a:t>0,0119</a:t>
                      </a:r>
                    </a:p>
                  </a:txBody>
                  <a:tcPr marL="95250" marR="95250" marT="57150" marB="57150">
                    <a:solidFill>
                      <a:srgbClr val="FFFFFF"/>
                    </a:solidFill>
                  </a:tcPr>
                </a:tc>
                <a:tc>
                  <a:txBody>
                    <a:bodyPr/>
                    <a:lstStyle/>
                    <a:p>
                      <a:r>
                        <a:rPr sz="1725" b="0">
                          <a:solidFill>
                            <a:srgbClr val="172F42"/>
                          </a:solidFill>
                          <a:latin typeface="Arial"/>
                          <a:ea typeface="Arial"/>
                          <a:cs typeface="Arial"/>
                        </a:rPr>
                        <a:t>0,0125</a:t>
                      </a:r>
                    </a:p>
                  </a:txBody>
                  <a:tcPr marL="95250" marR="95250" marT="57150" marB="57150">
                    <a:solidFill>
                      <a:srgbClr val="FFFFFF"/>
                    </a:solidFill>
                  </a:tcPr>
                </a:tc>
                <a:tc>
                  <a:txBody>
                    <a:bodyPr/>
                    <a:lstStyle/>
                    <a:p>
                      <a:r>
                        <a:rPr sz="1725" b="0">
                          <a:solidFill>
                            <a:srgbClr val="172F42"/>
                          </a:solidFill>
                          <a:latin typeface="Arial"/>
                          <a:ea typeface="Arial"/>
                          <a:cs typeface="Arial"/>
                        </a:rPr>
                        <a:t>0,410</a:t>
                      </a:r>
                    </a:p>
                  </a:txBody>
                  <a:tcPr marL="95250" marR="95250" marT="57150" marB="57150">
                    <a:solidFill>
                      <a:srgbClr val="FFFFFF"/>
                    </a:solidFill>
                  </a:tcPr>
                </a:tc>
                <a:extLst>
                  <a:ext uri="{0D108BD9-81ED-4DB2-BD59-A6C34878D82A}">
                    <a16:rowId xmlns:a16="http://schemas.microsoft.com/office/drawing/2014/main" val="10004"/>
                  </a:ext>
                </a:extLst>
              </a:tr>
              <a:tr h="416983">
                <a:tc>
                  <a:txBody>
                    <a:bodyPr/>
                    <a:lstStyle/>
                    <a:p>
                      <a:r>
                        <a:rPr sz="1725" b="0">
                          <a:solidFill>
                            <a:srgbClr val="172F42"/>
                          </a:solidFill>
                          <a:latin typeface="Arial"/>
                          <a:ea typeface="Arial"/>
                          <a:cs typeface="Arial"/>
                        </a:rPr>
                        <a:t>S4</a:t>
                      </a:r>
                    </a:p>
                  </a:txBody>
                  <a:tcPr marL="95250" marR="95250" marT="57150" marB="57150">
                    <a:solidFill>
                      <a:srgbClr val="FFFFFF"/>
                    </a:solidFill>
                  </a:tcPr>
                </a:tc>
                <a:tc>
                  <a:txBody>
                    <a:bodyPr/>
                    <a:lstStyle/>
                    <a:p>
                      <a:r>
                        <a:rPr sz="1725" b="0">
                          <a:solidFill>
                            <a:srgbClr val="172F42"/>
                          </a:solidFill>
                          <a:latin typeface="Arial"/>
                          <a:ea typeface="Arial"/>
                          <a:cs typeface="Arial"/>
                        </a:rPr>
                        <a:t>-0,1989</a:t>
                      </a:r>
                    </a:p>
                  </a:txBody>
                  <a:tcPr marL="95250" marR="95250" marT="57150" marB="57150">
                    <a:solidFill>
                      <a:srgbClr val="FFFFFF"/>
                    </a:solidFill>
                  </a:tcPr>
                </a:tc>
                <a:tc>
                  <a:txBody>
                    <a:bodyPr/>
                    <a:lstStyle/>
                    <a:p>
                      <a:r>
                        <a:rPr sz="1725" b="0">
                          <a:solidFill>
                            <a:srgbClr val="172F42"/>
                          </a:solidFill>
                          <a:latin typeface="Arial"/>
                          <a:ea typeface="Arial"/>
                          <a:cs typeface="Arial"/>
                        </a:rPr>
                        <a:t>-18,04</a:t>
                      </a:r>
                    </a:p>
                  </a:txBody>
                  <a:tcPr marL="95250" marR="95250" marT="57150" marB="57150">
                    <a:solidFill>
                      <a:srgbClr val="FFFFFF"/>
                    </a:solidFill>
                  </a:tcPr>
                </a:tc>
                <a:tc>
                  <a:txBody>
                    <a:bodyPr/>
                    <a:lstStyle/>
                    <a:p>
                      <a:r>
                        <a:rPr sz="1725" b="0">
                          <a:solidFill>
                            <a:srgbClr val="172F42"/>
                          </a:solidFill>
                          <a:latin typeface="Arial"/>
                          <a:ea typeface="Arial"/>
                          <a:cs typeface="Arial"/>
                        </a:rPr>
                        <a:t>0,0113</a:t>
                      </a:r>
                    </a:p>
                  </a:txBody>
                  <a:tcPr marL="95250" marR="95250" marT="57150" marB="57150">
                    <a:solidFill>
                      <a:srgbClr val="FFFFFF"/>
                    </a:solidFill>
                  </a:tcPr>
                </a:tc>
                <a:tc>
                  <a:txBody>
                    <a:bodyPr/>
                    <a:lstStyle/>
                    <a:p>
                      <a:r>
                        <a:rPr sz="1725" b="0">
                          <a:solidFill>
                            <a:srgbClr val="172F42"/>
                          </a:solidFill>
                          <a:latin typeface="Arial"/>
                          <a:ea typeface="Arial"/>
                          <a:cs typeface="Arial"/>
                        </a:rPr>
                        <a:t>0,0119</a:t>
                      </a:r>
                    </a:p>
                  </a:txBody>
                  <a:tcPr marL="95250" marR="95250" marT="57150" marB="57150">
                    <a:solidFill>
                      <a:srgbClr val="FFFFFF"/>
                    </a:solidFill>
                  </a:tcPr>
                </a:tc>
                <a:tc>
                  <a:txBody>
                    <a:bodyPr/>
                    <a:lstStyle/>
                    <a:p>
                      <a:r>
                        <a:rPr sz="1725" b="0">
                          <a:solidFill>
                            <a:srgbClr val="172F42"/>
                          </a:solidFill>
                          <a:latin typeface="Arial"/>
                          <a:ea typeface="Arial"/>
                          <a:cs typeface="Arial"/>
                        </a:rPr>
                        <a:t>0,503</a:t>
                      </a:r>
                    </a:p>
                  </a:txBody>
                  <a:tcPr marL="95250" marR="95250" marT="57150" marB="57150">
                    <a:solidFill>
                      <a:srgbClr val="FFFFFF"/>
                    </a:solidFill>
                  </a:tcPr>
                </a:tc>
                <a:extLst>
                  <a:ext uri="{0D108BD9-81ED-4DB2-BD59-A6C34878D82A}">
                    <a16:rowId xmlns:a16="http://schemas.microsoft.com/office/drawing/2014/main" val="10005"/>
                  </a:ext>
                </a:extLst>
              </a:tr>
              <a:tr h="416983">
                <a:tc>
                  <a:txBody>
                    <a:bodyPr/>
                    <a:lstStyle/>
                    <a:p>
                      <a:r>
                        <a:rPr sz="1725" b="0">
                          <a:solidFill>
                            <a:srgbClr val="172F42"/>
                          </a:solidFill>
                          <a:latin typeface="Arial"/>
                          <a:ea typeface="Arial"/>
                          <a:cs typeface="Arial"/>
                        </a:rPr>
                        <a:t>S5</a:t>
                      </a:r>
                    </a:p>
                  </a:txBody>
                  <a:tcPr marL="95250" marR="95250" marT="57150" marB="57150">
                    <a:solidFill>
                      <a:srgbClr val="FFFFFF"/>
                    </a:solidFill>
                  </a:tcPr>
                </a:tc>
                <a:tc>
                  <a:txBody>
                    <a:bodyPr/>
                    <a:lstStyle/>
                    <a:p>
                      <a:r>
                        <a:rPr sz="1725" b="0">
                          <a:solidFill>
                            <a:srgbClr val="172F42"/>
                          </a:solidFill>
                          <a:latin typeface="Arial"/>
                          <a:ea typeface="Arial"/>
                          <a:cs typeface="Arial"/>
                        </a:rPr>
                        <a:t>-0,1833</a:t>
                      </a:r>
                    </a:p>
                  </a:txBody>
                  <a:tcPr marL="95250" marR="95250" marT="57150" marB="57150">
                    <a:solidFill>
                      <a:srgbClr val="FFFFFF"/>
                    </a:solidFill>
                  </a:tcPr>
                </a:tc>
                <a:tc>
                  <a:txBody>
                    <a:bodyPr/>
                    <a:lstStyle/>
                    <a:p>
                      <a:r>
                        <a:rPr sz="1725" b="0">
                          <a:solidFill>
                            <a:srgbClr val="172F42"/>
                          </a:solidFill>
                          <a:latin typeface="Arial"/>
                          <a:ea typeface="Arial"/>
                          <a:cs typeface="Arial"/>
                        </a:rPr>
                        <a:t>-16,75</a:t>
                      </a:r>
                    </a:p>
                  </a:txBody>
                  <a:tcPr marL="95250" marR="95250" marT="57150" marB="57150">
                    <a:solidFill>
                      <a:srgbClr val="FFFFFF"/>
                    </a:solidFill>
                  </a:tcPr>
                </a:tc>
                <a:tc>
                  <a:txBody>
                    <a:bodyPr/>
                    <a:lstStyle/>
                    <a:p>
                      <a:r>
                        <a:rPr sz="1725" b="0">
                          <a:solidFill>
                            <a:srgbClr val="172F42"/>
                          </a:solidFill>
                          <a:latin typeface="Arial"/>
                          <a:ea typeface="Arial"/>
                          <a:cs typeface="Arial"/>
                        </a:rPr>
                        <a:t>0,0115</a:t>
                      </a:r>
                    </a:p>
                  </a:txBody>
                  <a:tcPr marL="95250" marR="95250" marT="57150" marB="57150">
                    <a:solidFill>
                      <a:srgbClr val="FFFFFF"/>
                    </a:solidFill>
                  </a:tcPr>
                </a:tc>
                <a:tc>
                  <a:txBody>
                    <a:bodyPr/>
                    <a:lstStyle/>
                    <a:p>
                      <a:r>
                        <a:rPr sz="1725" b="0">
                          <a:solidFill>
                            <a:srgbClr val="172F42"/>
                          </a:solidFill>
                          <a:latin typeface="Arial"/>
                          <a:ea typeface="Arial"/>
                          <a:cs typeface="Arial"/>
                        </a:rPr>
                        <a:t>0,0116</a:t>
                      </a:r>
                    </a:p>
                  </a:txBody>
                  <a:tcPr marL="95250" marR="95250" marT="57150" marB="57150">
                    <a:solidFill>
                      <a:srgbClr val="FFFFFF"/>
                    </a:solidFill>
                  </a:tcPr>
                </a:tc>
                <a:tc>
                  <a:txBody>
                    <a:bodyPr/>
                    <a:lstStyle/>
                    <a:p>
                      <a:r>
                        <a:rPr sz="1725" b="0">
                          <a:solidFill>
                            <a:srgbClr val="172F42"/>
                          </a:solidFill>
                          <a:latin typeface="Arial"/>
                          <a:ea typeface="Arial"/>
                          <a:cs typeface="Arial"/>
                        </a:rPr>
                        <a:t>0,553</a:t>
                      </a:r>
                    </a:p>
                  </a:txBody>
                  <a:tcPr marL="95250" marR="95250" marT="57150" marB="57150">
                    <a:solidFill>
                      <a:srgbClr val="FFFFFF"/>
                    </a:solidFill>
                  </a:tcPr>
                </a:tc>
                <a:extLst>
                  <a:ext uri="{0D108BD9-81ED-4DB2-BD59-A6C34878D82A}">
                    <a16:rowId xmlns:a16="http://schemas.microsoft.com/office/drawing/2014/main" val="10006"/>
                  </a:ext>
                </a:extLst>
              </a:tr>
              <a:tr h="416983">
                <a:tc>
                  <a:txBody>
                    <a:bodyPr/>
                    <a:lstStyle/>
                    <a:p>
                      <a:r>
                        <a:rPr sz="1725" b="0">
                          <a:solidFill>
                            <a:srgbClr val="172F42"/>
                          </a:solidFill>
                          <a:latin typeface="Arial"/>
                          <a:ea typeface="Arial"/>
                          <a:cs typeface="Arial"/>
                        </a:rPr>
                        <a:t>S6</a:t>
                      </a:r>
                    </a:p>
                  </a:txBody>
                  <a:tcPr marL="95250" marR="95250" marT="57150" marB="57150">
                    <a:solidFill>
                      <a:srgbClr val="FFFFFF"/>
                    </a:solidFill>
                  </a:tcPr>
                </a:tc>
                <a:tc>
                  <a:txBody>
                    <a:bodyPr/>
                    <a:lstStyle/>
                    <a:p>
                      <a:r>
                        <a:rPr sz="1725" b="0">
                          <a:solidFill>
                            <a:srgbClr val="172F42"/>
                          </a:solidFill>
                          <a:latin typeface="Arial"/>
                          <a:ea typeface="Arial"/>
                          <a:cs typeface="Arial"/>
                        </a:rPr>
                        <a:t>-0,1652</a:t>
                      </a:r>
                    </a:p>
                  </a:txBody>
                  <a:tcPr marL="95250" marR="95250" marT="57150" marB="57150">
                    <a:solidFill>
                      <a:srgbClr val="FFFFFF"/>
                    </a:solidFill>
                  </a:tcPr>
                </a:tc>
                <a:tc>
                  <a:txBody>
                    <a:bodyPr/>
                    <a:lstStyle/>
                    <a:p>
                      <a:r>
                        <a:rPr sz="1725" b="0">
                          <a:solidFill>
                            <a:srgbClr val="172F42"/>
                          </a:solidFill>
                          <a:latin typeface="Arial"/>
                          <a:ea typeface="Arial"/>
                          <a:cs typeface="Arial"/>
                        </a:rPr>
                        <a:t>-15,22</a:t>
                      </a:r>
                    </a:p>
                  </a:txBody>
                  <a:tcPr marL="95250" marR="95250" marT="57150" marB="57150">
                    <a:solidFill>
                      <a:srgbClr val="FFFFFF"/>
                    </a:solidFill>
                  </a:tcPr>
                </a:tc>
                <a:tc>
                  <a:txBody>
                    <a:bodyPr/>
                    <a:lstStyle/>
                    <a:p>
                      <a:r>
                        <a:rPr sz="1725" b="0">
                          <a:solidFill>
                            <a:srgbClr val="172F42"/>
                          </a:solidFill>
                          <a:latin typeface="Arial"/>
                          <a:ea typeface="Arial"/>
                          <a:cs typeface="Arial"/>
                        </a:rPr>
                        <a:t>0,0126</a:t>
                      </a:r>
                    </a:p>
                  </a:txBody>
                  <a:tcPr marL="95250" marR="95250" marT="57150" marB="57150">
                    <a:solidFill>
                      <a:srgbClr val="FFFFFF"/>
                    </a:solidFill>
                  </a:tcPr>
                </a:tc>
                <a:tc>
                  <a:txBody>
                    <a:bodyPr/>
                    <a:lstStyle/>
                    <a:p>
                      <a:r>
                        <a:rPr sz="1725" b="0">
                          <a:solidFill>
                            <a:srgbClr val="172F42"/>
                          </a:solidFill>
                          <a:latin typeface="Arial"/>
                          <a:ea typeface="Arial"/>
                          <a:cs typeface="Arial"/>
                        </a:rPr>
                        <a:t>0,0129</a:t>
                      </a:r>
                    </a:p>
                  </a:txBody>
                  <a:tcPr marL="95250" marR="95250" marT="57150" marB="57150">
                    <a:solidFill>
                      <a:srgbClr val="FFFFFF"/>
                    </a:solidFill>
                  </a:tcPr>
                </a:tc>
                <a:tc>
                  <a:txBody>
                    <a:bodyPr/>
                    <a:lstStyle/>
                    <a:p>
                      <a:r>
                        <a:rPr sz="1725" b="0">
                          <a:solidFill>
                            <a:srgbClr val="172F42"/>
                          </a:solidFill>
                          <a:latin typeface="Arial"/>
                          <a:ea typeface="Arial"/>
                          <a:cs typeface="Arial"/>
                        </a:rPr>
                        <a:t>0,583</a:t>
                      </a:r>
                    </a:p>
                  </a:txBody>
                  <a:tcPr marL="95250" marR="95250" marT="57150" marB="57150">
                    <a:solidFill>
                      <a:srgbClr val="FFFFFF"/>
                    </a:solidFill>
                  </a:tcPr>
                </a:tc>
                <a:extLst>
                  <a:ext uri="{0D108BD9-81ED-4DB2-BD59-A6C34878D82A}">
                    <a16:rowId xmlns:a16="http://schemas.microsoft.com/office/drawing/2014/main" val="10007"/>
                  </a:ext>
                </a:extLst>
              </a:tr>
              <a:tr h="416983">
                <a:tc>
                  <a:txBody>
                    <a:bodyPr/>
                    <a:lstStyle/>
                    <a:p>
                      <a:r>
                        <a:rPr sz="1725" b="0">
                          <a:solidFill>
                            <a:srgbClr val="172F42"/>
                          </a:solidFill>
                          <a:latin typeface="Arial"/>
                          <a:ea typeface="Arial"/>
                          <a:cs typeface="Arial"/>
                        </a:rPr>
                        <a:t>S7</a:t>
                      </a:r>
                    </a:p>
                  </a:txBody>
                  <a:tcPr marL="95250" marR="95250" marT="57150" marB="57150">
                    <a:solidFill>
                      <a:srgbClr val="FFFFFF"/>
                    </a:solidFill>
                  </a:tcPr>
                </a:tc>
                <a:tc>
                  <a:txBody>
                    <a:bodyPr/>
                    <a:lstStyle/>
                    <a:p>
                      <a:r>
                        <a:rPr sz="1725" b="0">
                          <a:solidFill>
                            <a:srgbClr val="172F42"/>
                          </a:solidFill>
                          <a:latin typeface="Arial"/>
                          <a:ea typeface="Arial"/>
                          <a:cs typeface="Arial"/>
                        </a:rPr>
                        <a:t>-0,1317</a:t>
                      </a:r>
                    </a:p>
                  </a:txBody>
                  <a:tcPr marL="95250" marR="95250" marT="57150" marB="57150">
                    <a:solidFill>
                      <a:srgbClr val="FFFFFF"/>
                    </a:solidFill>
                  </a:tcPr>
                </a:tc>
                <a:tc>
                  <a:txBody>
                    <a:bodyPr/>
                    <a:lstStyle/>
                    <a:p>
                      <a:r>
                        <a:rPr sz="1725" b="0">
                          <a:solidFill>
                            <a:srgbClr val="172F42"/>
                          </a:solidFill>
                          <a:latin typeface="Arial"/>
                          <a:ea typeface="Arial"/>
                          <a:cs typeface="Arial"/>
                        </a:rPr>
                        <a:t>-12,34</a:t>
                      </a:r>
                    </a:p>
                  </a:txBody>
                  <a:tcPr marL="95250" marR="95250" marT="57150" marB="57150">
                    <a:solidFill>
                      <a:srgbClr val="FFFFFF"/>
                    </a:solidFill>
                  </a:tcPr>
                </a:tc>
                <a:tc>
                  <a:txBody>
                    <a:bodyPr/>
                    <a:lstStyle/>
                    <a:p>
                      <a:r>
                        <a:rPr sz="1725" b="0">
                          <a:solidFill>
                            <a:srgbClr val="172F42"/>
                          </a:solidFill>
                          <a:latin typeface="Arial"/>
                          <a:ea typeface="Arial"/>
                          <a:cs typeface="Arial"/>
                        </a:rPr>
                        <a:t>0,0117</a:t>
                      </a:r>
                    </a:p>
                  </a:txBody>
                  <a:tcPr marL="95250" marR="95250" marT="57150" marB="57150">
                    <a:solidFill>
                      <a:srgbClr val="FFFFFF"/>
                    </a:solidFill>
                  </a:tcPr>
                </a:tc>
                <a:tc>
                  <a:txBody>
                    <a:bodyPr/>
                    <a:lstStyle/>
                    <a:p>
                      <a:r>
                        <a:rPr sz="1725" b="0">
                          <a:solidFill>
                            <a:srgbClr val="172F42"/>
                          </a:solidFill>
                          <a:latin typeface="Arial"/>
                          <a:ea typeface="Arial"/>
                          <a:cs typeface="Arial"/>
                        </a:rPr>
                        <a:t>0,0120</a:t>
                      </a:r>
                    </a:p>
                  </a:txBody>
                  <a:tcPr marL="95250" marR="95250" marT="57150" marB="57150">
                    <a:solidFill>
                      <a:srgbClr val="FFFFFF"/>
                    </a:solidFill>
                  </a:tcPr>
                </a:tc>
                <a:tc>
                  <a:txBody>
                    <a:bodyPr/>
                    <a:lstStyle/>
                    <a:p>
                      <a:r>
                        <a:rPr sz="1725" b="0" dirty="0">
                          <a:solidFill>
                            <a:srgbClr val="172F42"/>
                          </a:solidFill>
                          <a:latin typeface="Arial"/>
                          <a:ea typeface="Arial"/>
                          <a:cs typeface="Arial"/>
                        </a:rPr>
                        <a:t>0,632</a:t>
                      </a:r>
                    </a:p>
                  </a:txBody>
                  <a:tcPr marL="95250" marR="95250" marT="57150" marB="57150">
                    <a:solidFill>
                      <a:srgbClr val="FFFFFF"/>
                    </a:solidFill>
                  </a:tcPr>
                </a:tc>
                <a:extLst>
                  <a:ext uri="{0D108BD9-81ED-4DB2-BD59-A6C34878D82A}">
                    <a16:rowId xmlns:a16="http://schemas.microsoft.com/office/drawing/2014/main" val="10008"/>
                  </a:ext>
                </a:extLst>
              </a:tr>
            </a:tbl>
          </a:graphicData>
        </a:graphic>
      </p:graphicFrame>
      <p:sp>
        <p:nvSpPr>
          <p:cNvPr id="5" name="Rectángulo 4">
            <a:extLst>
              <a:ext uri="{FF2B5EF4-FFF2-40B4-BE49-F238E27FC236}">
                <a16:creationId xmlns:a16="http://schemas.microsoft.com/office/drawing/2014/main" id="{9CE142AB-6504-4861-9CB8-010091A85D68}"/>
              </a:ext>
            </a:extLst>
          </p:cNvPr>
          <p:cNvSpPr>
            <a:spLocks noGrp="1"/>
          </p:cNvSpPr>
          <p:nvPr/>
        </p:nvSpPr>
        <p:spPr>
          <a:xfrm>
            <a:off x="685800" y="5133975"/>
            <a:ext cx="10763250" cy="914400"/>
          </a:xfrm>
          <a:prstGeom prst="rect">
            <a:avLst/>
          </a:prstGeom>
          <a:noFill/>
          <a:ln w="0">
            <a:noFill/>
          </a:ln>
        </p:spPr>
        <p:txBody>
          <a:bodyPr>
            <a:noAutofit/>
          </a:bodyPr>
          <a:lstStyle/>
          <a:p>
            <a:pPr>
              <a:defRPr sz="1650" b="0">
                <a:solidFill>
                  <a:srgbClr val="172F42"/>
                </a:solidFill>
                <a:latin typeface="Arial"/>
                <a:ea typeface="Arial"/>
                <a:cs typeface="Arial"/>
              </a:defRPr>
            </a:pPr>
            <a:r>
              <a:rPr sz="1650" b="0" dirty="0">
                <a:solidFill>
                  <a:srgbClr val="172F42"/>
                </a:solidFill>
                <a:latin typeface="Arial"/>
                <a:ea typeface="Arial"/>
                <a:cs typeface="Arial"/>
              </a:rPr>
              <a:t>S0: sin </a:t>
            </a:r>
            <a:r>
              <a:rPr sz="1650" b="0" dirty="0" err="1">
                <a:solidFill>
                  <a:srgbClr val="172F42"/>
                </a:solidFill>
                <a:latin typeface="Arial"/>
                <a:ea typeface="Arial"/>
                <a:cs typeface="Arial"/>
              </a:rPr>
              <a:t>controles</a:t>
            </a:r>
            <a:r>
              <a:rPr sz="1650" b="0" dirty="0">
                <a:solidFill>
                  <a:srgbClr val="172F42"/>
                </a:solidFill>
                <a:latin typeface="Arial"/>
                <a:ea typeface="Arial"/>
                <a:cs typeface="Arial"/>
              </a:rPr>
              <a:t>. S1: + </a:t>
            </a:r>
            <a:r>
              <a:rPr sz="1650" b="0" dirty="0" err="1">
                <a:solidFill>
                  <a:srgbClr val="172F42"/>
                </a:solidFill>
                <a:latin typeface="Arial"/>
                <a:ea typeface="Arial"/>
                <a:cs typeface="Arial"/>
              </a:rPr>
              <a:t>edad</a:t>
            </a:r>
            <a:r>
              <a:rPr sz="1650" b="0" dirty="0">
                <a:solidFill>
                  <a:srgbClr val="172F42"/>
                </a:solidFill>
                <a:latin typeface="Arial"/>
                <a:ea typeface="Arial"/>
                <a:cs typeface="Arial"/>
              </a:rPr>
              <a:t>. S2: + </a:t>
            </a:r>
            <a:r>
              <a:rPr sz="1650" b="0" dirty="0" err="1">
                <a:solidFill>
                  <a:srgbClr val="172F42"/>
                </a:solidFill>
                <a:latin typeface="Arial"/>
                <a:ea typeface="Arial"/>
                <a:cs typeface="Arial"/>
              </a:rPr>
              <a:t>educación</a:t>
            </a:r>
            <a:r>
              <a:rPr sz="1650" b="0" dirty="0">
                <a:solidFill>
                  <a:srgbClr val="172F42"/>
                </a:solidFill>
                <a:latin typeface="Arial"/>
                <a:ea typeface="Arial"/>
                <a:cs typeface="Arial"/>
              </a:rPr>
              <a:t>. S3: + horas.</a:t>
            </a:r>
          </a:p>
          <a:p>
            <a:pPr>
              <a:defRPr sz="1650" b="0">
                <a:solidFill>
                  <a:srgbClr val="172F42"/>
                </a:solidFill>
                <a:latin typeface="Arial"/>
                <a:ea typeface="Arial"/>
                <a:cs typeface="Arial"/>
              </a:defRPr>
            </a:pPr>
            <a:r>
              <a:rPr sz="1650" b="0" dirty="0">
                <a:solidFill>
                  <a:srgbClr val="172F42"/>
                </a:solidFill>
                <a:latin typeface="Arial"/>
                <a:ea typeface="Arial"/>
                <a:cs typeface="Arial"/>
              </a:rPr>
              <a:t>S4: + </a:t>
            </a:r>
            <a:r>
              <a:rPr sz="1650" b="0" dirty="0" err="1">
                <a:solidFill>
                  <a:srgbClr val="172F42"/>
                </a:solidFill>
                <a:latin typeface="Arial"/>
                <a:ea typeface="Arial"/>
                <a:cs typeface="Arial"/>
              </a:rPr>
              <a:t>vínculo</a:t>
            </a:r>
            <a:r>
              <a:rPr sz="1650" b="0" dirty="0">
                <a:solidFill>
                  <a:srgbClr val="172F42"/>
                </a:solidFill>
                <a:latin typeface="Arial"/>
                <a:ea typeface="Arial"/>
                <a:cs typeface="Arial"/>
              </a:rPr>
              <a:t>, </a:t>
            </a:r>
            <a:r>
              <a:rPr sz="1650" b="0" dirty="0" err="1">
                <a:solidFill>
                  <a:srgbClr val="172F42"/>
                </a:solidFill>
                <a:latin typeface="Arial"/>
                <a:ea typeface="Arial"/>
                <a:cs typeface="Arial"/>
              </a:rPr>
              <a:t>formalidad</a:t>
            </a:r>
            <a:r>
              <a:rPr sz="1650" b="0" dirty="0">
                <a:solidFill>
                  <a:srgbClr val="172F42"/>
                </a:solidFill>
                <a:latin typeface="Arial"/>
                <a:ea typeface="Arial"/>
                <a:cs typeface="Arial"/>
              </a:rPr>
              <a:t> y </a:t>
            </a:r>
            <a:r>
              <a:rPr sz="1650" b="0" dirty="0" err="1">
                <a:solidFill>
                  <a:srgbClr val="172F42"/>
                </a:solidFill>
                <a:latin typeface="Arial"/>
                <a:ea typeface="Arial"/>
                <a:cs typeface="Arial"/>
              </a:rPr>
              <a:t>tamaño</a:t>
            </a:r>
            <a:r>
              <a:rPr sz="1650" b="0" dirty="0">
                <a:solidFill>
                  <a:srgbClr val="172F42"/>
                </a:solidFill>
                <a:latin typeface="Arial"/>
                <a:ea typeface="Arial"/>
                <a:cs typeface="Arial"/>
              </a:rPr>
              <a:t>. S5: + </a:t>
            </a:r>
            <a:r>
              <a:rPr sz="1650" b="0" dirty="0" err="1">
                <a:solidFill>
                  <a:srgbClr val="172F42"/>
                </a:solidFill>
                <a:latin typeface="Arial"/>
                <a:ea typeface="Arial"/>
                <a:cs typeface="Arial"/>
              </a:rPr>
              <a:t>grupo</a:t>
            </a:r>
            <a:r>
              <a:rPr sz="1650" b="0" dirty="0">
                <a:solidFill>
                  <a:srgbClr val="172F42"/>
                </a:solidFill>
                <a:latin typeface="Arial"/>
                <a:ea typeface="Arial"/>
                <a:cs typeface="Arial"/>
              </a:rPr>
              <a:t> </a:t>
            </a:r>
            <a:r>
              <a:rPr sz="1650" b="0" dirty="0" err="1">
                <a:solidFill>
                  <a:srgbClr val="172F42"/>
                </a:solidFill>
                <a:latin typeface="Arial"/>
                <a:ea typeface="Arial"/>
                <a:cs typeface="Arial"/>
              </a:rPr>
              <a:t>ocupacional</a:t>
            </a:r>
            <a:r>
              <a:rPr sz="1650" b="0" dirty="0">
                <a:solidFill>
                  <a:srgbClr val="172F42"/>
                </a:solidFill>
                <a:latin typeface="Arial"/>
                <a:ea typeface="Arial"/>
                <a:cs typeface="Arial"/>
              </a:rPr>
              <a:t>.</a:t>
            </a:r>
          </a:p>
          <a:p>
            <a:pPr>
              <a:defRPr sz="1650" b="0">
                <a:solidFill>
                  <a:srgbClr val="172F42"/>
                </a:solidFill>
                <a:latin typeface="Arial"/>
                <a:ea typeface="Arial"/>
                <a:cs typeface="Arial"/>
              </a:defRPr>
            </a:pPr>
            <a:r>
              <a:rPr sz="1650" b="0" dirty="0">
                <a:solidFill>
                  <a:srgbClr val="172F42"/>
                </a:solidFill>
                <a:latin typeface="Arial"/>
                <a:ea typeface="Arial"/>
                <a:cs typeface="Arial"/>
              </a:rPr>
              <a:t>S6: </a:t>
            </a:r>
            <a:r>
              <a:rPr sz="1650" b="0" dirty="0" err="1">
                <a:solidFill>
                  <a:srgbClr val="172F42"/>
                </a:solidFill>
                <a:latin typeface="Arial"/>
                <a:ea typeface="Arial"/>
                <a:cs typeface="Arial"/>
              </a:rPr>
              <a:t>reemplaza</a:t>
            </a:r>
            <a:r>
              <a:rPr sz="1650" b="0" dirty="0">
                <a:solidFill>
                  <a:srgbClr val="172F42"/>
                </a:solidFill>
                <a:latin typeface="Arial"/>
                <a:ea typeface="Arial"/>
                <a:cs typeface="Arial"/>
              </a:rPr>
              <a:t> </a:t>
            </a:r>
            <a:r>
              <a:rPr sz="1650" b="0" dirty="0" err="1">
                <a:solidFill>
                  <a:srgbClr val="172F42"/>
                </a:solidFill>
                <a:latin typeface="Arial"/>
                <a:ea typeface="Arial"/>
                <a:cs typeface="Arial"/>
              </a:rPr>
              <a:t>grupo</a:t>
            </a:r>
            <a:r>
              <a:rPr sz="1650" b="0" dirty="0">
                <a:solidFill>
                  <a:srgbClr val="172F42"/>
                </a:solidFill>
                <a:latin typeface="Arial"/>
                <a:ea typeface="Arial"/>
                <a:cs typeface="Arial"/>
              </a:rPr>
              <a:t> </a:t>
            </a:r>
            <a:r>
              <a:rPr sz="1650" b="0" dirty="0" err="1">
                <a:solidFill>
                  <a:srgbClr val="172F42"/>
                </a:solidFill>
                <a:latin typeface="Arial"/>
                <a:ea typeface="Arial"/>
                <a:cs typeface="Arial"/>
              </a:rPr>
              <a:t>por</a:t>
            </a:r>
            <a:r>
              <a:rPr sz="1650" b="0" dirty="0">
                <a:solidFill>
                  <a:srgbClr val="172F42"/>
                </a:solidFill>
                <a:latin typeface="Arial"/>
                <a:ea typeface="Arial"/>
                <a:cs typeface="Arial"/>
              </a:rPr>
              <a:t> </a:t>
            </a:r>
            <a:r>
              <a:rPr sz="1650" b="0" dirty="0" err="1">
                <a:solidFill>
                  <a:srgbClr val="172F42"/>
                </a:solidFill>
                <a:latin typeface="Arial"/>
                <a:ea typeface="Arial"/>
                <a:cs typeface="Arial"/>
              </a:rPr>
              <a:t>oficio</a:t>
            </a:r>
            <a:r>
              <a:rPr sz="1650" b="0" dirty="0">
                <a:solidFill>
                  <a:srgbClr val="172F42"/>
                </a:solidFill>
                <a:latin typeface="Arial"/>
                <a:ea typeface="Arial"/>
                <a:cs typeface="Arial"/>
              </a:rPr>
              <a:t>. S7: + </a:t>
            </a:r>
            <a:r>
              <a:rPr sz="1650" b="0" dirty="0" err="1">
                <a:solidFill>
                  <a:srgbClr val="172F42"/>
                </a:solidFill>
                <a:latin typeface="Arial"/>
                <a:ea typeface="Arial"/>
                <a:cs typeface="Arial"/>
              </a:rPr>
              <a:t>estrato</a:t>
            </a:r>
            <a:r>
              <a:rPr sz="1650" b="0" dirty="0">
                <a:solidFill>
                  <a:srgbClr val="172F42"/>
                </a:solidFill>
                <a:latin typeface="Arial"/>
                <a:ea typeface="Arial"/>
                <a:cs typeface="Arial"/>
              </a:rPr>
              <a:t> y </a:t>
            </a:r>
            <a:r>
              <a:rPr sz="1650" b="0" dirty="0" err="1">
                <a:solidFill>
                  <a:srgbClr val="172F42"/>
                </a:solidFill>
                <a:latin typeface="Arial"/>
                <a:ea typeface="Arial"/>
                <a:cs typeface="Arial"/>
              </a:rPr>
              <a:t>jefatura</a:t>
            </a:r>
            <a:r>
              <a:rPr sz="1650" b="0" dirty="0">
                <a:solidFill>
                  <a:srgbClr val="172F42"/>
                </a:solidFill>
                <a:latin typeface="Arial"/>
                <a:ea typeface="Arial"/>
                <a:cs typeface="Arial"/>
              </a:rPr>
              <a:t>.</a:t>
            </a:r>
          </a:p>
        </p:txBody>
      </p:sp>
    </p:spTree>
    <p:extLst>
      <p:ext uri="{BB962C8B-B14F-4D97-AF65-F5344CB8AC3E}">
        <p14:creationId xmlns:p14="http://schemas.microsoft.com/office/powerpoint/2010/main" val="938814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8E4BAE4D-CE9E-6CBD-B361-9DBB5366B1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78" y="1979289"/>
            <a:ext cx="11989243" cy="4216943"/>
          </a:xfrm>
          <a:prstGeom prst="rect">
            <a:avLst/>
          </a:prstGeom>
        </p:spPr>
      </p:pic>
      <p:sp>
        <p:nvSpPr>
          <p:cNvPr id="6" name="Rectángulo 5">
            <a:extLst>
              <a:ext uri="{FF2B5EF4-FFF2-40B4-BE49-F238E27FC236}">
                <a16:creationId xmlns:a16="http://schemas.microsoft.com/office/drawing/2014/main" id="{9480431C-42A6-B584-BBCC-0C2E7EBFA691}"/>
              </a:ext>
            </a:extLst>
          </p:cNvPr>
          <p:cNvSpPr>
            <a:spLocks noGrp="1"/>
          </p:cNvSpPr>
          <p:nvPr/>
        </p:nvSpPr>
        <p:spPr>
          <a:xfrm>
            <a:off x="931608" y="6196232"/>
            <a:ext cx="9982200" cy="558529"/>
          </a:xfrm>
          <a:prstGeom prst="rect">
            <a:avLst/>
          </a:prstGeom>
          <a:noFill/>
          <a:ln w="0">
            <a:noFill/>
          </a:ln>
        </p:spPr>
        <p:txBody>
          <a:bodyPr>
            <a:noAutofit/>
          </a:bodyPr>
          <a:lstStyle/>
          <a:p>
            <a:pPr>
              <a:defRPr sz="2025" b="0">
                <a:solidFill>
                  <a:srgbClr val="172F42"/>
                </a:solidFill>
                <a:latin typeface="Arial"/>
                <a:ea typeface="Arial"/>
                <a:cs typeface="Arial"/>
              </a:defRPr>
            </a:pPr>
            <a:r>
              <a:rPr lang="es-CO" sz="2025" dirty="0">
                <a:solidFill>
                  <a:srgbClr val="172F42"/>
                </a:solidFill>
                <a:latin typeface="Arial"/>
                <a:ea typeface="Arial"/>
                <a:cs typeface="Arial"/>
              </a:rPr>
              <a:t>Mejor modelo: S5</a:t>
            </a:r>
            <a:endParaRPr sz="2025" b="0" dirty="0">
              <a:solidFill>
                <a:srgbClr val="172F42"/>
              </a:solidFill>
              <a:latin typeface="Arial"/>
              <a:ea typeface="Arial"/>
              <a:cs typeface="Arial"/>
            </a:endParaRPr>
          </a:p>
        </p:txBody>
      </p:sp>
      <p:sp>
        <p:nvSpPr>
          <p:cNvPr id="8" name="Rectángulo 7">
            <a:extLst>
              <a:ext uri="{FF2B5EF4-FFF2-40B4-BE49-F238E27FC236}">
                <a16:creationId xmlns:a16="http://schemas.microsoft.com/office/drawing/2014/main" id="{AF82BA8B-114E-73C3-9D9F-B1B2BEA20EB3}"/>
              </a:ext>
            </a:extLst>
          </p:cNvPr>
          <p:cNvSpPr>
            <a:spLocks noGrp="1"/>
          </p:cNvSpPr>
          <p:nvPr/>
        </p:nvSpPr>
        <p:spPr>
          <a:xfrm>
            <a:off x="1265902" y="947396"/>
            <a:ext cx="1850924" cy="1179872"/>
          </a:xfrm>
          <a:prstGeom prst="rect">
            <a:avLst/>
          </a:prstGeom>
          <a:noFill/>
          <a:ln w="0">
            <a:noFill/>
          </a:ln>
        </p:spPr>
        <p:txBody>
          <a:bodyPr>
            <a:noAutofit/>
          </a:bodyPr>
          <a:lstStyle/>
          <a:p>
            <a:pPr>
              <a:defRPr sz="1650" b="0">
                <a:solidFill>
                  <a:srgbClr val="172F42"/>
                </a:solidFill>
                <a:latin typeface="Arial"/>
                <a:ea typeface="Arial"/>
                <a:cs typeface="Arial"/>
              </a:defRPr>
            </a:pPr>
            <a:r>
              <a:rPr sz="1650" b="0" dirty="0">
                <a:solidFill>
                  <a:srgbClr val="172F42"/>
                </a:solidFill>
                <a:latin typeface="Arial"/>
                <a:ea typeface="Arial"/>
                <a:cs typeface="Arial"/>
              </a:rPr>
              <a:t>S0: sin </a:t>
            </a:r>
            <a:r>
              <a:rPr sz="1650" b="0" dirty="0" err="1">
                <a:solidFill>
                  <a:srgbClr val="172F42"/>
                </a:solidFill>
                <a:latin typeface="Arial"/>
                <a:ea typeface="Arial"/>
                <a:cs typeface="Arial"/>
              </a:rPr>
              <a:t>controles</a:t>
            </a:r>
            <a:r>
              <a:rPr sz="1650" b="0" dirty="0">
                <a:solidFill>
                  <a:srgbClr val="172F42"/>
                </a:solidFill>
                <a:latin typeface="Arial"/>
                <a:ea typeface="Arial"/>
                <a:cs typeface="Arial"/>
              </a:rPr>
              <a:t>. </a:t>
            </a:r>
            <a:endParaRPr lang="es-CO" sz="1650" b="0" dirty="0">
              <a:solidFill>
                <a:srgbClr val="172F42"/>
              </a:solidFill>
              <a:latin typeface="Arial"/>
              <a:ea typeface="Arial"/>
              <a:cs typeface="Arial"/>
            </a:endParaRPr>
          </a:p>
          <a:p>
            <a:pPr>
              <a:defRPr sz="1650" b="0">
                <a:solidFill>
                  <a:srgbClr val="172F42"/>
                </a:solidFill>
                <a:latin typeface="Arial"/>
                <a:ea typeface="Arial"/>
                <a:cs typeface="Arial"/>
              </a:defRPr>
            </a:pPr>
            <a:r>
              <a:rPr sz="1650" b="0" dirty="0">
                <a:solidFill>
                  <a:srgbClr val="172F42"/>
                </a:solidFill>
                <a:latin typeface="Arial"/>
                <a:ea typeface="Arial"/>
                <a:cs typeface="Arial"/>
              </a:rPr>
              <a:t>S1: + </a:t>
            </a:r>
            <a:r>
              <a:rPr sz="1650" b="0" dirty="0" err="1">
                <a:solidFill>
                  <a:srgbClr val="172F42"/>
                </a:solidFill>
                <a:latin typeface="Arial"/>
                <a:ea typeface="Arial"/>
                <a:cs typeface="Arial"/>
              </a:rPr>
              <a:t>edad</a:t>
            </a:r>
            <a:r>
              <a:rPr sz="1650" b="0" dirty="0">
                <a:solidFill>
                  <a:srgbClr val="172F42"/>
                </a:solidFill>
                <a:latin typeface="Arial"/>
                <a:ea typeface="Arial"/>
                <a:cs typeface="Arial"/>
              </a:rPr>
              <a:t>. </a:t>
            </a:r>
            <a:endParaRPr lang="es-CO" sz="1650" b="0" dirty="0">
              <a:solidFill>
                <a:srgbClr val="172F42"/>
              </a:solidFill>
              <a:latin typeface="Arial"/>
              <a:ea typeface="Arial"/>
              <a:cs typeface="Arial"/>
            </a:endParaRPr>
          </a:p>
          <a:p>
            <a:pPr>
              <a:defRPr sz="1650" b="0">
                <a:solidFill>
                  <a:srgbClr val="172F42"/>
                </a:solidFill>
                <a:latin typeface="Arial"/>
                <a:ea typeface="Arial"/>
                <a:cs typeface="Arial"/>
              </a:defRPr>
            </a:pPr>
            <a:r>
              <a:rPr sz="1650" b="0" dirty="0">
                <a:solidFill>
                  <a:srgbClr val="172F42"/>
                </a:solidFill>
                <a:latin typeface="Arial"/>
                <a:ea typeface="Arial"/>
                <a:cs typeface="Arial"/>
              </a:rPr>
              <a:t>S2: + </a:t>
            </a:r>
            <a:r>
              <a:rPr sz="1650" b="0" dirty="0" err="1">
                <a:solidFill>
                  <a:srgbClr val="172F42"/>
                </a:solidFill>
                <a:latin typeface="Arial"/>
                <a:ea typeface="Arial"/>
                <a:cs typeface="Arial"/>
              </a:rPr>
              <a:t>educación</a:t>
            </a:r>
            <a:r>
              <a:rPr sz="1650" b="0" dirty="0">
                <a:solidFill>
                  <a:srgbClr val="172F42"/>
                </a:solidFill>
                <a:latin typeface="Arial"/>
                <a:ea typeface="Arial"/>
                <a:cs typeface="Arial"/>
              </a:rPr>
              <a:t>. </a:t>
            </a:r>
            <a:endParaRPr lang="es-CO" sz="1650" b="0" dirty="0">
              <a:solidFill>
                <a:srgbClr val="172F42"/>
              </a:solidFill>
              <a:latin typeface="Arial"/>
              <a:ea typeface="Arial"/>
              <a:cs typeface="Arial"/>
            </a:endParaRPr>
          </a:p>
          <a:p>
            <a:pPr>
              <a:defRPr sz="1650" b="0">
                <a:solidFill>
                  <a:srgbClr val="172F42"/>
                </a:solidFill>
                <a:latin typeface="Arial"/>
                <a:ea typeface="Arial"/>
                <a:cs typeface="Arial"/>
              </a:defRPr>
            </a:pPr>
            <a:r>
              <a:rPr sz="1650" b="0" dirty="0">
                <a:solidFill>
                  <a:srgbClr val="172F42"/>
                </a:solidFill>
                <a:latin typeface="Arial"/>
                <a:ea typeface="Arial"/>
                <a:cs typeface="Arial"/>
              </a:rPr>
              <a:t>S3: + horas.</a:t>
            </a:r>
          </a:p>
        </p:txBody>
      </p:sp>
      <p:sp>
        <p:nvSpPr>
          <p:cNvPr id="10" name="Rectángulo 9">
            <a:extLst>
              <a:ext uri="{FF2B5EF4-FFF2-40B4-BE49-F238E27FC236}">
                <a16:creationId xmlns:a16="http://schemas.microsoft.com/office/drawing/2014/main" id="{6171C7F7-5D33-63FB-59D6-ADCB039A1D75}"/>
              </a:ext>
            </a:extLst>
          </p:cNvPr>
          <p:cNvSpPr>
            <a:spLocks noGrp="1"/>
          </p:cNvSpPr>
          <p:nvPr/>
        </p:nvSpPr>
        <p:spPr>
          <a:xfrm>
            <a:off x="609600" y="333375"/>
            <a:ext cx="10972800" cy="762000"/>
          </a:xfrm>
          <a:prstGeom prst="rect">
            <a:avLst/>
          </a:prstGeom>
          <a:noFill/>
          <a:ln w="0">
            <a:noFill/>
          </a:ln>
        </p:spPr>
        <p:txBody>
          <a:bodyPr>
            <a:noAutofit/>
          </a:bodyPr>
          <a:lstStyle/>
          <a:p>
            <a:pPr>
              <a:defRPr sz="3150" b="1">
                <a:solidFill>
                  <a:srgbClr val="172F42"/>
                </a:solidFill>
                <a:latin typeface="Arial"/>
                <a:ea typeface="Arial"/>
                <a:cs typeface="Arial"/>
              </a:defRPr>
            </a:pPr>
            <a:r>
              <a:rPr lang="es-CO" sz="3150" b="1" dirty="0">
                <a:solidFill>
                  <a:srgbClr val="172F42"/>
                </a:solidFill>
                <a:latin typeface="Arial"/>
                <a:ea typeface="Arial"/>
                <a:cs typeface="Arial"/>
              </a:rPr>
              <a:t>Modelos</a:t>
            </a:r>
            <a:endParaRPr sz="3150" b="1" dirty="0">
              <a:solidFill>
                <a:srgbClr val="172F42"/>
              </a:solidFill>
              <a:latin typeface="Arial"/>
              <a:ea typeface="Arial"/>
              <a:cs typeface="Arial"/>
            </a:endParaRPr>
          </a:p>
        </p:txBody>
      </p:sp>
      <p:sp>
        <p:nvSpPr>
          <p:cNvPr id="11" name="CuadroTexto 10">
            <a:extLst>
              <a:ext uri="{FF2B5EF4-FFF2-40B4-BE49-F238E27FC236}">
                <a16:creationId xmlns:a16="http://schemas.microsoft.com/office/drawing/2014/main" id="{3956C32F-1E01-B06F-F6F3-EBF4C03030E6}"/>
              </a:ext>
            </a:extLst>
          </p:cNvPr>
          <p:cNvSpPr txBox="1"/>
          <p:nvPr/>
        </p:nvSpPr>
        <p:spPr>
          <a:xfrm>
            <a:off x="3372465" y="947396"/>
            <a:ext cx="3562194" cy="1107996"/>
          </a:xfrm>
          <a:prstGeom prst="rect">
            <a:avLst/>
          </a:prstGeom>
          <a:noFill/>
        </p:spPr>
        <p:txBody>
          <a:bodyPr wrap="none" rtlCol="0">
            <a:spAutoFit/>
          </a:bodyPr>
          <a:lstStyle/>
          <a:p>
            <a:pPr>
              <a:defRPr sz="1650" b="0">
                <a:solidFill>
                  <a:srgbClr val="172F42"/>
                </a:solidFill>
                <a:latin typeface="Arial"/>
                <a:ea typeface="Arial"/>
                <a:cs typeface="Arial"/>
              </a:defRPr>
            </a:pPr>
            <a:r>
              <a:rPr lang="es-CO" dirty="0">
                <a:solidFill>
                  <a:srgbClr val="172F42"/>
                </a:solidFill>
                <a:latin typeface="Arial"/>
                <a:ea typeface="Arial"/>
                <a:cs typeface="Arial"/>
              </a:rPr>
              <a:t>S4: + vínculo, formalidad y tamaño. </a:t>
            </a:r>
          </a:p>
          <a:p>
            <a:pPr>
              <a:defRPr sz="1650" b="0">
                <a:solidFill>
                  <a:srgbClr val="172F42"/>
                </a:solidFill>
                <a:latin typeface="Arial"/>
                <a:ea typeface="Arial"/>
                <a:cs typeface="Arial"/>
              </a:defRPr>
            </a:pPr>
            <a:r>
              <a:rPr lang="es-CO" dirty="0">
                <a:solidFill>
                  <a:srgbClr val="172F42"/>
                </a:solidFill>
                <a:latin typeface="Arial"/>
                <a:ea typeface="Arial"/>
                <a:cs typeface="Arial"/>
              </a:rPr>
              <a:t>S5: + grupo ocupacional.</a:t>
            </a:r>
          </a:p>
          <a:p>
            <a:pPr>
              <a:defRPr sz="1650" b="0">
                <a:solidFill>
                  <a:srgbClr val="172F42"/>
                </a:solidFill>
                <a:latin typeface="Arial"/>
                <a:ea typeface="Arial"/>
                <a:cs typeface="Arial"/>
              </a:defRPr>
            </a:pPr>
            <a:r>
              <a:rPr lang="es-CO" dirty="0">
                <a:solidFill>
                  <a:srgbClr val="172F42"/>
                </a:solidFill>
                <a:latin typeface="Arial"/>
                <a:ea typeface="Arial"/>
                <a:cs typeface="Arial"/>
              </a:rPr>
              <a:t>S6: reemplaza grupo por oficio. </a:t>
            </a:r>
          </a:p>
          <a:p>
            <a:pPr>
              <a:defRPr sz="1650" b="0">
                <a:solidFill>
                  <a:srgbClr val="172F42"/>
                </a:solidFill>
                <a:latin typeface="Arial"/>
                <a:ea typeface="Arial"/>
                <a:cs typeface="Arial"/>
              </a:defRPr>
            </a:pPr>
            <a:r>
              <a:rPr lang="es-CO" dirty="0">
                <a:solidFill>
                  <a:srgbClr val="172F42"/>
                </a:solidFill>
                <a:latin typeface="Arial"/>
                <a:ea typeface="Arial"/>
                <a:cs typeface="Arial"/>
              </a:rPr>
              <a:t>S7: + estrato y jefatura.</a:t>
            </a:r>
          </a:p>
        </p:txBody>
      </p:sp>
    </p:spTree>
    <p:extLst>
      <p:ext uri="{BB962C8B-B14F-4D97-AF65-F5344CB8AC3E}">
        <p14:creationId xmlns:p14="http://schemas.microsoft.com/office/powerpoint/2010/main" val="7467842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E9B99C33-E6BD-4671-B45A-C6253904D4B3}"/>
              </a:ext>
            </a:extLst>
          </p:cNvPr>
          <p:cNvSpPr>
            <a:spLocks noGrp="1"/>
          </p:cNvSpPr>
          <p:nvPr/>
        </p:nvSpPr>
        <p:spPr>
          <a:xfrm>
            <a:off x="609600" y="333375"/>
            <a:ext cx="10972800" cy="762000"/>
          </a:xfrm>
          <a:prstGeom prst="rect">
            <a:avLst/>
          </a:prstGeom>
          <a:noFill/>
          <a:ln w="0">
            <a:noFill/>
          </a:ln>
        </p:spPr>
        <p:txBody>
          <a:bodyPr>
            <a:noAutofit/>
          </a:bodyPr>
          <a:lstStyle/>
          <a:p>
            <a:pPr>
              <a:defRPr sz="3150" b="1">
                <a:solidFill>
                  <a:srgbClr val="172F42"/>
                </a:solidFill>
                <a:latin typeface="Arial"/>
                <a:ea typeface="Arial"/>
                <a:cs typeface="Arial"/>
              </a:defRPr>
            </a:pPr>
            <a:r>
              <a:rPr sz="3150" b="1" dirty="0">
                <a:solidFill>
                  <a:srgbClr val="172F42"/>
                </a:solidFill>
                <a:latin typeface="Arial"/>
                <a:ea typeface="Arial"/>
                <a:cs typeface="Arial"/>
              </a:rPr>
              <a:t>Las </a:t>
            </a:r>
            <a:r>
              <a:rPr sz="3150" b="1" dirty="0" err="1">
                <a:solidFill>
                  <a:srgbClr val="172F42"/>
                </a:solidFill>
                <a:latin typeface="Arial"/>
                <a:ea typeface="Arial"/>
                <a:cs typeface="Arial"/>
              </a:rPr>
              <a:t>interacciones</a:t>
            </a:r>
            <a:r>
              <a:rPr sz="3150" b="1" dirty="0">
                <a:solidFill>
                  <a:srgbClr val="172F42"/>
                </a:solidFill>
                <a:latin typeface="Arial"/>
                <a:ea typeface="Arial"/>
                <a:cs typeface="Arial"/>
              </a:rPr>
              <a:t> </a:t>
            </a:r>
            <a:r>
              <a:rPr sz="3150" b="1" dirty="0" err="1">
                <a:solidFill>
                  <a:srgbClr val="172F42"/>
                </a:solidFill>
                <a:latin typeface="Arial"/>
                <a:ea typeface="Arial"/>
                <a:cs typeface="Arial"/>
              </a:rPr>
              <a:t>permiten</a:t>
            </a:r>
            <a:r>
              <a:rPr sz="3150" b="1" dirty="0">
                <a:solidFill>
                  <a:srgbClr val="172F42"/>
                </a:solidFill>
                <a:latin typeface="Arial"/>
                <a:ea typeface="Arial"/>
                <a:cs typeface="Arial"/>
              </a:rPr>
              <a:t> </a:t>
            </a:r>
            <a:r>
              <a:rPr sz="3150" b="1" dirty="0" err="1">
                <a:solidFill>
                  <a:srgbClr val="172F42"/>
                </a:solidFill>
                <a:latin typeface="Arial"/>
                <a:ea typeface="Arial"/>
                <a:cs typeface="Arial"/>
              </a:rPr>
              <a:t>perfiles</a:t>
            </a:r>
            <a:r>
              <a:rPr sz="3150" b="1" dirty="0">
                <a:solidFill>
                  <a:srgbClr val="172F42"/>
                </a:solidFill>
                <a:latin typeface="Arial"/>
                <a:ea typeface="Arial"/>
                <a:cs typeface="Arial"/>
              </a:rPr>
              <a:t> </a:t>
            </a:r>
            <a:r>
              <a:rPr sz="3150" b="1" dirty="0" err="1">
                <a:solidFill>
                  <a:srgbClr val="172F42"/>
                </a:solidFill>
                <a:latin typeface="Arial"/>
                <a:ea typeface="Arial"/>
                <a:cs typeface="Arial"/>
              </a:rPr>
              <a:t>distintos</a:t>
            </a:r>
            <a:r>
              <a:rPr sz="3150" b="1" dirty="0">
                <a:solidFill>
                  <a:srgbClr val="172F42"/>
                </a:solidFill>
                <a:latin typeface="Arial"/>
                <a:ea typeface="Arial"/>
                <a:cs typeface="Arial"/>
              </a:rPr>
              <a:t> </a:t>
            </a:r>
            <a:r>
              <a:rPr sz="3150" b="1" dirty="0" err="1">
                <a:solidFill>
                  <a:srgbClr val="172F42"/>
                </a:solidFill>
                <a:latin typeface="Arial"/>
                <a:ea typeface="Arial"/>
                <a:cs typeface="Arial"/>
              </a:rPr>
              <a:t>por</a:t>
            </a:r>
            <a:r>
              <a:rPr sz="3150" b="1" dirty="0">
                <a:solidFill>
                  <a:srgbClr val="172F42"/>
                </a:solidFill>
                <a:latin typeface="Arial"/>
                <a:ea typeface="Arial"/>
                <a:cs typeface="Arial"/>
              </a:rPr>
              <a:t> </a:t>
            </a:r>
            <a:r>
              <a:rPr sz="3150" b="1" dirty="0" err="1">
                <a:solidFill>
                  <a:srgbClr val="172F42"/>
                </a:solidFill>
                <a:latin typeface="Arial"/>
                <a:ea typeface="Arial"/>
                <a:cs typeface="Arial"/>
              </a:rPr>
              <a:t>sexo</a:t>
            </a:r>
            <a:endParaRPr sz="3150" b="1" dirty="0">
              <a:solidFill>
                <a:srgbClr val="172F42"/>
              </a:solidFill>
              <a:latin typeface="Arial"/>
              <a:ea typeface="Arial"/>
              <a:cs typeface="Arial"/>
            </a:endParaRPr>
          </a:p>
        </p:txBody>
      </p:sp>
      <p:sp>
        <p:nvSpPr>
          <p:cNvPr id="2" name="Rectángulo 1">
            <a:extLst>
              <a:ext uri="{FF2B5EF4-FFF2-40B4-BE49-F238E27FC236}">
                <a16:creationId xmlns:a16="http://schemas.microsoft.com/office/drawing/2014/main" id="{01B5293E-9DA4-4A63-9F3E-5AC18AFAF6AF}"/>
              </a:ext>
            </a:extLst>
          </p:cNvPr>
          <p:cNvSpPr>
            <a:spLocks noGrp="1"/>
          </p:cNvSpPr>
          <p:nvPr/>
        </p:nvSpPr>
        <p:spPr>
          <a:xfrm>
            <a:off x="609600" y="6210300"/>
            <a:ext cx="10287000" cy="457200"/>
          </a:xfrm>
          <a:prstGeom prst="rect">
            <a:avLst/>
          </a:prstGeom>
          <a:noFill/>
          <a:ln w="0">
            <a:noFill/>
          </a:ln>
        </p:spPr>
        <p:txBody>
          <a:bodyPr>
            <a:noAutofit/>
          </a:bodyPr>
          <a:lstStyle/>
          <a:p>
            <a:pPr>
              <a:defRPr sz="1125" b="0">
                <a:solidFill>
                  <a:srgbClr val="526471"/>
                </a:solidFill>
                <a:latin typeface="Arial"/>
                <a:ea typeface="Arial"/>
                <a:cs typeface="Arial"/>
              </a:defRPr>
            </a:pPr>
            <a:r>
              <a:rPr sz="1125" b="0">
                <a:solidFill>
                  <a:srgbClr val="526471"/>
                </a:solidFill>
                <a:latin typeface="Arial"/>
                <a:ea typeface="Arial"/>
                <a:cs typeface="Arial"/>
              </a:rPr>
              <a:t>n = 14.763. Población representada ≈ 3.686.406 personas. Fuente: GEIH 2018, Bogotá.</a:t>
            </a:r>
          </a:p>
        </p:txBody>
      </p:sp>
      <p:sp>
        <p:nvSpPr>
          <p:cNvPr id="3" name="Rectángulo 2">
            <a:extLst>
              <a:ext uri="{FF2B5EF4-FFF2-40B4-BE49-F238E27FC236}">
                <a16:creationId xmlns:a16="http://schemas.microsoft.com/office/drawing/2014/main" id="{BD5FC6BA-73F6-4295-9DAB-F737BB873633}"/>
              </a:ext>
            </a:extLst>
          </p:cNvPr>
          <p:cNvSpPr>
            <a:spLocks noGrp="1"/>
          </p:cNvSpPr>
          <p:nvPr/>
        </p:nvSpPr>
        <p:spPr>
          <a:xfrm>
            <a:off x="11144250" y="6343650"/>
            <a:ext cx="419100" cy="247650"/>
          </a:xfrm>
          <a:prstGeom prst="rect">
            <a:avLst/>
          </a:prstGeom>
          <a:noFill/>
          <a:ln w="0">
            <a:noFill/>
          </a:ln>
        </p:spPr>
        <p:txBody>
          <a:bodyPr>
            <a:noAutofit/>
          </a:bodyPr>
          <a:lstStyle/>
          <a:p>
            <a:pPr>
              <a:defRPr sz="1200" b="0">
                <a:solidFill>
                  <a:srgbClr val="526471"/>
                </a:solidFill>
                <a:latin typeface="Arial"/>
                <a:ea typeface="Arial"/>
                <a:cs typeface="Arial"/>
              </a:defRPr>
            </a:pPr>
            <a:r>
              <a:rPr sz="1200" b="0">
                <a:solidFill>
                  <a:srgbClr val="526471"/>
                </a:solidFill>
                <a:latin typeface="Arial"/>
                <a:ea typeface="Arial"/>
                <a:cs typeface="Arial"/>
              </a:rPr>
              <a:t>10</a:t>
            </a:r>
          </a:p>
        </p:txBody>
      </p:sp>
      <mc:AlternateContent xmlns:mc="http://schemas.openxmlformats.org/markup-compatibility/2006" xmlns:a14="http://schemas.microsoft.com/office/drawing/2010/main">
        <mc:Choice Requires="a14">
          <p:sp>
            <p:nvSpPr>
              <p:cNvPr id="4" name="EQ_gap_8_5">
                <a:extLst>
                  <a:ext uri="{FF2B5EF4-FFF2-40B4-BE49-F238E27FC236}">
                    <a16:creationId xmlns:a16="http://schemas.microsoft.com/office/drawing/2014/main" id="{10E4469F-D3CE-42B6-B94A-2FCB30DA5CB9}"/>
                  </a:ext>
                </a:extLst>
              </p:cNvPr>
              <p:cNvSpPr>
                <a:spLocks noGrp="1"/>
              </p:cNvSpPr>
              <p:nvPr/>
            </p:nvSpPr>
            <p:spPr>
              <a:xfrm>
                <a:off x="685800" y="1285875"/>
                <a:ext cx="10763250" cy="857250"/>
              </a:xfrm>
              <a:prstGeom prst="rect">
                <a:avLst/>
              </a:prstGeom>
              <a:noFill/>
              <a:ln w="0">
                <a:noFill/>
              </a:ln>
            </p:spPr>
            <p:txBody>
              <a:bodyPr/>
              <a:lstStyle/>
              <a:p>
                <a:pPr algn="l"/>
                <a14:m>
                  <m:oMathPara xmlns:m="http://schemas.openxmlformats.org/officeDocument/2006/math">
                    <m:oMath>
                      <m:sSub>
                        <m:sSubPr>
                          <m:ctrlPr>
                            <a:rPr>
                              <a:latin typeface="Cambria Math" panose="02040503050406030204" pitchFamily="18" charset="0"/>
                            </a:rPr>
                          </m:ctrlPr>
                        </m:sSubPr>
                        <m:e>
                          <m:r>
                            <a:rPr>
                              <a:latin typeface="Cambria Math" panose="02040503050406030204" pitchFamily="18" charset="0"/>
                            </a:rPr>
                            <m:t>𝑦</m:t>
                          </m:r>
                        </m:e>
                        <m:sub>
                          <m:r>
                            <a:rPr>
                              <a:latin typeface="Cambria Math" panose="02040503050406030204" pitchFamily="18" charset="0"/>
                            </a:rPr>
                            <m:t>𝑖</m:t>
                          </m:r>
                        </m:sub>
                      </m:sSub>
                      <m:r>
                        <a:rPr>
                          <a:latin typeface="Cambria Math" panose="02040503050406030204" pitchFamily="18" charset="0"/>
                        </a:rPr>
                        <m:t>=</m:t>
                      </m:r>
                      <m:r>
                        <a:rPr>
                          <a:latin typeface="Cambria Math" panose="02040503050406030204" pitchFamily="18" charset="0"/>
                        </a:rPr>
                        <m:t>𝛼</m:t>
                      </m:r>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𝛽</m:t>
                          </m:r>
                        </m:e>
                        <m:sub>
                          <m:r>
                            <a:rPr>
                              <a:latin typeface="Cambria Math" panose="02040503050406030204" pitchFamily="18" charset="0"/>
                            </a:rPr>
                            <m:t>1</m:t>
                          </m:r>
                        </m:sub>
                      </m:sSub>
                      <m:sSub>
                        <m:sSubPr>
                          <m:ctrlPr>
                            <a:rPr>
                              <a:latin typeface="Cambria Math" panose="02040503050406030204" pitchFamily="18" charset="0"/>
                            </a:rPr>
                          </m:ctrlPr>
                        </m:sSubPr>
                        <m:e>
                          <m:r>
                            <a:rPr>
                              <a:latin typeface="Cambria Math" panose="02040503050406030204" pitchFamily="18" charset="0"/>
                            </a:rPr>
                            <m:t>𝐴</m:t>
                          </m:r>
                        </m:e>
                        <m:sub>
                          <m:r>
                            <a:rPr>
                              <a:latin typeface="Cambria Math" panose="02040503050406030204" pitchFamily="18" charset="0"/>
                            </a:rPr>
                            <m:t>𝑖</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𝛽</m:t>
                          </m:r>
                        </m:e>
                        <m:sub>
                          <m:r>
                            <a:rPr>
                              <a:latin typeface="Cambria Math" panose="02040503050406030204" pitchFamily="18" charset="0"/>
                            </a:rPr>
                            <m:t>2</m:t>
                          </m:r>
                        </m:sub>
                      </m:sSub>
                      <m:sSubSup>
                        <m:sSubSupPr>
                          <m:ctrlPr>
                            <a:rPr>
                              <a:latin typeface="Cambria Math" panose="02040503050406030204" pitchFamily="18" charset="0"/>
                            </a:rPr>
                          </m:ctrlPr>
                        </m:sSubSupPr>
                        <m:e>
                          <m:r>
                            <a:rPr>
                              <a:latin typeface="Cambria Math" panose="02040503050406030204" pitchFamily="18" charset="0"/>
                            </a:rPr>
                            <m:t>𝐴</m:t>
                          </m:r>
                        </m:e>
                        <m:sub>
                          <m:r>
                            <a:rPr>
                              <a:latin typeface="Cambria Math" panose="02040503050406030204" pitchFamily="18" charset="0"/>
                            </a:rPr>
                            <m:t>𝑖</m:t>
                          </m:r>
                        </m:sub>
                        <m:sup>
                          <m:r>
                            <a:rPr>
                              <a:latin typeface="Cambria Math" panose="02040503050406030204" pitchFamily="18" charset="0"/>
                            </a:rPr>
                            <m:t>2</m:t>
                          </m:r>
                        </m:sup>
                      </m:sSubSup>
                      <m:r>
                        <a:rPr>
                          <a:latin typeface="Cambria Math" panose="02040503050406030204" pitchFamily="18" charset="0"/>
                        </a:rPr>
                        <m:t>+</m:t>
                      </m:r>
                      <m:r>
                        <a:rPr>
                          <a:latin typeface="Cambria Math" panose="02040503050406030204" pitchFamily="18" charset="0"/>
                        </a:rPr>
                        <m:t>𝛿</m:t>
                      </m:r>
                      <m:sSub>
                        <m:sSubPr>
                          <m:ctrlPr>
                            <a:rPr>
                              <a:latin typeface="Cambria Math" panose="02040503050406030204" pitchFamily="18" charset="0"/>
                            </a:rPr>
                          </m:ctrlPr>
                        </m:sSubPr>
                        <m:e>
                          <m:r>
                            <a:rPr>
                              <a:latin typeface="Cambria Math" panose="02040503050406030204" pitchFamily="18" charset="0"/>
                            </a:rPr>
                            <m:t>𝐹</m:t>
                          </m:r>
                        </m:e>
                        <m:sub>
                          <m:r>
                            <a:rPr>
                              <a:latin typeface="Cambria Math" panose="02040503050406030204" pitchFamily="18" charset="0"/>
                            </a:rPr>
                            <m:t>𝑖</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𝜃</m:t>
                          </m:r>
                        </m:e>
                        <m:sub>
                          <m:r>
                            <a:rPr>
                              <a:latin typeface="Cambria Math" panose="02040503050406030204" pitchFamily="18" charset="0"/>
                            </a:rPr>
                            <m:t>1</m:t>
                          </m:r>
                        </m:sub>
                      </m:sSub>
                      <m:sSub>
                        <m:sSubPr>
                          <m:ctrlPr>
                            <a:rPr>
                              <a:latin typeface="Cambria Math" panose="02040503050406030204" pitchFamily="18" charset="0"/>
                            </a:rPr>
                          </m:ctrlPr>
                        </m:sSubPr>
                        <m:e>
                          <m:r>
                            <a:rPr>
                              <a:latin typeface="Cambria Math" panose="02040503050406030204" pitchFamily="18" charset="0"/>
                            </a:rPr>
                            <m:t>𝐹</m:t>
                          </m:r>
                        </m:e>
                        <m:sub>
                          <m:r>
                            <a:rPr>
                              <a:latin typeface="Cambria Math" panose="02040503050406030204" pitchFamily="18" charset="0"/>
                            </a:rPr>
                            <m:t>𝑖</m:t>
                          </m:r>
                        </m:sub>
                      </m:sSub>
                      <m:sSub>
                        <m:sSubPr>
                          <m:ctrlPr>
                            <a:rPr>
                              <a:latin typeface="Cambria Math" panose="02040503050406030204" pitchFamily="18" charset="0"/>
                            </a:rPr>
                          </m:ctrlPr>
                        </m:sSubPr>
                        <m:e>
                          <m:r>
                            <a:rPr>
                              <a:latin typeface="Cambria Math" panose="02040503050406030204" pitchFamily="18" charset="0"/>
                            </a:rPr>
                            <m:t>𝐴</m:t>
                          </m:r>
                        </m:e>
                        <m:sub>
                          <m:r>
                            <a:rPr>
                              <a:latin typeface="Cambria Math" panose="02040503050406030204" pitchFamily="18" charset="0"/>
                            </a:rPr>
                            <m:t>𝑖</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𝜃</m:t>
                          </m:r>
                        </m:e>
                        <m:sub>
                          <m:r>
                            <a:rPr>
                              <a:latin typeface="Cambria Math" panose="02040503050406030204" pitchFamily="18" charset="0"/>
                            </a:rPr>
                            <m:t>2</m:t>
                          </m:r>
                        </m:sub>
                      </m:sSub>
                      <m:sSub>
                        <m:sSubPr>
                          <m:ctrlPr>
                            <a:rPr>
                              <a:latin typeface="Cambria Math" panose="02040503050406030204" pitchFamily="18" charset="0"/>
                            </a:rPr>
                          </m:ctrlPr>
                        </m:sSubPr>
                        <m:e>
                          <m:r>
                            <a:rPr>
                              <a:latin typeface="Cambria Math" panose="02040503050406030204" pitchFamily="18" charset="0"/>
                            </a:rPr>
                            <m:t>𝐹</m:t>
                          </m:r>
                        </m:e>
                        <m:sub>
                          <m:r>
                            <a:rPr>
                              <a:latin typeface="Cambria Math" panose="02040503050406030204" pitchFamily="18" charset="0"/>
                            </a:rPr>
                            <m:t>𝑖</m:t>
                          </m:r>
                        </m:sub>
                      </m:sSub>
                      <m:sSubSup>
                        <m:sSubSupPr>
                          <m:ctrlPr>
                            <a:rPr>
                              <a:latin typeface="Cambria Math" panose="02040503050406030204" pitchFamily="18" charset="0"/>
                            </a:rPr>
                          </m:ctrlPr>
                        </m:sSubSupPr>
                        <m:e>
                          <m:r>
                            <a:rPr>
                              <a:latin typeface="Cambria Math" panose="02040503050406030204" pitchFamily="18" charset="0"/>
                            </a:rPr>
                            <m:t>𝐴</m:t>
                          </m:r>
                        </m:e>
                        <m:sub>
                          <m:r>
                            <a:rPr>
                              <a:latin typeface="Cambria Math" panose="02040503050406030204" pitchFamily="18" charset="0"/>
                            </a:rPr>
                            <m:t>𝑖</m:t>
                          </m:r>
                        </m:sub>
                        <m:sup>
                          <m:r>
                            <a:rPr>
                              <a:latin typeface="Cambria Math" panose="02040503050406030204" pitchFamily="18" charset="0"/>
                            </a:rPr>
                            <m:t>2</m:t>
                          </m:r>
                        </m:sup>
                      </m:sSubSup>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𝑍</m:t>
                          </m:r>
                        </m:e>
                        <m:sub>
                          <m:r>
                            <a:rPr>
                              <a:latin typeface="Cambria Math" panose="02040503050406030204" pitchFamily="18" charset="0"/>
                            </a:rPr>
                            <m:t>𝑖</m:t>
                          </m:r>
                        </m:sub>
                      </m:sSub>
                      <m:r>
                        <a:rPr>
                          <a:latin typeface="Cambria Math" panose="02040503050406030204" pitchFamily="18" charset="0"/>
                        </a:rPr>
                        <m:t>′</m:t>
                      </m:r>
                      <m:r>
                        <a:rPr>
                          <a:latin typeface="Cambria Math" panose="02040503050406030204" pitchFamily="18" charset="0"/>
                        </a:rPr>
                        <m:t>𝛾</m:t>
                      </m:r>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𝑢</m:t>
                          </m:r>
                        </m:e>
                        <m:sub>
                          <m:r>
                            <a:rPr>
                              <a:latin typeface="Cambria Math" panose="02040503050406030204" pitchFamily="18" charset="0"/>
                            </a:rPr>
                            <m:t>𝑖</m:t>
                          </m:r>
                        </m:sub>
                      </m:sSub>
                    </m:oMath>
                  </m:oMathPara>
                </a14:m>
                <a:endParaRPr sz="2200" dirty="0"/>
              </a:p>
            </p:txBody>
          </p:sp>
        </mc:Choice>
        <mc:Fallback xmlns="">
          <p:sp>
            <p:nvSpPr>
              <p:cNvPr id="4" name="EQ_gap_8_5">
                <a:extLst>
                  <a:ext uri="{FF2B5EF4-FFF2-40B4-BE49-F238E27FC236}">
                    <a16:creationId xmlns:a16="http://schemas.microsoft.com/office/drawing/2014/main" id="{10E4469F-D3CE-42B6-B94A-2FCB30DA5CB9}"/>
                  </a:ext>
                </a:extLst>
              </p:cNvPr>
              <p:cNvSpPr>
                <a:spLocks noGrp="1" noRot="1" noChangeAspect="1" noMove="1" noResize="1" noEditPoints="1" noAdjustHandles="1" noChangeArrowheads="1" noChangeShapeType="1" noTextEdit="1"/>
              </p:cNvSpPr>
              <p:nvPr/>
            </p:nvSpPr>
            <p:spPr>
              <a:xfrm>
                <a:off x="685800" y="1285875"/>
                <a:ext cx="10763250" cy="857250"/>
              </a:xfrm>
              <a:prstGeom prst="rect">
                <a:avLst/>
              </a:prstGeom>
              <a:blipFill>
                <a:blip r:embed="rId3"/>
                <a:stretch>
                  <a:fillRect/>
                </a:stretch>
              </a:blipFill>
              <a:ln w="0">
                <a:noFill/>
              </a:ln>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5" name="EQ_gap_8_6">
                <a:extLst>
                  <a:ext uri="{FF2B5EF4-FFF2-40B4-BE49-F238E27FC236}">
                    <a16:creationId xmlns:a16="http://schemas.microsoft.com/office/drawing/2014/main" id="{D8D1DEEF-11AA-4253-815E-E0348D0C2E13}"/>
                  </a:ext>
                </a:extLst>
              </p:cNvPr>
              <p:cNvSpPr>
                <a:spLocks noGrp="1"/>
              </p:cNvSpPr>
              <p:nvPr/>
            </p:nvSpPr>
            <p:spPr>
              <a:xfrm>
                <a:off x="685800" y="2809875"/>
                <a:ext cx="10763250" cy="1000125"/>
              </a:xfrm>
              <a:prstGeom prst="rect">
                <a:avLst/>
              </a:prstGeom>
              <a:noFill/>
              <a:ln w="0">
                <a:noFill/>
              </a:ln>
            </p:spPr>
            <p:txBody>
              <a:bodyPr/>
              <a:lstStyle/>
              <a:p>
                <a:pPr algn="l"/>
                <a14:m>
                  <m:oMathPara xmlns:m="http://schemas.openxmlformats.org/officeDocument/2006/math">
                    <m:oMath>
                      <m:sSubSup>
                        <m:sSubSupPr>
                          <m:ctrlPr>
                            <a:rPr i="1">
                              <a:latin typeface="Cambria Math" panose="02040503050406030204" pitchFamily="18" charset="0"/>
                            </a:rPr>
                          </m:ctrlPr>
                        </m:sSubSupPr>
                        <m:e>
                          <m:acc>
                            <m:accPr>
                              <m:chr m:val="ˆ"/>
                              <m:ctrlPr>
                                <a:rPr>
                                  <a:latin typeface="Cambria Math" panose="02040503050406030204" pitchFamily="18" charset="0"/>
                                </a:rPr>
                              </m:ctrlPr>
                            </m:accPr>
                            <m:e>
                              <m:r>
                                <a:rPr>
                                  <a:latin typeface="Cambria Math" panose="02040503050406030204" pitchFamily="18" charset="0"/>
                                </a:rPr>
                                <m:t>𝐴</m:t>
                              </m:r>
                            </m:e>
                          </m:acc>
                        </m:e>
                        <m:sub>
                          <m:r>
                            <a:rPr>
                              <a:latin typeface="Cambria Math" panose="02040503050406030204" pitchFamily="18" charset="0"/>
                            </a:rPr>
                            <m:t>𝐻</m:t>
                          </m:r>
                        </m:sub>
                        <m:sup>
                          <m:r>
                            <a:rPr>
                              <a:latin typeface="Cambria Math" panose="02040503050406030204" pitchFamily="18" charset="0"/>
                            </a:rPr>
                            <m:t>∗</m:t>
                          </m:r>
                        </m:sup>
                      </m:sSubSup>
                      <m:r>
                        <a:rPr>
                          <a:latin typeface="Cambria Math" panose="02040503050406030204" pitchFamily="18" charset="0"/>
                        </a:rPr>
                        <m:t>=−</m:t>
                      </m:r>
                      <m:f>
                        <m:fPr>
                          <m:ctrlPr>
                            <a:rPr i="1">
                              <a:latin typeface="Cambria Math" panose="02040503050406030204" pitchFamily="18" charset="0"/>
                            </a:rPr>
                          </m:ctrlPr>
                        </m:fPr>
                        <m:num>
                          <m:sSub>
                            <m:sSubPr>
                              <m:ctrlPr>
                                <a:rPr i="1">
                                  <a:latin typeface="Cambria Math" panose="02040503050406030204" pitchFamily="18" charset="0"/>
                                </a:rPr>
                              </m:ctrlPr>
                            </m:sSubPr>
                            <m:e>
                              <m:acc>
                                <m:accPr>
                                  <m:chr m:val="ˆ"/>
                                  <m:ctrlPr>
                                    <a:rPr>
                                      <a:latin typeface="Cambria Math" panose="02040503050406030204" pitchFamily="18" charset="0"/>
                                    </a:rPr>
                                  </m:ctrlPr>
                                </m:accPr>
                                <m:e>
                                  <m:r>
                                    <a:rPr>
                                      <a:latin typeface="Cambria Math" panose="02040503050406030204" pitchFamily="18" charset="0"/>
                                    </a:rPr>
                                    <m:t>𝛽</m:t>
                                  </m:r>
                                </m:e>
                              </m:acc>
                            </m:e>
                            <m:sub>
                              <m:r>
                                <a:rPr>
                                  <a:latin typeface="Cambria Math" panose="02040503050406030204" pitchFamily="18" charset="0"/>
                                </a:rPr>
                                <m:t>1</m:t>
                              </m:r>
                            </m:sub>
                          </m:sSub>
                        </m:num>
                        <m:den>
                          <m:r>
                            <a:rPr>
                              <a:latin typeface="Cambria Math" panose="02040503050406030204" pitchFamily="18" charset="0"/>
                            </a:rPr>
                            <m:t>2</m:t>
                          </m:r>
                          <m:sSub>
                            <m:sSubPr>
                              <m:ctrlPr>
                                <a:rPr i="1">
                                  <a:latin typeface="Cambria Math" panose="02040503050406030204" pitchFamily="18" charset="0"/>
                                </a:rPr>
                              </m:ctrlPr>
                            </m:sSubPr>
                            <m:e>
                              <m:acc>
                                <m:accPr>
                                  <m:chr m:val="ˆ"/>
                                  <m:ctrlPr>
                                    <a:rPr>
                                      <a:latin typeface="Cambria Math" panose="02040503050406030204" pitchFamily="18" charset="0"/>
                                    </a:rPr>
                                  </m:ctrlPr>
                                </m:accPr>
                                <m:e>
                                  <m:r>
                                    <a:rPr>
                                      <a:latin typeface="Cambria Math" panose="02040503050406030204" pitchFamily="18" charset="0"/>
                                    </a:rPr>
                                    <m:t>𝛽</m:t>
                                  </m:r>
                                </m:e>
                              </m:acc>
                            </m:e>
                            <m:sub>
                              <m:r>
                                <a:rPr>
                                  <a:latin typeface="Cambria Math" panose="02040503050406030204" pitchFamily="18" charset="0"/>
                                </a:rPr>
                                <m:t>2</m:t>
                              </m:r>
                            </m:sub>
                          </m:sSub>
                        </m:den>
                      </m:f>
                      <m:r>
                        <a:rPr>
                          <a:latin typeface="Cambria Math" panose="02040503050406030204" pitchFamily="18" charset="0"/>
                        </a:rPr>
                        <m:t>,</m:t>
                      </m:r>
                      <m:r>
                        <m:rPr>
                          <m:nor/>
                        </m:rPr>
                        <a:rPr i="0"/>
                        <m:t> </m:t>
                      </m:r>
                      <m:sSubSup>
                        <m:sSubSupPr>
                          <m:ctrlPr>
                            <a:rPr i="1">
                              <a:latin typeface="Cambria Math" panose="02040503050406030204" pitchFamily="18" charset="0"/>
                            </a:rPr>
                          </m:ctrlPr>
                        </m:sSubSupPr>
                        <m:e>
                          <m:acc>
                            <m:accPr>
                              <m:chr m:val="ˆ"/>
                              <m:ctrlPr>
                                <a:rPr>
                                  <a:latin typeface="Cambria Math" panose="02040503050406030204" pitchFamily="18" charset="0"/>
                                </a:rPr>
                              </m:ctrlPr>
                            </m:accPr>
                            <m:e>
                              <m:r>
                                <a:rPr>
                                  <a:latin typeface="Cambria Math" panose="02040503050406030204" pitchFamily="18" charset="0"/>
                                </a:rPr>
                                <m:t>𝐴</m:t>
                              </m:r>
                            </m:e>
                          </m:acc>
                        </m:e>
                        <m:sub>
                          <m:r>
                            <a:rPr>
                              <a:latin typeface="Cambria Math" panose="02040503050406030204" pitchFamily="18" charset="0"/>
                            </a:rPr>
                            <m:t>𝑀</m:t>
                          </m:r>
                        </m:sub>
                        <m:sup>
                          <m:r>
                            <a:rPr>
                              <a:latin typeface="Cambria Math" panose="02040503050406030204" pitchFamily="18" charset="0"/>
                            </a:rPr>
                            <m:t>∗</m:t>
                          </m:r>
                        </m:sup>
                      </m:sSubSup>
                      <m:r>
                        <a:rPr>
                          <a:latin typeface="Cambria Math" panose="02040503050406030204" pitchFamily="18" charset="0"/>
                        </a:rPr>
                        <m:t>=−</m:t>
                      </m:r>
                      <m:f>
                        <m:fPr>
                          <m:ctrlPr>
                            <a:rPr i="1">
                              <a:latin typeface="Cambria Math" panose="02040503050406030204" pitchFamily="18" charset="0"/>
                            </a:rPr>
                          </m:ctrlPr>
                        </m:fPr>
                        <m:num>
                          <m:sSub>
                            <m:sSubPr>
                              <m:ctrlPr>
                                <a:rPr i="1">
                                  <a:latin typeface="Cambria Math" panose="02040503050406030204" pitchFamily="18" charset="0"/>
                                </a:rPr>
                              </m:ctrlPr>
                            </m:sSubPr>
                            <m:e>
                              <m:acc>
                                <m:accPr>
                                  <m:chr m:val="ˆ"/>
                                  <m:ctrlPr>
                                    <a:rPr>
                                      <a:latin typeface="Cambria Math" panose="02040503050406030204" pitchFamily="18" charset="0"/>
                                    </a:rPr>
                                  </m:ctrlPr>
                                </m:accPr>
                                <m:e>
                                  <m:r>
                                    <a:rPr>
                                      <a:latin typeface="Cambria Math" panose="02040503050406030204" pitchFamily="18" charset="0"/>
                                    </a:rPr>
                                    <m:t>𝛽</m:t>
                                  </m:r>
                                </m:e>
                              </m:acc>
                            </m:e>
                            <m:sub>
                              <m:r>
                                <a:rPr>
                                  <a:latin typeface="Cambria Math" panose="02040503050406030204" pitchFamily="18" charset="0"/>
                                </a:rPr>
                                <m:t>1</m:t>
                              </m:r>
                            </m:sub>
                          </m:sSub>
                          <m:r>
                            <a:rPr>
                              <a:latin typeface="Cambria Math" panose="02040503050406030204" pitchFamily="18" charset="0"/>
                            </a:rPr>
                            <m:t>+</m:t>
                          </m:r>
                          <m:sSub>
                            <m:sSubPr>
                              <m:ctrlPr>
                                <a:rPr i="1">
                                  <a:latin typeface="Cambria Math" panose="02040503050406030204" pitchFamily="18" charset="0"/>
                                </a:rPr>
                              </m:ctrlPr>
                            </m:sSubPr>
                            <m:e>
                              <m:acc>
                                <m:accPr>
                                  <m:chr m:val="ˆ"/>
                                  <m:ctrlPr>
                                    <a:rPr>
                                      <a:latin typeface="Cambria Math" panose="02040503050406030204" pitchFamily="18" charset="0"/>
                                    </a:rPr>
                                  </m:ctrlPr>
                                </m:accPr>
                                <m:e>
                                  <m:r>
                                    <a:rPr>
                                      <a:latin typeface="Cambria Math" panose="02040503050406030204" pitchFamily="18" charset="0"/>
                                    </a:rPr>
                                    <m:t>𝜃</m:t>
                                  </m:r>
                                </m:e>
                              </m:acc>
                            </m:e>
                            <m:sub>
                              <m:r>
                                <a:rPr>
                                  <a:latin typeface="Cambria Math" panose="02040503050406030204" pitchFamily="18" charset="0"/>
                                </a:rPr>
                                <m:t>1</m:t>
                              </m:r>
                            </m:sub>
                          </m:sSub>
                        </m:num>
                        <m:den>
                          <m:r>
                            <a:rPr>
                              <a:latin typeface="Cambria Math" panose="02040503050406030204" pitchFamily="18" charset="0"/>
                            </a:rPr>
                            <m:t>2(</m:t>
                          </m:r>
                          <m:sSub>
                            <m:sSubPr>
                              <m:ctrlPr>
                                <a:rPr i="1">
                                  <a:latin typeface="Cambria Math" panose="02040503050406030204" pitchFamily="18" charset="0"/>
                                </a:rPr>
                              </m:ctrlPr>
                            </m:sSubPr>
                            <m:e>
                              <m:acc>
                                <m:accPr>
                                  <m:chr m:val="ˆ"/>
                                  <m:ctrlPr>
                                    <a:rPr>
                                      <a:latin typeface="Cambria Math" panose="02040503050406030204" pitchFamily="18" charset="0"/>
                                    </a:rPr>
                                  </m:ctrlPr>
                                </m:accPr>
                                <m:e>
                                  <m:r>
                                    <a:rPr>
                                      <a:latin typeface="Cambria Math" panose="02040503050406030204" pitchFamily="18" charset="0"/>
                                    </a:rPr>
                                    <m:t>𝛽</m:t>
                                  </m:r>
                                </m:e>
                              </m:acc>
                            </m:e>
                            <m:sub>
                              <m:r>
                                <a:rPr>
                                  <a:latin typeface="Cambria Math" panose="02040503050406030204" pitchFamily="18" charset="0"/>
                                </a:rPr>
                                <m:t>2</m:t>
                              </m:r>
                            </m:sub>
                          </m:sSub>
                          <m:r>
                            <a:rPr>
                              <a:latin typeface="Cambria Math" panose="02040503050406030204" pitchFamily="18" charset="0"/>
                            </a:rPr>
                            <m:t>+</m:t>
                          </m:r>
                          <m:sSub>
                            <m:sSubPr>
                              <m:ctrlPr>
                                <a:rPr i="1">
                                  <a:latin typeface="Cambria Math" panose="02040503050406030204" pitchFamily="18" charset="0"/>
                                </a:rPr>
                              </m:ctrlPr>
                            </m:sSubPr>
                            <m:e>
                              <m:acc>
                                <m:accPr>
                                  <m:chr m:val="ˆ"/>
                                  <m:ctrlPr>
                                    <a:rPr>
                                      <a:latin typeface="Cambria Math" panose="02040503050406030204" pitchFamily="18" charset="0"/>
                                    </a:rPr>
                                  </m:ctrlPr>
                                </m:accPr>
                                <m:e>
                                  <m:r>
                                    <a:rPr>
                                      <a:latin typeface="Cambria Math" panose="02040503050406030204" pitchFamily="18" charset="0"/>
                                    </a:rPr>
                                    <m:t>𝜃</m:t>
                                  </m:r>
                                </m:e>
                              </m:acc>
                            </m:e>
                            <m:sub>
                              <m:r>
                                <a:rPr>
                                  <a:latin typeface="Cambria Math" panose="02040503050406030204" pitchFamily="18" charset="0"/>
                                </a:rPr>
                                <m:t>2</m:t>
                              </m:r>
                            </m:sub>
                          </m:sSub>
                          <m:r>
                            <a:rPr>
                              <a:latin typeface="Cambria Math" panose="02040503050406030204" pitchFamily="18" charset="0"/>
                            </a:rPr>
                            <m:t>)</m:t>
                          </m:r>
                        </m:den>
                      </m:f>
                    </m:oMath>
                  </m:oMathPara>
                </a14:m>
                <a:endParaRPr sz="2800"/>
              </a:p>
            </p:txBody>
          </p:sp>
        </mc:Choice>
        <mc:Fallback xmlns="">
          <p:sp>
            <p:nvSpPr>
              <p:cNvPr id="5" name="EQ_gap_8_6">
                <a:extLst>
                  <a:ext uri="{FF2B5EF4-FFF2-40B4-BE49-F238E27FC236}">
                    <a16:creationId xmlns:a16="http://schemas.microsoft.com/office/drawing/2014/main" id="{D8D1DEEF-11AA-4253-815E-E0348D0C2E13}"/>
                  </a:ext>
                </a:extLst>
              </p:cNvPr>
              <p:cNvSpPr>
                <a:spLocks noGrp="1" noRot="1" noChangeAspect="1" noMove="1" noResize="1" noEditPoints="1" noAdjustHandles="1" noChangeArrowheads="1" noChangeShapeType="1" noTextEdit="1"/>
              </p:cNvSpPr>
              <p:nvPr/>
            </p:nvSpPr>
            <p:spPr>
              <a:xfrm>
                <a:off x="685800" y="2809875"/>
                <a:ext cx="10763250" cy="1000125"/>
              </a:xfrm>
              <a:prstGeom prst="rect">
                <a:avLst/>
              </a:prstGeom>
              <a:blipFill>
                <a:blip r:embed="rId4"/>
                <a:stretch>
                  <a:fillRect/>
                </a:stretch>
              </a:blipFill>
              <a:ln w="0">
                <a:noFill/>
              </a:ln>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6" name="EQ_gap_8_7">
                <a:extLst>
                  <a:ext uri="{FF2B5EF4-FFF2-40B4-BE49-F238E27FC236}">
                    <a16:creationId xmlns:a16="http://schemas.microsoft.com/office/drawing/2014/main" id="{62B30C8C-6235-44A7-B6A0-C49A390D5EA5}"/>
                  </a:ext>
                </a:extLst>
              </p:cNvPr>
              <p:cNvSpPr>
                <a:spLocks noGrp="1"/>
              </p:cNvSpPr>
              <p:nvPr/>
            </p:nvSpPr>
            <p:spPr>
              <a:xfrm>
                <a:off x="685800" y="4429125"/>
                <a:ext cx="10763250" cy="762000"/>
              </a:xfrm>
              <a:prstGeom prst="rect">
                <a:avLst/>
              </a:prstGeom>
              <a:noFill/>
              <a:ln w="0">
                <a:noFill/>
              </a:ln>
            </p:spPr>
            <p:txBody>
              <a:bodyPr/>
              <a:lstStyle/>
              <a:p>
                <a:pPr algn="l"/>
                <a14:m>
                  <m:oMathPara xmlns:m="http://schemas.openxmlformats.org/officeDocument/2006/math">
                    <m:oMath>
                      <m:acc>
                        <m:accPr>
                          <m:chr m:val="ˆ"/>
                          <m:ctrlPr>
                            <a:rPr>
                              <a:latin typeface="Cambria Math" panose="02040503050406030204" pitchFamily="18" charset="0"/>
                            </a:rPr>
                          </m:ctrlPr>
                        </m:accPr>
                        <m:e>
                          <m:r>
                            <a:rPr>
                              <a:latin typeface="Cambria Math" panose="02040503050406030204" pitchFamily="18" charset="0"/>
                            </a:rPr>
                            <m:t>𝛿</m:t>
                          </m:r>
                        </m:e>
                      </m:acc>
                      <m:r>
                        <a:rPr>
                          <a:latin typeface="Cambria Math" panose="02040503050406030204" pitchFamily="18" charset="0"/>
                        </a:rPr>
                        <m:t>(</m:t>
                      </m:r>
                      <m:r>
                        <a:rPr>
                          <a:latin typeface="Cambria Math" panose="02040503050406030204" pitchFamily="18" charset="0"/>
                        </a:rPr>
                        <m:t>𝐴</m:t>
                      </m:r>
                      <m:r>
                        <a:rPr>
                          <a:latin typeface="Cambria Math" panose="02040503050406030204" pitchFamily="18" charset="0"/>
                        </a:rPr>
                        <m:t>)=</m:t>
                      </m:r>
                      <m:acc>
                        <m:accPr>
                          <m:chr m:val="ˆ"/>
                          <m:ctrlPr>
                            <a:rPr>
                              <a:latin typeface="Cambria Math" panose="02040503050406030204" pitchFamily="18" charset="0"/>
                            </a:rPr>
                          </m:ctrlPr>
                        </m:accPr>
                        <m:e>
                          <m:r>
                            <a:rPr>
                              <a:latin typeface="Cambria Math" panose="02040503050406030204" pitchFamily="18" charset="0"/>
                            </a:rPr>
                            <m:t>𝛿</m:t>
                          </m:r>
                        </m:e>
                      </m:acc>
                      <m:r>
                        <a:rPr>
                          <a:latin typeface="Cambria Math" panose="02040503050406030204" pitchFamily="18" charset="0"/>
                        </a:rPr>
                        <m:t>+</m:t>
                      </m:r>
                      <m:sSub>
                        <m:sSubPr>
                          <m:ctrlPr>
                            <a:rPr i="1">
                              <a:latin typeface="Cambria Math" panose="02040503050406030204" pitchFamily="18" charset="0"/>
                            </a:rPr>
                          </m:ctrlPr>
                        </m:sSubPr>
                        <m:e>
                          <m:acc>
                            <m:accPr>
                              <m:chr m:val="ˆ"/>
                              <m:ctrlPr>
                                <a:rPr>
                                  <a:latin typeface="Cambria Math" panose="02040503050406030204" pitchFamily="18" charset="0"/>
                                </a:rPr>
                              </m:ctrlPr>
                            </m:accPr>
                            <m:e>
                              <m:r>
                                <a:rPr>
                                  <a:latin typeface="Cambria Math" panose="02040503050406030204" pitchFamily="18" charset="0"/>
                                </a:rPr>
                                <m:t>𝜃</m:t>
                              </m:r>
                            </m:e>
                          </m:acc>
                        </m:e>
                        <m:sub>
                          <m:r>
                            <a:rPr>
                              <a:latin typeface="Cambria Math" panose="02040503050406030204" pitchFamily="18" charset="0"/>
                            </a:rPr>
                            <m:t>1</m:t>
                          </m:r>
                        </m:sub>
                      </m:sSub>
                      <m:r>
                        <a:rPr>
                          <a:latin typeface="Cambria Math" panose="02040503050406030204" pitchFamily="18" charset="0"/>
                        </a:rPr>
                        <m:t>𝐴</m:t>
                      </m:r>
                      <m:r>
                        <a:rPr>
                          <a:latin typeface="Cambria Math" panose="02040503050406030204" pitchFamily="18" charset="0"/>
                        </a:rPr>
                        <m:t>+</m:t>
                      </m:r>
                      <m:sSub>
                        <m:sSubPr>
                          <m:ctrlPr>
                            <a:rPr i="1">
                              <a:latin typeface="Cambria Math" panose="02040503050406030204" pitchFamily="18" charset="0"/>
                            </a:rPr>
                          </m:ctrlPr>
                        </m:sSubPr>
                        <m:e>
                          <m:acc>
                            <m:accPr>
                              <m:chr m:val="ˆ"/>
                              <m:ctrlPr>
                                <a:rPr>
                                  <a:latin typeface="Cambria Math" panose="02040503050406030204" pitchFamily="18" charset="0"/>
                                </a:rPr>
                              </m:ctrlPr>
                            </m:accPr>
                            <m:e>
                              <m:r>
                                <a:rPr>
                                  <a:latin typeface="Cambria Math" panose="02040503050406030204" pitchFamily="18" charset="0"/>
                                </a:rPr>
                                <m:t>𝜃</m:t>
                              </m:r>
                            </m:e>
                          </m:acc>
                        </m:e>
                        <m:sub>
                          <m:r>
                            <a:rPr>
                              <a:latin typeface="Cambria Math" panose="02040503050406030204" pitchFamily="18" charset="0"/>
                            </a:rPr>
                            <m:t>2</m:t>
                          </m:r>
                        </m:sub>
                      </m:sSub>
                      <m:sSup>
                        <m:sSupPr>
                          <m:ctrlPr>
                            <a:rPr>
                              <a:latin typeface="Cambria Math" panose="02040503050406030204" pitchFamily="18" charset="0"/>
                            </a:rPr>
                          </m:ctrlPr>
                        </m:sSupPr>
                        <m:e>
                          <m:r>
                            <a:rPr>
                              <a:latin typeface="Cambria Math" panose="02040503050406030204" pitchFamily="18" charset="0"/>
                            </a:rPr>
                            <m:t>𝐴</m:t>
                          </m:r>
                        </m:e>
                        <m:sup>
                          <m:r>
                            <a:rPr>
                              <a:latin typeface="Cambria Math" panose="02040503050406030204" pitchFamily="18" charset="0"/>
                            </a:rPr>
                            <m:t>2</m:t>
                          </m:r>
                        </m:sup>
                      </m:sSup>
                    </m:oMath>
                  </m:oMathPara>
                </a14:m>
                <a:endParaRPr sz="2900"/>
              </a:p>
            </p:txBody>
          </p:sp>
        </mc:Choice>
        <mc:Fallback xmlns="">
          <p:sp>
            <p:nvSpPr>
              <p:cNvPr id="6" name="EQ_gap_8_7">
                <a:extLst>
                  <a:ext uri="{FF2B5EF4-FFF2-40B4-BE49-F238E27FC236}">
                    <a16:creationId xmlns:a16="http://schemas.microsoft.com/office/drawing/2014/main" id="{62B30C8C-6235-44A7-B6A0-C49A390D5EA5}"/>
                  </a:ext>
                </a:extLst>
              </p:cNvPr>
              <p:cNvSpPr>
                <a:spLocks noGrp="1" noRot="1" noChangeAspect="1" noMove="1" noResize="1" noEditPoints="1" noAdjustHandles="1" noChangeArrowheads="1" noChangeShapeType="1" noTextEdit="1"/>
              </p:cNvSpPr>
              <p:nvPr/>
            </p:nvSpPr>
            <p:spPr>
              <a:xfrm>
                <a:off x="685800" y="4429125"/>
                <a:ext cx="10763250" cy="762000"/>
              </a:xfrm>
              <a:prstGeom prst="rect">
                <a:avLst/>
              </a:prstGeom>
              <a:blipFill>
                <a:blip r:embed="rId5"/>
                <a:stretch>
                  <a:fillRect t="-5600"/>
                </a:stretch>
              </a:blipFill>
              <a:ln w="0">
                <a:noFill/>
              </a:ln>
            </p:spPr>
            <p:txBody>
              <a:bodyPr/>
              <a:lstStyle/>
              <a:p>
                <a:r>
                  <a:rPr lang="es-CO">
                    <a:noFill/>
                  </a:rPr>
                  <a:t> </a:t>
                </a:r>
              </a:p>
            </p:txBody>
          </p:sp>
        </mc:Fallback>
      </mc:AlternateContent>
    </p:spTree>
    <p:extLst>
      <p:ext uri="{BB962C8B-B14F-4D97-AF65-F5344CB8AC3E}">
        <p14:creationId xmlns:p14="http://schemas.microsoft.com/office/powerpoint/2010/main" val="490541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226412DC-2D97-4B5A-86DE-19C9FB08AB26}"/>
              </a:ext>
            </a:extLst>
          </p:cNvPr>
          <p:cNvSpPr>
            <a:spLocks noGrp="1"/>
          </p:cNvSpPr>
          <p:nvPr/>
        </p:nvSpPr>
        <p:spPr>
          <a:xfrm>
            <a:off x="609600" y="333375"/>
            <a:ext cx="10972800" cy="762000"/>
          </a:xfrm>
          <a:prstGeom prst="rect">
            <a:avLst/>
          </a:prstGeom>
          <a:noFill/>
          <a:ln w="0">
            <a:noFill/>
          </a:ln>
        </p:spPr>
        <p:txBody>
          <a:bodyPr>
            <a:noAutofit/>
          </a:bodyPr>
          <a:lstStyle/>
          <a:p>
            <a:pPr>
              <a:defRPr sz="3150" b="1">
                <a:solidFill>
                  <a:srgbClr val="172F42"/>
                </a:solidFill>
                <a:latin typeface="Arial"/>
                <a:ea typeface="Arial"/>
                <a:cs typeface="Arial"/>
              </a:defRPr>
            </a:pPr>
            <a:r>
              <a:rPr sz="3150" b="1">
                <a:solidFill>
                  <a:srgbClr val="172F42"/>
                </a:solidFill>
                <a:latin typeface="Arial"/>
                <a:ea typeface="Arial"/>
                <a:cs typeface="Arial"/>
              </a:rPr>
              <a:t>Los perfiles ajustados conservan diferencias por sexo</a:t>
            </a:r>
          </a:p>
        </p:txBody>
      </p:sp>
      <p:sp>
        <p:nvSpPr>
          <p:cNvPr id="3" name="Rectángulo 2">
            <a:extLst>
              <a:ext uri="{FF2B5EF4-FFF2-40B4-BE49-F238E27FC236}">
                <a16:creationId xmlns:a16="http://schemas.microsoft.com/office/drawing/2014/main" id="{894ABF4D-C36A-4D43-A65F-0ABE2A100118}"/>
              </a:ext>
            </a:extLst>
          </p:cNvPr>
          <p:cNvSpPr>
            <a:spLocks noGrp="1"/>
          </p:cNvSpPr>
          <p:nvPr/>
        </p:nvSpPr>
        <p:spPr>
          <a:xfrm>
            <a:off x="11144250" y="6343650"/>
            <a:ext cx="419100" cy="247650"/>
          </a:xfrm>
          <a:prstGeom prst="rect">
            <a:avLst/>
          </a:prstGeom>
          <a:noFill/>
          <a:ln w="0">
            <a:noFill/>
          </a:ln>
        </p:spPr>
        <p:txBody>
          <a:bodyPr>
            <a:noAutofit/>
          </a:bodyPr>
          <a:lstStyle/>
          <a:p>
            <a:pPr>
              <a:defRPr sz="1200" b="0">
                <a:solidFill>
                  <a:srgbClr val="526471"/>
                </a:solidFill>
                <a:latin typeface="Arial"/>
                <a:ea typeface="Arial"/>
                <a:cs typeface="Arial"/>
              </a:defRPr>
            </a:pPr>
            <a:r>
              <a:rPr sz="1200" b="0">
                <a:solidFill>
                  <a:srgbClr val="526471"/>
                </a:solidFill>
                <a:latin typeface="Arial"/>
                <a:ea typeface="Arial"/>
                <a:cs typeface="Arial"/>
              </a:rPr>
              <a:t>11</a:t>
            </a:r>
          </a:p>
        </p:txBody>
      </p:sp>
      <p:pic>
        <p:nvPicPr>
          <p:cNvPr id="7" name="Imagen 6">
            <a:extLst>
              <a:ext uri="{FF2B5EF4-FFF2-40B4-BE49-F238E27FC236}">
                <a16:creationId xmlns:a16="http://schemas.microsoft.com/office/drawing/2014/main" id="{20395A3F-80A0-AC66-E20C-0768835703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39376" y="941884"/>
            <a:ext cx="8513249" cy="5916116"/>
          </a:xfrm>
          <a:prstGeom prst="rect">
            <a:avLst/>
          </a:prstGeom>
        </p:spPr>
      </p:pic>
    </p:spTree>
    <p:extLst>
      <p:ext uri="{BB962C8B-B14F-4D97-AF65-F5344CB8AC3E}">
        <p14:creationId xmlns:p14="http://schemas.microsoft.com/office/powerpoint/2010/main" val="18089589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FDA66415-ED05-4C77-9D6A-9C100C42A2B1}"/>
              </a:ext>
            </a:extLst>
          </p:cNvPr>
          <p:cNvSpPr>
            <a:spLocks noGrp="1"/>
          </p:cNvSpPr>
          <p:nvPr/>
        </p:nvSpPr>
        <p:spPr>
          <a:xfrm>
            <a:off x="609600" y="333375"/>
            <a:ext cx="10972800" cy="762000"/>
          </a:xfrm>
          <a:prstGeom prst="rect">
            <a:avLst/>
          </a:prstGeom>
          <a:noFill/>
          <a:ln w="0">
            <a:noFill/>
          </a:ln>
        </p:spPr>
        <p:txBody>
          <a:bodyPr>
            <a:noAutofit/>
          </a:bodyPr>
          <a:lstStyle/>
          <a:p>
            <a:pPr>
              <a:defRPr sz="3150" b="1">
                <a:solidFill>
                  <a:srgbClr val="172F42"/>
                </a:solidFill>
                <a:latin typeface="Arial"/>
                <a:ea typeface="Arial"/>
                <a:cs typeface="Arial"/>
              </a:defRPr>
            </a:pPr>
            <a:r>
              <a:rPr sz="3150" b="1">
                <a:solidFill>
                  <a:srgbClr val="172F42"/>
                </a:solidFill>
                <a:latin typeface="Arial"/>
                <a:ea typeface="Arial"/>
                <a:cs typeface="Arial"/>
              </a:rPr>
              <a:t>Los picos S5 tienen intervalos de incertidumbre</a:t>
            </a:r>
          </a:p>
        </p:txBody>
      </p:sp>
      <p:sp>
        <p:nvSpPr>
          <p:cNvPr id="2" name="Rectángulo 1">
            <a:extLst>
              <a:ext uri="{FF2B5EF4-FFF2-40B4-BE49-F238E27FC236}">
                <a16:creationId xmlns:a16="http://schemas.microsoft.com/office/drawing/2014/main" id="{5A8D58E0-7B55-4B3D-95A0-A4D5328DA20B}"/>
              </a:ext>
            </a:extLst>
          </p:cNvPr>
          <p:cNvSpPr>
            <a:spLocks noGrp="1"/>
          </p:cNvSpPr>
          <p:nvPr/>
        </p:nvSpPr>
        <p:spPr>
          <a:xfrm>
            <a:off x="609600" y="6210300"/>
            <a:ext cx="10287000" cy="457200"/>
          </a:xfrm>
          <a:prstGeom prst="rect">
            <a:avLst/>
          </a:prstGeom>
          <a:noFill/>
          <a:ln w="0">
            <a:noFill/>
          </a:ln>
        </p:spPr>
        <p:txBody>
          <a:bodyPr>
            <a:noAutofit/>
          </a:bodyPr>
          <a:lstStyle/>
          <a:p>
            <a:pPr>
              <a:defRPr sz="1125" b="0">
                <a:solidFill>
                  <a:srgbClr val="526471"/>
                </a:solidFill>
                <a:latin typeface="Arial"/>
                <a:ea typeface="Arial"/>
                <a:cs typeface="Arial"/>
              </a:defRPr>
            </a:pPr>
            <a:r>
              <a:rPr sz="1125" b="0">
                <a:solidFill>
                  <a:srgbClr val="526471"/>
                </a:solidFill>
                <a:latin typeface="Arial"/>
                <a:ea typeface="Arial"/>
                <a:cs typeface="Arial"/>
              </a:rPr>
              <a:t>n = 14.763. Población representada ≈ 3.686.406 personas. Fuente: GEIH 2018, Bogotá.</a:t>
            </a:r>
          </a:p>
        </p:txBody>
      </p:sp>
      <p:sp>
        <p:nvSpPr>
          <p:cNvPr id="3" name="Rectángulo 2">
            <a:extLst>
              <a:ext uri="{FF2B5EF4-FFF2-40B4-BE49-F238E27FC236}">
                <a16:creationId xmlns:a16="http://schemas.microsoft.com/office/drawing/2014/main" id="{E7F3709A-7D9D-4388-ABC0-647F8207CDAB}"/>
              </a:ext>
            </a:extLst>
          </p:cNvPr>
          <p:cNvSpPr>
            <a:spLocks noGrp="1"/>
          </p:cNvSpPr>
          <p:nvPr/>
        </p:nvSpPr>
        <p:spPr>
          <a:xfrm>
            <a:off x="11144250" y="6343650"/>
            <a:ext cx="419100" cy="247650"/>
          </a:xfrm>
          <a:prstGeom prst="rect">
            <a:avLst/>
          </a:prstGeom>
          <a:noFill/>
          <a:ln w="0">
            <a:noFill/>
          </a:ln>
        </p:spPr>
        <p:txBody>
          <a:bodyPr>
            <a:noAutofit/>
          </a:bodyPr>
          <a:lstStyle/>
          <a:p>
            <a:pPr>
              <a:defRPr sz="1200" b="0">
                <a:solidFill>
                  <a:srgbClr val="526471"/>
                </a:solidFill>
                <a:latin typeface="Arial"/>
                <a:ea typeface="Arial"/>
                <a:cs typeface="Arial"/>
              </a:defRPr>
            </a:pPr>
            <a:r>
              <a:rPr sz="1200" b="0">
                <a:solidFill>
                  <a:srgbClr val="526471"/>
                </a:solidFill>
                <a:latin typeface="Arial"/>
                <a:ea typeface="Arial"/>
                <a:cs typeface="Arial"/>
              </a:rPr>
              <a:t>12</a:t>
            </a:r>
          </a:p>
        </p:txBody>
      </p:sp>
      <p:graphicFrame>
        <p:nvGraphicFramePr>
          <p:cNvPr id="9" name="Tabla 8"/>
          <p:cNvGraphicFramePr/>
          <p:nvPr/>
        </p:nvGraphicFramePr>
        <p:xfrm>
          <a:off x="609600" y="1714500"/>
          <a:ext cx="10972800" cy="2095500"/>
        </p:xfrm>
        <a:graphic>
          <a:graphicData uri="http://schemas.openxmlformats.org/drawingml/2006/table">
            <a:tbl>
              <a:tblPr/>
              <a:tblGrid>
                <a:gridCol w="2095500">
                  <a:extLst>
                    <a:ext uri="{9D8B030D-6E8A-4147-A177-3AD203B41FA5}">
                      <a16:colId xmlns:a16="http://schemas.microsoft.com/office/drawing/2014/main" val="20000"/>
                    </a:ext>
                  </a:extLst>
                </a:gridCol>
                <a:gridCol w="1714500">
                  <a:extLst>
                    <a:ext uri="{9D8B030D-6E8A-4147-A177-3AD203B41FA5}">
                      <a16:colId xmlns:a16="http://schemas.microsoft.com/office/drawing/2014/main" val="20001"/>
                    </a:ext>
                  </a:extLst>
                </a:gridCol>
                <a:gridCol w="2952750">
                  <a:extLst>
                    <a:ext uri="{9D8B030D-6E8A-4147-A177-3AD203B41FA5}">
                      <a16:colId xmlns:a16="http://schemas.microsoft.com/office/drawing/2014/main" val="20002"/>
                    </a:ext>
                  </a:extLst>
                </a:gridCol>
                <a:gridCol w="2190750">
                  <a:extLst>
                    <a:ext uri="{9D8B030D-6E8A-4147-A177-3AD203B41FA5}">
                      <a16:colId xmlns:a16="http://schemas.microsoft.com/office/drawing/2014/main" val="20003"/>
                    </a:ext>
                  </a:extLst>
                </a:gridCol>
                <a:gridCol w="2019300">
                  <a:extLst>
                    <a:ext uri="{9D8B030D-6E8A-4147-A177-3AD203B41FA5}">
                      <a16:colId xmlns:a16="http://schemas.microsoft.com/office/drawing/2014/main" val="20004"/>
                    </a:ext>
                  </a:extLst>
                </a:gridCol>
              </a:tblGrid>
              <a:tr h="698500">
                <a:tc>
                  <a:txBody>
                    <a:bodyPr/>
                    <a:lstStyle/>
                    <a:p>
                      <a:r>
                        <a:rPr sz="1875" b="0">
                          <a:solidFill>
                            <a:srgbClr val="172F42"/>
                          </a:solidFill>
                          <a:latin typeface="Arial"/>
                          <a:ea typeface="Arial"/>
                          <a:cs typeface="Arial"/>
                        </a:rPr>
                        <a:t>Sexo</a:t>
                      </a:r>
                    </a:p>
                  </a:txBody>
                  <a:tcPr marL="95250" marR="95250" marT="57150" marB="57150">
                    <a:solidFill>
                      <a:srgbClr val="EDF3F7"/>
                    </a:solidFill>
                  </a:tcPr>
                </a:tc>
                <a:tc>
                  <a:txBody>
                    <a:bodyPr/>
                    <a:lstStyle/>
                    <a:p>
                      <a:r>
                        <a:rPr sz="1875" b="0">
                          <a:solidFill>
                            <a:srgbClr val="172F42"/>
                          </a:solidFill>
                          <a:latin typeface="Arial"/>
                          <a:ea typeface="Arial"/>
                          <a:cs typeface="Arial"/>
                        </a:rPr>
                        <a:t>Pico (años)</a:t>
                      </a:r>
                    </a:p>
                  </a:txBody>
                  <a:tcPr marL="95250" marR="95250" marT="57150" marB="57150">
                    <a:solidFill>
                      <a:srgbClr val="EDF3F7"/>
                    </a:solidFill>
                  </a:tcPr>
                </a:tc>
                <a:tc>
                  <a:txBody>
                    <a:bodyPr/>
                    <a:lstStyle/>
                    <a:p>
                      <a:r>
                        <a:rPr sz="1875" b="0">
                          <a:solidFill>
                            <a:srgbClr val="172F42"/>
                          </a:solidFill>
                          <a:latin typeface="Arial"/>
                          <a:ea typeface="Arial"/>
                          <a:cs typeface="Arial"/>
                        </a:rPr>
                        <a:t>IC 95% percentil</a:t>
                      </a:r>
                    </a:p>
                  </a:txBody>
                  <a:tcPr marL="95250" marR="95250" marT="57150" marB="57150">
                    <a:solidFill>
                      <a:srgbClr val="EDF3F7"/>
                    </a:solidFill>
                  </a:tcPr>
                </a:tc>
                <a:tc>
                  <a:txBody>
                    <a:bodyPr/>
                    <a:lstStyle/>
                    <a:p>
                      <a:r>
                        <a:rPr sz="1875" b="0">
                          <a:solidFill>
                            <a:srgbClr val="172F42"/>
                          </a:solidFill>
                          <a:latin typeface="Arial"/>
                          <a:ea typeface="Arial"/>
                          <a:cs typeface="Arial"/>
                        </a:rPr>
                        <a:t>Media bootstrap</a:t>
                      </a:r>
                    </a:p>
                  </a:txBody>
                  <a:tcPr marL="95250" marR="95250" marT="57150" marB="57150">
                    <a:solidFill>
                      <a:srgbClr val="EDF3F7"/>
                    </a:solidFill>
                  </a:tcPr>
                </a:tc>
                <a:tc>
                  <a:txBody>
                    <a:bodyPr/>
                    <a:lstStyle/>
                    <a:p>
                      <a:r>
                        <a:rPr sz="1875" b="0">
                          <a:solidFill>
                            <a:srgbClr val="172F42"/>
                          </a:solidFill>
                          <a:latin typeface="Arial"/>
                          <a:ea typeface="Arial"/>
                          <a:cs typeface="Arial"/>
                        </a:rPr>
                        <a:t>Personas</a:t>
                      </a:r>
                    </a:p>
                  </a:txBody>
                  <a:tcPr marL="95250" marR="95250" marT="57150" marB="57150">
                    <a:solidFill>
                      <a:srgbClr val="EDF3F7"/>
                    </a:solidFill>
                  </a:tcPr>
                </a:tc>
                <a:extLst>
                  <a:ext uri="{0D108BD9-81ED-4DB2-BD59-A6C34878D82A}">
                    <a16:rowId xmlns:a16="http://schemas.microsoft.com/office/drawing/2014/main" val="10000"/>
                  </a:ext>
                </a:extLst>
              </a:tr>
              <a:tr h="698500">
                <a:tc>
                  <a:txBody>
                    <a:bodyPr/>
                    <a:lstStyle/>
                    <a:p>
                      <a:r>
                        <a:rPr sz="1875" b="0">
                          <a:solidFill>
                            <a:srgbClr val="172F42"/>
                          </a:solidFill>
                          <a:latin typeface="Arial"/>
                          <a:ea typeface="Arial"/>
                          <a:cs typeface="Arial"/>
                        </a:rPr>
                        <a:t>Hombres</a:t>
                      </a:r>
                    </a:p>
                  </a:txBody>
                  <a:tcPr marL="95250" marR="95250" marT="57150" marB="57150">
                    <a:solidFill>
                      <a:srgbClr val="FFFFFF"/>
                    </a:solidFill>
                  </a:tcPr>
                </a:tc>
                <a:tc>
                  <a:txBody>
                    <a:bodyPr/>
                    <a:lstStyle/>
                    <a:p>
                      <a:r>
                        <a:rPr sz="1875" b="0">
                          <a:solidFill>
                            <a:srgbClr val="172F42"/>
                          </a:solidFill>
                          <a:latin typeface="Arial"/>
                          <a:ea typeface="Arial"/>
                          <a:cs typeface="Arial"/>
                        </a:rPr>
                        <a:t>49,87</a:t>
                      </a:r>
                    </a:p>
                  </a:txBody>
                  <a:tcPr marL="95250" marR="95250" marT="57150" marB="57150">
                    <a:solidFill>
                      <a:srgbClr val="FFFFFF"/>
                    </a:solidFill>
                  </a:tcPr>
                </a:tc>
                <a:tc>
                  <a:txBody>
                    <a:bodyPr/>
                    <a:lstStyle/>
                    <a:p>
                      <a:r>
                        <a:rPr sz="1875" b="0" dirty="0">
                          <a:solidFill>
                            <a:srgbClr val="172F42"/>
                          </a:solidFill>
                          <a:latin typeface="Arial"/>
                          <a:ea typeface="Arial"/>
                          <a:cs typeface="Arial"/>
                        </a:rPr>
                        <a:t>[48,27, 52,03]</a:t>
                      </a:r>
                    </a:p>
                  </a:txBody>
                  <a:tcPr marL="95250" marR="95250" marT="57150" marB="57150">
                    <a:solidFill>
                      <a:srgbClr val="FFFFFF"/>
                    </a:solidFill>
                  </a:tcPr>
                </a:tc>
                <a:tc>
                  <a:txBody>
                    <a:bodyPr/>
                    <a:lstStyle/>
                    <a:p>
                      <a:r>
                        <a:rPr sz="1875" b="0">
                          <a:solidFill>
                            <a:srgbClr val="172F42"/>
                          </a:solidFill>
                          <a:latin typeface="Arial"/>
                          <a:ea typeface="Arial"/>
                          <a:cs typeface="Arial"/>
                        </a:rPr>
                        <a:t>49,98</a:t>
                      </a:r>
                    </a:p>
                  </a:txBody>
                  <a:tcPr marL="95250" marR="95250" marT="57150" marB="57150">
                    <a:solidFill>
                      <a:srgbClr val="FFFFFF"/>
                    </a:solidFill>
                  </a:tcPr>
                </a:tc>
                <a:tc>
                  <a:txBody>
                    <a:bodyPr/>
                    <a:lstStyle/>
                    <a:p>
                      <a:r>
                        <a:rPr sz="1875" b="0">
                          <a:solidFill>
                            <a:srgbClr val="172F42"/>
                          </a:solidFill>
                          <a:latin typeface="Arial"/>
                          <a:ea typeface="Arial"/>
                          <a:cs typeface="Arial"/>
                        </a:rPr>
                        <a:t>1.957.870</a:t>
                      </a:r>
                    </a:p>
                  </a:txBody>
                  <a:tcPr marL="95250" marR="95250" marT="57150" marB="57150">
                    <a:solidFill>
                      <a:srgbClr val="FFFFFF"/>
                    </a:solidFill>
                  </a:tcPr>
                </a:tc>
                <a:extLst>
                  <a:ext uri="{0D108BD9-81ED-4DB2-BD59-A6C34878D82A}">
                    <a16:rowId xmlns:a16="http://schemas.microsoft.com/office/drawing/2014/main" val="10001"/>
                  </a:ext>
                </a:extLst>
              </a:tr>
              <a:tr h="698500">
                <a:tc>
                  <a:txBody>
                    <a:bodyPr/>
                    <a:lstStyle/>
                    <a:p>
                      <a:r>
                        <a:rPr sz="1875" b="0">
                          <a:solidFill>
                            <a:srgbClr val="172F42"/>
                          </a:solidFill>
                          <a:latin typeface="Arial"/>
                          <a:ea typeface="Arial"/>
                          <a:cs typeface="Arial"/>
                        </a:rPr>
                        <a:t>Mujeres</a:t>
                      </a:r>
                    </a:p>
                  </a:txBody>
                  <a:tcPr marL="95250" marR="95250" marT="57150" marB="57150">
                    <a:solidFill>
                      <a:srgbClr val="FFFFFF"/>
                    </a:solidFill>
                  </a:tcPr>
                </a:tc>
                <a:tc>
                  <a:txBody>
                    <a:bodyPr/>
                    <a:lstStyle/>
                    <a:p>
                      <a:r>
                        <a:rPr sz="1875" b="0">
                          <a:solidFill>
                            <a:srgbClr val="172F42"/>
                          </a:solidFill>
                          <a:latin typeface="Arial"/>
                          <a:ea typeface="Arial"/>
                          <a:cs typeface="Arial"/>
                        </a:rPr>
                        <a:t>46,05</a:t>
                      </a:r>
                    </a:p>
                  </a:txBody>
                  <a:tcPr marL="95250" marR="95250" marT="57150" marB="57150">
                    <a:solidFill>
                      <a:srgbClr val="FFFFFF"/>
                    </a:solidFill>
                  </a:tcPr>
                </a:tc>
                <a:tc>
                  <a:txBody>
                    <a:bodyPr/>
                    <a:lstStyle/>
                    <a:p>
                      <a:r>
                        <a:rPr sz="1875" b="0">
                          <a:solidFill>
                            <a:srgbClr val="172F42"/>
                          </a:solidFill>
                          <a:latin typeface="Arial"/>
                          <a:ea typeface="Arial"/>
                          <a:cs typeface="Arial"/>
                        </a:rPr>
                        <a:t>[44,55, 48,02]</a:t>
                      </a:r>
                    </a:p>
                  </a:txBody>
                  <a:tcPr marL="95250" marR="95250" marT="57150" marB="57150">
                    <a:solidFill>
                      <a:srgbClr val="FFFFFF"/>
                    </a:solidFill>
                  </a:tcPr>
                </a:tc>
                <a:tc>
                  <a:txBody>
                    <a:bodyPr/>
                    <a:lstStyle/>
                    <a:p>
                      <a:r>
                        <a:rPr sz="1875" b="0">
                          <a:solidFill>
                            <a:srgbClr val="172F42"/>
                          </a:solidFill>
                          <a:latin typeface="Arial"/>
                          <a:ea typeface="Arial"/>
                          <a:cs typeface="Arial"/>
                        </a:rPr>
                        <a:t>46,11</a:t>
                      </a:r>
                    </a:p>
                  </a:txBody>
                  <a:tcPr marL="95250" marR="95250" marT="57150" marB="57150">
                    <a:solidFill>
                      <a:srgbClr val="FFFFFF"/>
                    </a:solidFill>
                  </a:tcPr>
                </a:tc>
                <a:tc>
                  <a:txBody>
                    <a:bodyPr/>
                    <a:lstStyle/>
                    <a:p>
                      <a:r>
                        <a:rPr sz="1875" b="0" dirty="0">
                          <a:solidFill>
                            <a:srgbClr val="172F42"/>
                          </a:solidFill>
                          <a:latin typeface="Arial"/>
                          <a:ea typeface="Arial"/>
                          <a:cs typeface="Arial"/>
                        </a:rPr>
                        <a:t>1.728.536</a:t>
                      </a:r>
                    </a:p>
                  </a:txBody>
                  <a:tcPr marL="95250" marR="95250" marT="57150" marB="57150">
                    <a:solidFill>
                      <a:srgbClr val="FFFFFF"/>
                    </a:solidFill>
                  </a:tcPr>
                </a:tc>
                <a:extLst>
                  <a:ext uri="{0D108BD9-81ED-4DB2-BD59-A6C34878D82A}">
                    <a16:rowId xmlns:a16="http://schemas.microsoft.com/office/drawing/2014/main" val="10002"/>
                  </a:ext>
                </a:extLst>
              </a:tr>
            </a:tbl>
          </a:graphicData>
        </a:graphic>
      </p:graphicFrame>
      <p:sp>
        <p:nvSpPr>
          <p:cNvPr id="5" name="Rectángulo 4">
            <a:extLst>
              <a:ext uri="{FF2B5EF4-FFF2-40B4-BE49-F238E27FC236}">
                <a16:creationId xmlns:a16="http://schemas.microsoft.com/office/drawing/2014/main" id="{7B3D91CF-DB7B-4CFD-8138-337B1868A741}"/>
              </a:ext>
            </a:extLst>
          </p:cNvPr>
          <p:cNvSpPr>
            <a:spLocks noGrp="1"/>
          </p:cNvSpPr>
          <p:nvPr/>
        </p:nvSpPr>
        <p:spPr>
          <a:xfrm>
            <a:off x="685800" y="4333875"/>
            <a:ext cx="10763250" cy="1000125"/>
          </a:xfrm>
          <a:prstGeom prst="rect">
            <a:avLst/>
          </a:prstGeom>
          <a:noFill/>
          <a:ln w="0">
            <a:noFill/>
          </a:ln>
        </p:spPr>
        <p:txBody>
          <a:bodyPr>
            <a:noAutofit/>
          </a:bodyPr>
          <a:lstStyle/>
          <a:p>
            <a:pPr>
              <a:defRPr sz="2100" b="0">
                <a:solidFill>
                  <a:srgbClr val="172F42"/>
                </a:solidFill>
                <a:latin typeface="Arial"/>
                <a:ea typeface="Arial"/>
                <a:cs typeface="Arial"/>
              </a:defRPr>
            </a:pPr>
            <a:r>
              <a:rPr sz="2100" b="0">
                <a:solidFill>
                  <a:srgbClr val="172F42"/>
                </a:solidFill>
                <a:latin typeface="Arial"/>
                <a:ea typeface="Arial"/>
                <a:cs typeface="Arial"/>
              </a:rPr>
              <a:t>El modelo ajusta ambos sexos conjuntamente. Los factores representan 1.957.870 hombres y 1.728.536 mujeres.</a:t>
            </a:r>
          </a:p>
        </p:txBody>
      </p:sp>
    </p:spTree>
    <p:extLst>
      <p:ext uri="{BB962C8B-B14F-4D97-AF65-F5344CB8AC3E}">
        <p14:creationId xmlns:p14="http://schemas.microsoft.com/office/powerpoint/2010/main" val="16554480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703B04E1-964D-4925-9ECB-465DD3802FEB}"/>
              </a:ext>
            </a:extLst>
          </p:cNvPr>
          <p:cNvSpPr>
            <a:spLocks noGrp="1"/>
          </p:cNvSpPr>
          <p:nvPr/>
        </p:nvSpPr>
        <p:spPr>
          <a:xfrm>
            <a:off x="609600" y="333375"/>
            <a:ext cx="10972800" cy="762000"/>
          </a:xfrm>
          <a:prstGeom prst="rect">
            <a:avLst/>
          </a:prstGeom>
          <a:noFill/>
          <a:ln w="0">
            <a:noFill/>
          </a:ln>
        </p:spPr>
        <p:txBody>
          <a:bodyPr>
            <a:noAutofit/>
          </a:bodyPr>
          <a:lstStyle/>
          <a:p>
            <a:pPr>
              <a:defRPr sz="3150" b="1">
                <a:solidFill>
                  <a:srgbClr val="172F42"/>
                </a:solidFill>
                <a:latin typeface="Arial"/>
                <a:ea typeface="Arial"/>
                <a:cs typeface="Arial"/>
              </a:defRPr>
            </a:pPr>
            <a:r>
              <a:rPr sz="3150" b="1">
                <a:solidFill>
                  <a:srgbClr val="172F42"/>
                </a:solidFill>
                <a:latin typeface="Arial"/>
                <a:ea typeface="Arial"/>
                <a:cs typeface="Arial"/>
              </a:rPr>
              <a:t>La brecha resume desigualdades, no una causa única</a:t>
            </a:r>
          </a:p>
        </p:txBody>
      </p:sp>
      <p:sp>
        <p:nvSpPr>
          <p:cNvPr id="2" name="Rectángulo 1">
            <a:extLst>
              <a:ext uri="{FF2B5EF4-FFF2-40B4-BE49-F238E27FC236}">
                <a16:creationId xmlns:a16="http://schemas.microsoft.com/office/drawing/2014/main" id="{10D208EC-000A-43C7-9A5A-C70334E3EA18}"/>
              </a:ext>
            </a:extLst>
          </p:cNvPr>
          <p:cNvSpPr>
            <a:spLocks noGrp="1"/>
          </p:cNvSpPr>
          <p:nvPr/>
        </p:nvSpPr>
        <p:spPr>
          <a:xfrm>
            <a:off x="609600" y="6210300"/>
            <a:ext cx="10287000" cy="457200"/>
          </a:xfrm>
          <a:prstGeom prst="rect">
            <a:avLst/>
          </a:prstGeom>
          <a:noFill/>
          <a:ln w="0">
            <a:noFill/>
          </a:ln>
        </p:spPr>
        <p:txBody>
          <a:bodyPr>
            <a:noAutofit/>
          </a:bodyPr>
          <a:lstStyle/>
          <a:p>
            <a:pPr>
              <a:defRPr sz="1125" b="0">
                <a:solidFill>
                  <a:srgbClr val="526471"/>
                </a:solidFill>
                <a:latin typeface="Arial"/>
                <a:ea typeface="Arial"/>
                <a:cs typeface="Arial"/>
              </a:defRPr>
            </a:pPr>
            <a:r>
              <a:rPr sz="1125" b="0">
                <a:solidFill>
                  <a:srgbClr val="526471"/>
                </a:solidFill>
                <a:latin typeface="Arial"/>
                <a:ea typeface="Arial"/>
                <a:cs typeface="Arial"/>
              </a:rPr>
              <a:t>n = 14.763. Población representada ≈ 3.686.406 personas. Fuente: GEIH 2018, Bogotá.</a:t>
            </a:r>
          </a:p>
        </p:txBody>
      </p:sp>
      <p:sp>
        <p:nvSpPr>
          <p:cNvPr id="3" name="Rectángulo 2">
            <a:extLst>
              <a:ext uri="{FF2B5EF4-FFF2-40B4-BE49-F238E27FC236}">
                <a16:creationId xmlns:a16="http://schemas.microsoft.com/office/drawing/2014/main" id="{5106CB11-018F-451E-ABAF-834B1392970A}"/>
              </a:ext>
            </a:extLst>
          </p:cNvPr>
          <p:cNvSpPr>
            <a:spLocks noGrp="1"/>
          </p:cNvSpPr>
          <p:nvPr/>
        </p:nvSpPr>
        <p:spPr>
          <a:xfrm>
            <a:off x="11144250" y="6343650"/>
            <a:ext cx="419100" cy="247650"/>
          </a:xfrm>
          <a:prstGeom prst="rect">
            <a:avLst/>
          </a:prstGeom>
          <a:noFill/>
          <a:ln w="0">
            <a:noFill/>
          </a:ln>
        </p:spPr>
        <p:txBody>
          <a:bodyPr>
            <a:noAutofit/>
          </a:bodyPr>
          <a:lstStyle/>
          <a:p>
            <a:pPr>
              <a:defRPr sz="1200" b="0">
                <a:solidFill>
                  <a:srgbClr val="526471"/>
                </a:solidFill>
                <a:latin typeface="Arial"/>
                <a:ea typeface="Arial"/>
                <a:cs typeface="Arial"/>
              </a:defRPr>
            </a:pPr>
            <a:r>
              <a:rPr sz="1200" b="0">
                <a:solidFill>
                  <a:srgbClr val="526471"/>
                </a:solidFill>
                <a:latin typeface="Arial"/>
                <a:ea typeface="Arial"/>
                <a:cs typeface="Arial"/>
              </a:rPr>
              <a:t>13</a:t>
            </a:r>
          </a:p>
        </p:txBody>
      </p:sp>
      <p:sp>
        <p:nvSpPr>
          <p:cNvPr id="4" name="Rectángulo 3">
            <a:extLst>
              <a:ext uri="{FF2B5EF4-FFF2-40B4-BE49-F238E27FC236}">
                <a16:creationId xmlns:a16="http://schemas.microsoft.com/office/drawing/2014/main" id="{D4EC5A61-0A3A-43C3-BFC0-063368B15ADA}"/>
              </a:ext>
            </a:extLst>
          </p:cNvPr>
          <p:cNvSpPr>
            <a:spLocks noGrp="1"/>
          </p:cNvSpPr>
          <p:nvPr/>
        </p:nvSpPr>
        <p:spPr>
          <a:xfrm>
            <a:off x="685800" y="1619250"/>
            <a:ext cx="10763250" cy="3762375"/>
          </a:xfrm>
          <a:prstGeom prst="rect">
            <a:avLst/>
          </a:prstGeom>
          <a:noFill/>
          <a:ln w="0">
            <a:noFill/>
          </a:ln>
        </p:spPr>
        <p:txBody>
          <a:bodyPr>
            <a:noAutofit/>
          </a:bodyPr>
          <a:lstStyle/>
          <a:p>
            <a:pPr>
              <a:defRPr sz="2025" b="0">
                <a:solidFill>
                  <a:srgbClr val="172F42"/>
                </a:solidFill>
                <a:latin typeface="Arial"/>
                <a:ea typeface="Arial"/>
                <a:cs typeface="Arial"/>
              </a:defRPr>
            </a:pPr>
            <a:r>
              <a:rPr sz="2025" b="0" dirty="0" err="1">
                <a:solidFill>
                  <a:srgbClr val="172F42"/>
                </a:solidFill>
                <a:latin typeface="Arial"/>
                <a:ea typeface="Arial"/>
                <a:cs typeface="Arial"/>
              </a:rPr>
              <a:t>Qué</a:t>
            </a:r>
            <a:r>
              <a:rPr sz="2025" b="0" dirty="0">
                <a:solidFill>
                  <a:srgbClr val="172F42"/>
                </a:solidFill>
                <a:latin typeface="Arial"/>
                <a:ea typeface="Arial"/>
                <a:cs typeface="Arial"/>
              </a:rPr>
              <a:t> </a:t>
            </a:r>
            <a:r>
              <a:rPr sz="2025" b="0" dirty="0" err="1">
                <a:solidFill>
                  <a:srgbClr val="172F42"/>
                </a:solidFill>
                <a:latin typeface="Arial"/>
                <a:ea typeface="Arial"/>
                <a:cs typeface="Arial"/>
              </a:rPr>
              <a:t>aprendimos</a:t>
            </a:r>
            <a:endParaRPr sz="2025" b="0" dirty="0">
              <a:solidFill>
                <a:srgbClr val="172F42"/>
              </a:solidFill>
              <a:latin typeface="Arial"/>
              <a:ea typeface="Arial"/>
              <a:cs typeface="Arial"/>
            </a:endParaRPr>
          </a:p>
          <a:p>
            <a:endParaRPr sz="2025" b="0" dirty="0">
              <a:solidFill>
                <a:srgbClr val="172F42"/>
              </a:solidFill>
              <a:latin typeface="Arial"/>
              <a:ea typeface="Arial"/>
              <a:cs typeface="Arial"/>
            </a:endParaRPr>
          </a:p>
          <a:p>
            <a:pPr>
              <a:defRPr sz="2025" b="0">
                <a:solidFill>
                  <a:srgbClr val="172F42"/>
                </a:solidFill>
                <a:latin typeface="Arial"/>
                <a:ea typeface="Arial"/>
                <a:cs typeface="Arial"/>
              </a:defRPr>
            </a:pPr>
            <a:r>
              <a:rPr sz="2025" b="0" dirty="0">
                <a:solidFill>
                  <a:srgbClr val="172F42"/>
                </a:solidFill>
                <a:latin typeface="Arial"/>
                <a:ea typeface="Arial"/>
                <a:cs typeface="Arial"/>
              </a:rPr>
              <a:t>La </a:t>
            </a:r>
            <a:r>
              <a:rPr sz="2025" b="0" dirty="0" err="1">
                <a:solidFill>
                  <a:srgbClr val="172F42"/>
                </a:solidFill>
                <a:latin typeface="Arial"/>
                <a:ea typeface="Arial"/>
                <a:cs typeface="Arial"/>
              </a:rPr>
              <a:t>brecha</a:t>
            </a:r>
            <a:r>
              <a:rPr sz="2025" b="0" dirty="0">
                <a:solidFill>
                  <a:srgbClr val="172F42"/>
                </a:solidFill>
                <a:latin typeface="Arial"/>
                <a:ea typeface="Arial"/>
                <a:cs typeface="Arial"/>
              </a:rPr>
              <a:t> </a:t>
            </a:r>
            <a:r>
              <a:rPr sz="2025" b="0" dirty="0" err="1">
                <a:solidFill>
                  <a:srgbClr val="172F42"/>
                </a:solidFill>
                <a:latin typeface="Arial"/>
                <a:ea typeface="Arial"/>
                <a:cs typeface="Arial"/>
              </a:rPr>
              <a:t>pasa</a:t>
            </a:r>
            <a:r>
              <a:rPr sz="2025" b="0" dirty="0">
                <a:solidFill>
                  <a:srgbClr val="172F42"/>
                </a:solidFill>
                <a:latin typeface="Arial"/>
                <a:ea typeface="Arial"/>
                <a:cs typeface="Arial"/>
              </a:rPr>
              <a:t> de −21,37% a −16,75% al </a:t>
            </a:r>
            <a:r>
              <a:rPr sz="2025" b="0" dirty="0" err="1">
                <a:solidFill>
                  <a:srgbClr val="172F42"/>
                </a:solidFill>
                <a:latin typeface="Arial"/>
                <a:ea typeface="Arial"/>
                <a:cs typeface="Arial"/>
              </a:rPr>
              <a:t>comparar</a:t>
            </a:r>
            <a:r>
              <a:rPr sz="2025" b="0" dirty="0">
                <a:solidFill>
                  <a:srgbClr val="172F42"/>
                </a:solidFill>
                <a:latin typeface="Arial"/>
                <a:ea typeface="Arial"/>
                <a:cs typeface="Arial"/>
              </a:rPr>
              <a:t> observables </a:t>
            </a:r>
            <a:r>
              <a:rPr sz="2025" b="0" dirty="0" err="1">
                <a:solidFill>
                  <a:srgbClr val="172F42"/>
                </a:solidFill>
                <a:latin typeface="Arial"/>
                <a:ea typeface="Arial"/>
                <a:cs typeface="Arial"/>
              </a:rPr>
              <a:t>comunes</a:t>
            </a:r>
            <a:r>
              <a:rPr sz="2025" b="0" dirty="0">
                <a:solidFill>
                  <a:srgbClr val="172F42"/>
                </a:solidFill>
                <a:latin typeface="Arial"/>
                <a:ea typeface="Arial"/>
                <a:cs typeface="Arial"/>
              </a:rPr>
              <a:t>.</a:t>
            </a:r>
          </a:p>
          <a:p>
            <a:endParaRPr sz="2025" b="0" dirty="0">
              <a:solidFill>
                <a:srgbClr val="172F42"/>
              </a:solidFill>
              <a:latin typeface="Arial"/>
              <a:ea typeface="Arial"/>
              <a:cs typeface="Arial"/>
            </a:endParaRPr>
          </a:p>
          <a:p>
            <a:pPr>
              <a:defRPr sz="2025" b="0">
                <a:solidFill>
                  <a:srgbClr val="172F42"/>
                </a:solidFill>
                <a:latin typeface="Arial"/>
                <a:ea typeface="Arial"/>
                <a:cs typeface="Arial"/>
              </a:defRPr>
            </a:pPr>
            <a:r>
              <a:rPr sz="2025" b="0" dirty="0">
                <a:solidFill>
                  <a:srgbClr val="172F42"/>
                </a:solidFill>
                <a:latin typeface="Arial"/>
                <a:ea typeface="Arial"/>
                <a:cs typeface="Arial"/>
              </a:rPr>
              <a:t>La forma del </a:t>
            </a:r>
            <a:r>
              <a:rPr sz="2025" b="0" dirty="0" err="1">
                <a:solidFill>
                  <a:srgbClr val="172F42"/>
                </a:solidFill>
                <a:latin typeface="Arial"/>
                <a:ea typeface="Arial"/>
                <a:cs typeface="Arial"/>
              </a:rPr>
              <a:t>perfil</a:t>
            </a:r>
            <a:r>
              <a:rPr sz="2025" b="0" dirty="0">
                <a:solidFill>
                  <a:srgbClr val="172F42"/>
                </a:solidFill>
                <a:latin typeface="Arial"/>
                <a:ea typeface="Arial"/>
                <a:cs typeface="Arial"/>
              </a:rPr>
              <a:t> </a:t>
            </a:r>
            <a:r>
              <a:rPr sz="2025" b="0" dirty="0" err="1">
                <a:solidFill>
                  <a:srgbClr val="172F42"/>
                </a:solidFill>
                <a:latin typeface="Arial"/>
                <a:ea typeface="Arial"/>
                <a:cs typeface="Arial"/>
              </a:rPr>
              <a:t>varía</a:t>
            </a:r>
            <a:r>
              <a:rPr sz="2025" b="0" dirty="0">
                <a:solidFill>
                  <a:srgbClr val="172F42"/>
                </a:solidFill>
                <a:latin typeface="Arial"/>
                <a:ea typeface="Arial"/>
                <a:cs typeface="Arial"/>
              </a:rPr>
              <a:t> </a:t>
            </a:r>
            <a:r>
              <a:rPr sz="2025" b="0" dirty="0" err="1">
                <a:solidFill>
                  <a:srgbClr val="172F42"/>
                </a:solidFill>
                <a:latin typeface="Arial"/>
                <a:ea typeface="Arial"/>
                <a:cs typeface="Arial"/>
              </a:rPr>
              <a:t>por</a:t>
            </a:r>
            <a:r>
              <a:rPr sz="2025" b="0" dirty="0">
                <a:solidFill>
                  <a:srgbClr val="172F42"/>
                </a:solidFill>
                <a:latin typeface="Arial"/>
                <a:ea typeface="Arial"/>
                <a:cs typeface="Arial"/>
              </a:rPr>
              <a:t> </a:t>
            </a:r>
            <a:r>
              <a:rPr sz="2025" b="0" dirty="0" err="1">
                <a:solidFill>
                  <a:srgbClr val="172F42"/>
                </a:solidFill>
                <a:latin typeface="Arial"/>
                <a:ea typeface="Arial"/>
                <a:cs typeface="Arial"/>
              </a:rPr>
              <a:t>sexo</a:t>
            </a:r>
            <a:r>
              <a:rPr sz="2025" b="0" dirty="0">
                <a:solidFill>
                  <a:srgbClr val="172F42"/>
                </a:solidFill>
                <a:latin typeface="Arial"/>
                <a:ea typeface="Arial"/>
                <a:cs typeface="Arial"/>
              </a:rPr>
              <a:t> y </a:t>
            </a:r>
            <a:r>
              <a:rPr sz="2025" b="0" dirty="0" err="1">
                <a:solidFill>
                  <a:srgbClr val="172F42"/>
                </a:solidFill>
                <a:latin typeface="Arial"/>
                <a:ea typeface="Arial"/>
                <a:cs typeface="Arial"/>
              </a:rPr>
              <a:t>por</a:t>
            </a:r>
            <a:r>
              <a:rPr sz="2025" b="0" dirty="0">
                <a:solidFill>
                  <a:srgbClr val="172F42"/>
                </a:solidFill>
                <a:latin typeface="Arial"/>
                <a:ea typeface="Arial"/>
                <a:cs typeface="Arial"/>
              </a:rPr>
              <a:t> </a:t>
            </a:r>
            <a:r>
              <a:rPr sz="2025" b="0" dirty="0" err="1">
                <a:solidFill>
                  <a:srgbClr val="172F42"/>
                </a:solidFill>
                <a:latin typeface="Arial"/>
                <a:ea typeface="Arial"/>
                <a:cs typeface="Arial"/>
              </a:rPr>
              <a:t>especificación</a:t>
            </a:r>
            <a:r>
              <a:rPr sz="2025" b="0" dirty="0">
                <a:solidFill>
                  <a:srgbClr val="172F42"/>
                </a:solidFill>
                <a:latin typeface="Arial"/>
                <a:ea typeface="Arial"/>
                <a:cs typeface="Arial"/>
              </a:rPr>
              <a:t>.</a:t>
            </a:r>
            <a:endParaRPr lang="es-CO" sz="2025" b="0" dirty="0">
              <a:solidFill>
                <a:srgbClr val="172F42"/>
              </a:solidFill>
              <a:latin typeface="Arial"/>
              <a:ea typeface="Arial"/>
              <a:cs typeface="Arial"/>
            </a:endParaRPr>
          </a:p>
          <a:p>
            <a:pPr>
              <a:defRPr sz="2025" b="0">
                <a:solidFill>
                  <a:srgbClr val="172F42"/>
                </a:solidFill>
                <a:latin typeface="Arial"/>
                <a:ea typeface="Arial"/>
                <a:cs typeface="Arial"/>
              </a:defRPr>
            </a:pPr>
            <a:endParaRPr lang="es-CO" sz="2025" dirty="0">
              <a:solidFill>
                <a:srgbClr val="172F42"/>
              </a:solidFill>
              <a:latin typeface="Arial"/>
              <a:ea typeface="Arial"/>
              <a:cs typeface="Arial"/>
            </a:endParaRPr>
          </a:p>
          <a:p>
            <a:pPr>
              <a:defRPr sz="2025" b="0">
                <a:solidFill>
                  <a:srgbClr val="172F42"/>
                </a:solidFill>
                <a:latin typeface="Arial"/>
                <a:ea typeface="Arial"/>
                <a:cs typeface="Arial"/>
              </a:defRPr>
            </a:pPr>
            <a:r>
              <a:rPr lang="es-CO" sz="2025" b="0" dirty="0">
                <a:solidFill>
                  <a:srgbClr val="172F42"/>
                </a:solidFill>
                <a:latin typeface="Arial"/>
                <a:ea typeface="Arial"/>
                <a:cs typeface="Arial"/>
              </a:rPr>
              <a:t>Para la DIAN, el ingreso predicho en S5 es máximo en hombres cerca de los 49,9 años (IC 95% del pico: [48,27, 52,03]). Es un patrón descriptivo, no evidencia de subreporte individual.</a:t>
            </a:r>
          </a:p>
          <a:p>
            <a:pPr>
              <a:defRPr sz="2025" b="0">
                <a:solidFill>
                  <a:srgbClr val="172F42"/>
                </a:solidFill>
                <a:latin typeface="Arial"/>
                <a:ea typeface="Arial"/>
                <a:cs typeface="Arial"/>
              </a:defRPr>
            </a:pPr>
            <a:r>
              <a:rPr lang="es-CO" sz="2025" b="0" dirty="0">
                <a:solidFill>
                  <a:srgbClr val="172F42"/>
                </a:solidFill>
                <a:latin typeface="Arial"/>
                <a:ea typeface="Arial"/>
                <a:cs typeface="Arial"/>
              </a:rPr>
              <a:t> </a:t>
            </a:r>
            <a:endParaRPr sz="2025" b="0" dirty="0">
              <a:solidFill>
                <a:srgbClr val="172F42"/>
              </a:solidFill>
              <a:latin typeface="Arial"/>
              <a:ea typeface="Arial"/>
              <a:cs typeface="Arial"/>
            </a:endParaRPr>
          </a:p>
        </p:txBody>
      </p:sp>
    </p:spTree>
    <p:extLst>
      <p:ext uri="{BB962C8B-B14F-4D97-AF65-F5344CB8AC3E}">
        <p14:creationId xmlns:p14="http://schemas.microsoft.com/office/powerpoint/2010/main" val="8388015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EB19FFE4-E3EA-4917-A0CA-BC45BE7C414E}"/>
              </a:ext>
            </a:extLst>
          </p:cNvPr>
          <p:cNvSpPr>
            <a:spLocks noGrp="1"/>
          </p:cNvSpPr>
          <p:nvPr/>
        </p:nvSpPr>
        <p:spPr>
          <a:xfrm>
            <a:off x="609600" y="333375"/>
            <a:ext cx="10972800" cy="762000"/>
          </a:xfrm>
          <a:prstGeom prst="rect">
            <a:avLst/>
          </a:prstGeom>
          <a:noFill/>
          <a:ln w="0">
            <a:noFill/>
          </a:ln>
        </p:spPr>
        <p:txBody>
          <a:bodyPr>
            <a:noAutofit/>
          </a:bodyPr>
          <a:lstStyle/>
          <a:p>
            <a:pPr>
              <a:defRPr sz="3150" b="1">
                <a:solidFill>
                  <a:srgbClr val="172F42"/>
                </a:solidFill>
                <a:latin typeface="Arial"/>
                <a:ea typeface="Arial"/>
                <a:cs typeface="Arial"/>
              </a:defRPr>
            </a:pPr>
            <a:r>
              <a:rPr sz="3150" b="1">
                <a:solidFill>
                  <a:srgbClr val="172F42"/>
                </a:solidFill>
                <a:latin typeface="Arial"/>
                <a:ea typeface="Arial"/>
                <a:cs typeface="Arial"/>
              </a:rPr>
              <a:t>Anexo: brechas condicionales dentro de subgrupos</a:t>
            </a:r>
          </a:p>
        </p:txBody>
      </p:sp>
      <p:sp>
        <p:nvSpPr>
          <p:cNvPr id="2" name="Rectángulo 1">
            <a:extLst>
              <a:ext uri="{FF2B5EF4-FFF2-40B4-BE49-F238E27FC236}">
                <a16:creationId xmlns:a16="http://schemas.microsoft.com/office/drawing/2014/main" id="{332514DA-AFB3-4B06-9A17-E5298C2FC07C}"/>
              </a:ext>
            </a:extLst>
          </p:cNvPr>
          <p:cNvSpPr>
            <a:spLocks noGrp="1"/>
          </p:cNvSpPr>
          <p:nvPr/>
        </p:nvSpPr>
        <p:spPr>
          <a:xfrm>
            <a:off x="609600" y="6210300"/>
            <a:ext cx="10287000" cy="457200"/>
          </a:xfrm>
          <a:prstGeom prst="rect">
            <a:avLst/>
          </a:prstGeom>
          <a:noFill/>
          <a:ln w="0">
            <a:noFill/>
          </a:ln>
        </p:spPr>
        <p:txBody>
          <a:bodyPr>
            <a:noAutofit/>
          </a:bodyPr>
          <a:lstStyle/>
          <a:p>
            <a:pPr>
              <a:defRPr sz="1125" b="0">
                <a:solidFill>
                  <a:srgbClr val="526471"/>
                </a:solidFill>
                <a:latin typeface="Arial"/>
                <a:ea typeface="Arial"/>
                <a:cs typeface="Arial"/>
              </a:defRPr>
            </a:pPr>
            <a:r>
              <a:rPr sz="1125" b="0">
                <a:solidFill>
                  <a:srgbClr val="526471"/>
                </a:solidFill>
                <a:latin typeface="Arial"/>
                <a:ea typeface="Arial"/>
                <a:cs typeface="Arial"/>
              </a:rPr>
              <a:t>n = 14.763. Población representada ≈ 3.686.406 personas. Fuente: GEIH 2018, Bogotá.</a:t>
            </a:r>
          </a:p>
        </p:txBody>
      </p:sp>
      <p:sp>
        <p:nvSpPr>
          <p:cNvPr id="3" name="Rectángulo 2">
            <a:extLst>
              <a:ext uri="{FF2B5EF4-FFF2-40B4-BE49-F238E27FC236}">
                <a16:creationId xmlns:a16="http://schemas.microsoft.com/office/drawing/2014/main" id="{6951AF5F-3AAD-4BF1-9837-DC1D96704236}"/>
              </a:ext>
            </a:extLst>
          </p:cNvPr>
          <p:cNvSpPr>
            <a:spLocks noGrp="1"/>
          </p:cNvSpPr>
          <p:nvPr/>
        </p:nvSpPr>
        <p:spPr>
          <a:xfrm>
            <a:off x="11144250" y="6343650"/>
            <a:ext cx="419100" cy="247650"/>
          </a:xfrm>
          <a:prstGeom prst="rect">
            <a:avLst/>
          </a:prstGeom>
          <a:noFill/>
          <a:ln w="0">
            <a:noFill/>
          </a:ln>
        </p:spPr>
        <p:txBody>
          <a:bodyPr>
            <a:noAutofit/>
          </a:bodyPr>
          <a:lstStyle/>
          <a:p>
            <a:pPr>
              <a:defRPr sz="1200" b="0">
                <a:solidFill>
                  <a:srgbClr val="526471"/>
                </a:solidFill>
                <a:latin typeface="Arial"/>
                <a:ea typeface="Arial"/>
                <a:cs typeface="Arial"/>
              </a:defRPr>
            </a:pPr>
            <a:r>
              <a:rPr sz="1200" b="0">
                <a:solidFill>
                  <a:srgbClr val="526471"/>
                </a:solidFill>
                <a:latin typeface="Arial"/>
                <a:ea typeface="Arial"/>
                <a:cs typeface="Arial"/>
              </a:rPr>
              <a:t>14</a:t>
            </a:r>
          </a:p>
        </p:txBody>
      </p:sp>
      <mc:AlternateContent xmlns:mc="http://schemas.openxmlformats.org/markup-compatibility/2006" xmlns:a14="http://schemas.microsoft.com/office/drawing/2010/main">
        <mc:Choice Requires="a14">
          <p:sp>
            <p:nvSpPr>
              <p:cNvPr id="4" name="EQ_gap_13_8">
                <a:extLst>
                  <a:ext uri="{FF2B5EF4-FFF2-40B4-BE49-F238E27FC236}">
                    <a16:creationId xmlns:a16="http://schemas.microsoft.com/office/drawing/2014/main" id="{50399382-3FDB-48F4-B7A7-C7C49573F1B3}"/>
                  </a:ext>
                </a:extLst>
              </p:cNvPr>
              <p:cNvSpPr>
                <a:spLocks noGrp="1"/>
              </p:cNvSpPr>
              <p:nvPr/>
            </p:nvSpPr>
            <p:spPr>
              <a:xfrm>
                <a:off x="685800" y="1095375"/>
                <a:ext cx="10763250" cy="619125"/>
              </a:xfrm>
              <a:prstGeom prst="rect">
                <a:avLst/>
              </a:prstGeom>
              <a:noFill/>
              <a:ln w="0">
                <a:noFill/>
              </a:ln>
            </p:spPr>
            <p:txBody>
              <a:bodyPr/>
              <a:lstStyle/>
              <a:p>
                <a:pPr algn="l"/>
                <a14:m>
                  <m:oMathPara xmlns:m="http://schemas.openxmlformats.org/officeDocument/2006/math">
                    <m:oMath>
                      <m:sSub>
                        <m:sSubPr>
                          <m:ctrlPr>
                            <a:rPr>
                              <a:latin typeface="Cambria Math" panose="02040503050406030204" pitchFamily="18" charset="0"/>
                            </a:rPr>
                          </m:ctrlPr>
                        </m:sSubPr>
                        <m:e>
                          <m:r>
                            <a:rPr>
                              <a:latin typeface="Cambria Math" panose="02040503050406030204" pitchFamily="18" charset="0"/>
                            </a:rPr>
                            <m:t>𝑦</m:t>
                          </m:r>
                        </m:e>
                        <m:sub>
                          <m:r>
                            <a:rPr>
                              <a:latin typeface="Cambria Math" panose="02040503050406030204" pitchFamily="18" charset="0"/>
                            </a:rPr>
                            <m:t>𝑖</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𝛿</m:t>
                          </m:r>
                        </m:e>
                        <m:sub>
                          <m:r>
                            <a:rPr>
                              <a:latin typeface="Cambria Math" panose="02040503050406030204" pitchFamily="18" charset="0"/>
                            </a:rPr>
                            <m:t>𝑔</m:t>
                          </m:r>
                        </m:sub>
                      </m:sSub>
                      <m:sSub>
                        <m:sSubPr>
                          <m:ctrlPr>
                            <a:rPr>
                              <a:latin typeface="Cambria Math" panose="02040503050406030204" pitchFamily="18" charset="0"/>
                            </a:rPr>
                          </m:ctrlPr>
                        </m:sSubPr>
                        <m:e>
                          <m:r>
                            <a:rPr>
                              <a:latin typeface="Cambria Math" panose="02040503050406030204" pitchFamily="18" charset="0"/>
                            </a:rPr>
                            <m:t>𝐹</m:t>
                          </m:r>
                        </m:e>
                        <m:sub>
                          <m:r>
                            <a:rPr>
                              <a:latin typeface="Cambria Math" panose="02040503050406030204" pitchFamily="18" charset="0"/>
                            </a:rPr>
                            <m:t>𝑖</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𝑊</m:t>
                          </m:r>
                        </m:e>
                        <m:sub>
                          <m:r>
                            <a:rPr>
                              <a:latin typeface="Cambria Math" panose="02040503050406030204" pitchFamily="18" charset="0"/>
                            </a:rPr>
                            <m:t>𝑖</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𝛾</m:t>
                          </m:r>
                        </m:e>
                        <m:sub>
                          <m:r>
                            <a:rPr>
                              <a:latin typeface="Cambria Math" panose="02040503050406030204" pitchFamily="18" charset="0"/>
                            </a:rPr>
                            <m:t>𝑔</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𝑢</m:t>
                          </m:r>
                        </m:e>
                        <m:sub>
                          <m:r>
                            <a:rPr>
                              <a:latin typeface="Cambria Math" panose="02040503050406030204" pitchFamily="18" charset="0"/>
                            </a:rPr>
                            <m:t>𝑖</m:t>
                          </m:r>
                        </m:sub>
                      </m:sSub>
                      <m:r>
                        <a:rPr>
                          <a:latin typeface="Cambria Math" panose="02040503050406030204" pitchFamily="18" charset="0"/>
                        </a:rPr>
                        <m:t>,</m:t>
                      </m:r>
                      <m:r>
                        <m:rPr>
                          <m:nor/>
                        </m:rPr>
                        <a:rPr i="0"/>
                        <m:t> </m:t>
                      </m:r>
                      <m:r>
                        <a:rPr>
                          <a:latin typeface="Cambria Math" panose="02040503050406030204" pitchFamily="18" charset="0"/>
                        </a:rPr>
                        <m:t>𝑖</m:t>
                      </m:r>
                      <m:r>
                        <a:rPr>
                          <a:latin typeface="Cambria Math" panose="02040503050406030204" pitchFamily="18" charset="0"/>
                        </a:rPr>
                        <m:t>∈</m:t>
                      </m:r>
                      <m:r>
                        <a:rPr>
                          <a:latin typeface="Cambria Math" panose="02040503050406030204" pitchFamily="18" charset="0"/>
                        </a:rPr>
                        <m:t>𝑔</m:t>
                      </m:r>
                    </m:oMath>
                  </m:oMathPara>
                </a14:m>
                <a:endParaRPr sz="2500"/>
              </a:p>
            </p:txBody>
          </p:sp>
        </mc:Choice>
        <mc:Fallback xmlns="">
          <p:sp>
            <p:nvSpPr>
              <p:cNvPr id="4" name="EQ_gap_13_8">
                <a:extLst>
                  <a:ext uri="{FF2B5EF4-FFF2-40B4-BE49-F238E27FC236}">
                    <a16:creationId xmlns:a16="http://schemas.microsoft.com/office/drawing/2014/main" id="{50399382-3FDB-48F4-B7A7-C7C49573F1B3}"/>
                  </a:ext>
                </a:extLst>
              </p:cNvPr>
              <p:cNvSpPr>
                <a:spLocks noGrp="1" noRot="1" noChangeAspect="1" noMove="1" noResize="1" noEditPoints="1" noAdjustHandles="1" noChangeArrowheads="1" noChangeShapeType="1" noTextEdit="1"/>
              </p:cNvSpPr>
              <p:nvPr/>
            </p:nvSpPr>
            <p:spPr>
              <a:xfrm>
                <a:off x="685800" y="1095375"/>
                <a:ext cx="10763250" cy="619125"/>
              </a:xfrm>
              <a:prstGeom prst="rect">
                <a:avLst/>
              </a:prstGeom>
              <a:blipFill>
                <a:blip r:embed="rId3"/>
                <a:stretch>
                  <a:fillRect/>
                </a:stretch>
              </a:blipFill>
              <a:ln w="0">
                <a:noFill/>
              </a:ln>
            </p:spPr>
            <p:txBody>
              <a:bodyPr/>
              <a:lstStyle/>
              <a:p>
                <a:r>
                  <a:rPr lang="es-CO">
                    <a:noFill/>
                  </a:rPr>
                  <a:t> </a:t>
                </a:r>
              </a:p>
            </p:txBody>
          </p:sp>
        </mc:Fallback>
      </mc:AlternateContent>
      <p:graphicFrame>
        <p:nvGraphicFramePr>
          <p:cNvPr id="10" name="Tabla 9"/>
          <p:cNvGraphicFramePr/>
          <p:nvPr/>
        </p:nvGraphicFramePr>
        <p:xfrm>
          <a:off x="609600" y="2019300"/>
          <a:ext cx="10972800" cy="4000500"/>
        </p:xfrm>
        <a:graphic>
          <a:graphicData uri="http://schemas.openxmlformats.org/drawingml/2006/table">
            <a:tbl>
              <a:tblPr/>
              <a:tblGrid>
                <a:gridCol w="3524250">
                  <a:extLst>
                    <a:ext uri="{9D8B030D-6E8A-4147-A177-3AD203B41FA5}">
                      <a16:colId xmlns:a16="http://schemas.microsoft.com/office/drawing/2014/main" val="20000"/>
                    </a:ext>
                  </a:extLst>
                </a:gridCol>
                <a:gridCol w="2000250">
                  <a:extLst>
                    <a:ext uri="{9D8B030D-6E8A-4147-A177-3AD203B41FA5}">
                      <a16:colId xmlns:a16="http://schemas.microsoft.com/office/drawing/2014/main" val="20001"/>
                    </a:ext>
                  </a:extLst>
                </a:gridCol>
                <a:gridCol w="3143250">
                  <a:extLst>
                    <a:ext uri="{9D8B030D-6E8A-4147-A177-3AD203B41FA5}">
                      <a16:colId xmlns:a16="http://schemas.microsoft.com/office/drawing/2014/main" val="20002"/>
                    </a:ext>
                  </a:extLst>
                </a:gridCol>
                <a:gridCol w="2305050">
                  <a:extLst>
                    <a:ext uri="{9D8B030D-6E8A-4147-A177-3AD203B41FA5}">
                      <a16:colId xmlns:a16="http://schemas.microsoft.com/office/drawing/2014/main" val="20003"/>
                    </a:ext>
                  </a:extLst>
                </a:gridCol>
              </a:tblGrid>
              <a:tr h="400050">
                <a:tc>
                  <a:txBody>
                    <a:bodyPr/>
                    <a:lstStyle/>
                    <a:p>
                      <a:r>
                        <a:rPr sz="1650" b="0">
                          <a:solidFill>
                            <a:srgbClr val="172F42"/>
                          </a:solidFill>
                          <a:latin typeface="Arial"/>
                          <a:ea typeface="Arial"/>
                          <a:cs typeface="Arial"/>
                        </a:rPr>
                        <a:t>Subgrupo</a:t>
                      </a:r>
                    </a:p>
                  </a:txBody>
                  <a:tcPr marL="95250" marR="95250" marT="57150" marB="57150">
                    <a:solidFill>
                      <a:srgbClr val="EDF3F7"/>
                    </a:solidFill>
                  </a:tcPr>
                </a:tc>
                <a:tc>
                  <a:txBody>
                    <a:bodyPr/>
                    <a:lstStyle/>
                    <a:p>
                      <a:r>
                        <a:rPr sz="1650" b="0">
                          <a:solidFill>
                            <a:srgbClr val="172F42"/>
                          </a:solidFill>
                          <a:latin typeface="Arial"/>
                          <a:ea typeface="Arial"/>
                          <a:cs typeface="Arial"/>
                        </a:rPr>
                        <a:t>β de Female</a:t>
                      </a:r>
                    </a:p>
                  </a:txBody>
                  <a:tcPr marL="95250" marR="95250" marT="57150" marB="57150">
                    <a:solidFill>
                      <a:srgbClr val="EDF3F7"/>
                    </a:solidFill>
                  </a:tcPr>
                </a:tc>
                <a:tc>
                  <a:txBody>
                    <a:bodyPr/>
                    <a:lstStyle/>
                    <a:p>
                      <a:r>
                        <a:rPr sz="1650" b="0">
                          <a:solidFill>
                            <a:srgbClr val="172F42"/>
                          </a:solidFill>
                          <a:latin typeface="Arial"/>
                          <a:ea typeface="Arial"/>
                          <a:cs typeface="Arial"/>
                        </a:rPr>
                        <a:t>IC 95% HC1</a:t>
                      </a:r>
                    </a:p>
                  </a:txBody>
                  <a:tcPr marL="95250" marR="95250" marT="57150" marB="57150">
                    <a:solidFill>
                      <a:srgbClr val="EDF3F7"/>
                    </a:solidFill>
                  </a:tcPr>
                </a:tc>
                <a:tc>
                  <a:txBody>
                    <a:bodyPr/>
                    <a:lstStyle/>
                    <a:p>
                      <a:r>
                        <a:rPr sz="1650" b="0">
                          <a:solidFill>
                            <a:srgbClr val="172F42"/>
                          </a:solidFill>
                          <a:latin typeface="Arial"/>
                          <a:ea typeface="Arial"/>
                          <a:cs typeface="Arial"/>
                        </a:rPr>
                        <a:t>Personas</a:t>
                      </a:r>
                    </a:p>
                  </a:txBody>
                  <a:tcPr marL="95250" marR="95250" marT="57150" marB="57150">
                    <a:solidFill>
                      <a:srgbClr val="EDF3F7"/>
                    </a:solidFill>
                  </a:tcPr>
                </a:tc>
                <a:extLst>
                  <a:ext uri="{0D108BD9-81ED-4DB2-BD59-A6C34878D82A}">
                    <a16:rowId xmlns:a16="http://schemas.microsoft.com/office/drawing/2014/main" val="10000"/>
                  </a:ext>
                </a:extLst>
              </a:tr>
              <a:tr h="400050">
                <a:tc>
                  <a:txBody>
                    <a:bodyPr/>
                    <a:lstStyle/>
                    <a:p>
                      <a:r>
                        <a:rPr sz="1650" b="0">
                          <a:solidFill>
                            <a:srgbClr val="172F42"/>
                          </a:solidFill>
                          <a:latin typeface="Arial"/>
                          <a:ea typeface="Arial"/>
                          <a:cs typeface="Arial"/>
                        </a:rPr>
                        <a:t>Sin terciaria</a:t>
                      </a:r>
                    </a:p>
                  </a:txBody>
                  <a:tcPr marL="95250" marR="95250" marT="57150" marB="57150">
                    <a:solidFill>
                      <a:srgbClr val="FFFFFF"/>
                    </a:solidFill>
                  </a:tcPr>
                </a:tc>
                <a:tc>
                  <a:txBody>
                    <a:bodyPr/>
                    <a:lstStyle/>
                    <a:p>
                      <a:r>
                        <a:rPr sz="1650" b="0">
                          <a:solidFill>
                            <a:srgbClr val="172F42"/>
                          </a:solidFill>
                          <a:latin typeface="Arial"/>
                          <a:ea typeface="Arial"/>
                          <a:cs typeface="Arial"/>
                        </a:rPr>
                        <a:t>-0,228</a:t>
                      </a:r>
                    </a:p>
                  </a:txBody>
                  <a:tcPr marL="95250" marR="95250" marT="57150" marB="57150">
                    <a:solidFill>
                      <a:srgbClr val="FFFFFF"/>
                    </a:solidFill>
                  </a:tcPr>
                </a:tc>
                <a:tc>
                  <a:txBody>
                    <a:bodyPr/>
                    <a:lstStyle/>
                    <a:p>
                      <a:r>
                        <a:rPr sz="1650" b="0">
                          <a:solidFill>
                            <a:srgbClr val="172F42"/>
                          </a:solidFill>
                          <a:latin typeface="Arial"/>
                          <a:ea typeface="Arial"/>
                          <a:cs typeface="Arial"/>
                        </a:rPr>
                        <a:t>[-0,254, -0,202]</a:t>
                      </a:r>
                    </a:p>
                  </a:txBody>
                  <a:tcPr marL="95250" marR="95250" marT="57150" marB="57150">
                    <a:solidFill>
                      <a:srgbClr val="FFFFFF"/>
                    </a:solidFill>
                  </a:tcPr>
                </a:tc>
                <a:tc>
                  <a:txBody>
                    <a:bodyPr/>
                    <a:lstStyle/>
                    <a:p>
                      <a:r>
                        <a:rPr sz="1650" b="0">
                          <a:solidFill>
                            <a:srgbClr val="172F42"/>
                          </a:solidFill>
                          <a:latin typeface="Arial"/>
                          <a:ea typeface="Arial"/>
                          <a:cs typeface="Arial"/>
                        </a:rPr>
                        <a:t>2.183.349</a:t>
                      </a:r>
                    </a:p>
                  </a:txBody>
                  <a:tcPr marL="95250" marR="95250" marT="57150" marB="57150">
                    <a:solidFill>
                      <a:srgbClr val="FFFFFF"/>
                    </a:solidFill>
                  </a:tcPr>
                </a:tc>
                <a:extLst>
                  <a:ext uri="{0D108BD9-81ED-4DB2-BD59-A6C34878D82A}">
                    <a16:rowId xmlns:a16="http://schemas.microsoft.com/office/drawing/2014/main" val="10001"/>
                  </a:ext>
                </a:extLst>
              </a:tr>
              <a:tr h="400050">
                <a:tc>
                  <a:txBody>
                    <a:bodyPr/>
                    <a:lstStyle/>
                    <a:p>
                      <a:r>
                        <a:rPr sz="1650" b="0">
                          <a:solidFill>
                            <a:srgbClr val="172F42"/>
                          </a:solidFill>
                          <a:latin typeface="Arial"/>
                          <a:ea typeface="Arial"/>
                          <a:cs typeface="Arial"/>
                        </a:rPr>
                        <a:t>Con terciaria</a:t>
                      </a:r>
                    </a:p>
                  </a:txBody>
                  <a:tcPr marL="95250" marR="95250" marT="57150" marB="57150">
                    <a:solidFill>
                      <a:srgbClr val="FFFFFF"/>
                    </a:solidFill>
                  </a:tcPr>
                </a:tc>
                <a:tc>
                  <a:txBody>
                    <a:bodyPr/>
                    <a:lstStyle/>
                    <a:p>
                      <a:r>
                        <a:rPr sz="1650" b="0">
                          <a:solidFill>
                            <a:srgbClr val="172F42"/>
                          </a:solidFill>
                          <a:latin typeface="Arial"/>
                          <a:ea typeface="Arial"/>
                          <a:cs typeface="Arial"/>
                        </a:rPr>
                        <a:t>-0,121</a:t>
                      </a:r>
                    </a:p>
                  </a:txBody>
                  <a:tcPr marL="95250" marR="95250" marT="57150" marB="57150">
                    <a:solidFill>
                      <a:srgbClr val="FFFFFF"/>
                    </a:solidFill>
                  </a:tcPr>
                </a:tc>
                <a:tc>
                  <a:txBody>
                    <a:bodyPr/>
                    <a:lstStyle/>
                    <a:p>
                      <a:r>
                        <a:rPr sz="1650" b="0">
                          <a:solidFill>
                            <a:srgbClr val="172F42"/>
                          </a:solidFill>
                          <a:latin typeface="Arial"/>
                          <a:ea typeface="Arial"/>
                          <a:cs typeface="Arial"/>
                        </a:rPr>
                        <a:t>[-0,158, -0,084]</a:t>
                      </a:r>
                    </a:p>
                  </a:txBody>
                  <a:tcPr marL="95250" marR="95250" marT="57150" marB="57150">
                    <a:solidFill>
                      <a:srgbClr val="FFFFFF"/>
                    </a:solidFill>
                  </a:tcPr>
                </a:tc>
                <a:tc>
                  <a:txBody>
                    <a:bodyPr/>
                    <a:lstStyle/>
                    <a:p>
                      <a:r>
                        <a:rPr sz="1650" b="0">
                          <a:solidFill>
                            <a:srgbClr val="172F42"/>
                          </a:solidFill>
                          <a:latin typeface="Arial"/>
                          <a:ea typeface="Arial"/>
                          <a:cs typeface="Arial"/>
                        </a:rPr>
                        <a:t>1.503.057</a:t>
                      </a:r>
                    </a:p>
                  </a:txBody>
                  <a:tcPr marL="95250" marR="95250" marT="57150" marB="57150">
                    <a:solidFill>
                      <a:srgbClr val="FFFFFF"/>
                    </a:solidFill>
                  </a:tcPr>
                </a:tc>
                <a:extLst>
                  <a:ext uri="{0D108BD9-81ED-4DB2-BD59-A6C34878D82A}">
                    <a16:rowId xmlns:a16="http://schemas.microsoft.com/office/drawing/2014/main" val="10002"/>
                  </a:ext>
                </a:extLst>
              </a:tr>
              <a:tr h="400050">
                <a:tc>
                  <a:txBody>
                    <a:bodyPr/>
                    <a:lstStyle/>
                    <a:p>
                      <a:r>
                        <a:rPr sz="1650" b="0">
                          <a:solidFill>
                            <a:srgbClr val="172F42"/>
                          </a:solidFill>
                          <a:latin typeface="Arial"/>
                          <a:ea typeface="Arial"/>
                          <a:cs typeface="Arial"/>
                        </a:rPr>
                        <a:t>Formal</a:t>
                      </a:r>
                    </a:p>
                  </a:txBody>
                  <a:tcPr marL="95250" marR="95250" marT="57150" marB="57150">
                    <a:solidFill>
                      <a:srgbClr val="FFFFFF"/>
                    </a:solidFill>
                  </a:tcPr>
                </a:tc>
                <a:tc>
                  <a:txBody>
                    <a:bodyPr/>
                    <a:lstStyle/>
                    <a:p>
                      <a:r>
                        <a:rPr sz="1650" b="0">
                          <a:solidFill>
                            <a:srgbClr val="172F42"/>
                          </a:solidFill>
                          <a:latin typeface="Arial"/>
                          <a:ea typeface="Arial"/>
                          <a:cs typeface="Arial"/>
                        </a:rPr>
                        <a:t>-0,132</a:t>
                      </a:r>
                    </a:p>
                  </a:txBody>
                  <a:tcPr marL="95250" marR="95250" marT="57150" marB="57150">
                    <a:solidFill>
                      <a:srgbClr val="FFFFFF"/>
                    </a:solidFill>
                  </a:tcPr>
                </a:tc>
                <a:tc>
                  <a:txBody>
                    <a:bodyPr/>
                    <a:lstStyle/>
                    <a:p>
                      <a:r>
                        <a:rPr sz="1650" b="0">
                          <a:solidFill>
                            <a:srgbClr val="172F42"/>
                          </a:solidFill>
                          <a:latin typeface="Arial"/>
                          <a:ea typeface="Arial"/>
                          <a:cs typeface="Arial"/>
                        </a:rPr>
                        <a:t>[-0,159, -0,106]</a:t>
                      </a:r>
                    </a:p>
                  </a:txBody>
                  <a:tcPr marL="95250" marR="95250" marT="57150" marB="57150">
                    <a:solidFill>
                      <a:srgbClr val="FFFFFF"/>
                    </a:solidFill>
                  </a:tcPr>
                </a:tc>
                <a:tc>
                  <a:txBody>
                    <a:bodyPr/>
                    <a:lstStyle/>
                    <a:p>
                      <a:r>
                        <a:rPr sz="1650" b="0">
                          <a:solidFill>
                            <a:srgbClr val="172F42"/>
                          </a:solidFill>
                          <a:latin typeface="Arial"/>
                          <a:ea typeface="Arial"/>
                          <a:cs typeface="Arial"/>
                        </a:rPr>
                        <a:t>2.219.030</a:t>
                      </a:r>
                    </a:p>
                  </a:txBody>
                  <a:tcPr marL="95250" marR="95250" marT="57150" marB="57150">
                    <a:solidFill>
                      <a:srgbClr val="FFFFFF"/>
                    </a:solidFill>
                  </a:tcPr>
                </a:tc>
                <a:extLst>
                  <a:ext uri="{0D108BD9-81ED-4DB2-BD59-A6C34878D82A}">
                    <a16:rowId xmlns:a16="http://schemas.microsoft.com/office/drawing/2014/main" val="10003"/>
                  </a:ext>
                </a:extLst>
              </a:tr>
              <a:tr h="400050">
                <a:tc>
                  <a:txBody>
                    <a:bodyPr/>
                    <a:lstStyle/>
                    <a:p>
                      <a:r>
                        <a:rPr sz="1650" b="0">
                          <a:solidFill>
                            <a:srgbClr val="172F42"/>
                          </a:solidFill>
                          <a:latin typeface="Arial"/>
                          <a:ea typeface="Arial"/>
                          <a:cs typeface="Arial"/>
                        </a:rPr>
                        <a:t>Informal</a:t>
                      </a:r>
                    </a:p>
                  </a:txBody>
                  <a:tcPr marL="95250" marR="95250" marT="57150" marB="57150">
                    <a:solidFill>
                      <a:srgbClr val="FFFFFF"/>
                    </a:solidFill>
                  </a:tcPr>
                </a:tc>
                <a:tc>
                  <a:txBody>
                    <a:bodyPr/>
                    <a:lstStyle/>
                    <a:p>
                      <a:r>
                        <a:rPr sz="1650" b="0">
                          <a:solidFill>
                            <a:srgbClr val="172F42"/>
                          </a:solidFill>
                          <a:latin typeface="Arial"/>
                          <a:ea typeface="Arial"/>
                          <a:cs typeface="Arial"/>
                        </a:rPr>
                        <a:t>-0,297</a:t>
                      </a:r>
                    </a:p>
                  </a:txBody>
                  <a:tcPr marL="95250" marR="95250" marT="57150" marB="57150">
                    <a:solidFill>
                      <a:srgbClr val="FFFFFF"/>
                    </a:solidFill>
                  </a:tcPr>
                </a:tc>
                <a:tc>
                  <a:txBody>
                    <a:bodyPr/>
                    <a:lstStyle/>
                    <a:p>
                      <a:r>
                        <a:rPr sz="1650" b="0">
                          <a:solidFill>
                            <a:srgbClr val="172F42"/>
                          </a:solidFill>
                          <a:latin typeface="Arial"/>
                          <a:ea typeface="Arial"/>
                          <a:cs typeface="Arial"/>
                        </a:rPr>
                        <a:t>[-0,337, -0,257]</a:t>
                      </a:r>
                    </a:p>
                  </a:txBody>
                  <a:tcPr marL="95250" marR="95250" marT="57150" marB="57150">
                    <a:solidFill>
                      <a:srgbClr val="FFFFFF"/>
                    </a:solidFill>
                  </a:tcPr>
                </a:tc>
                <a:tc>
                  <a:txBody>
                    <a:bodyPr/>
                    <a:lstStyle/>
                    <a:p>
                      <a:r>
                        <a:rPr sz="1650" b="0">
                          <a:solidFill>
                            <a:srgbClr val="172F42"/>
                          </a:solidFill>
                          <a:latin typeface="Arial"/>
                          <a:ea typeface="Arial"/>
                          <a:cs typeface="Arial"/>
                        </a:rPr>
                        <a:t>1.467.375</a:t>
                      </a:r>
                    </a:p>
                  </a:txBody>
                  <a:tcPr marL="95250" marR="95250" marT="57150" marB="57150">
                    <a:solidFill>
                      <a:srgbClr val="FFFFFF"/>
                    </a:solidFill>
                  </a:tcPr>
                </a:tc>
                <a:extLst>
                  <a:ext uri="{0D108BD9-81ED-4DB2-BD59-A6C34878D82A}">
                    <a16:rowId xmlns:a16="http://schemas.microsoft.com/office/drawing/2014/main" val="10004"/>
                  </a:ext>
                </a:extLst>
              </a:tr>
              <a:tr h="400050">
                <a:tc>
                  <a:txBody>
                    <a:bodyPr/>
                    <a:lstStyle/>
                    <a:p>
                      <a:r>
                        <a:rPr sz="1650" b="0">
                          <a:solidFill>
                            <a:srgbClr val="172F42"/>
                          </a:solidFill>
                          <a:latin typeface="Arial"/>
                          <a:ea typeface="Arial"/>
                          <a:cs typeface="Arial"/>
                        </a:rPr>
                        <a:t>Cuenta propia</a:t>
                      </a:r>
                    </a:p>
                  </a:txBody>
                  <a:tcPr marL="95250" marR="95250" marT="57150" marB="57150">
                    <a:solidFill>
                      <a:srgbClr val="FFFFFF"/>
                    </a:solidFill>
                  </a:tcPr>
                </a:tc>
                <a:tc>
                  <a:txBody>
                    <a:bodyPr/>
                    <a:lstStyle/>
                    <a:p>
                      <a:r>
                        <a:rPr sz="1650" b="0">
                          <a:solidFill>
                            <a:srgbClr val="172F42"/>
                          </a:solidFill>
                          <a:latin typeface="Arial"/>
                          <a:ea typeface="Arial"/>
                          <a:cs typeface="Arial"/>
                        </a:rPr>
                        <a:t>-0,335</a:t>
                      </a:r>
                    </a:p>
                  </a:txBody>
                  <a:tcPr marL="95250" marR="95250" marT="57150" marB="57150">
                    <a:solidFill>
                      <a:srgbClr val="FFFFFF"/>
                    </a:solidFill>
                  </a:tcPr>
                </a:tc>
                <a:tc>
                  <a:txBody>
                    <a:bodyPr/>
                    <a:lstStyle/>
                    <a:p>
                      <a:r>
                        <a:rPr sz="1650" b="0">
                          <a:solidFill>
                            <a:srgbClr val="172F42"/>
                          </a:solidFill>
                          <a:latin typeface="Arial"/>
                          <a:ea typeface="Arial"/>
                          <a:cs typeface="Arial"/>
                        </a:rPr>
                        <a:t>[-0,389, -0,282]</a:t>
                      </a:r>
                    </a:p>
                  </a:txBody>
                  <a:tcPr marL="95250" marR="95250" marT="57150" marB="57150">
                    <a:solidFill>
                      <a:srgbClr val="FFFFFF"/>
                    </a:solidFill>
                  </a:tcPr>
                </a:tc>
                <a:tc>
                  <a:txBody>
                    <a:bodyPr/>
                    <a:lstStyle/>
                    <a:p>
                      <a:r>
                        <a:rPr sz="1650" b="0">
                          <a:solidFill>
                            <a:srgbClr val="172F42"/>
                          </a:solidFill>
                          <a:latin typeface="Arial"/>
                          <a:ea typeface="Arial"/>
                          <a:cs typeface="Arial"/>
                        </a:rPr>
                        <a:t>1.092.990</a:t>
                      </a:r>
                    </a:p>
                  </a:txBody>
                  <a:tcPr marL="95250" marR="95250" marT="57150" marB="57150">
                    <a:solidFill>
                      <a:srgbClr val="FFFFFF"/>
                    </a:solidFill>
                  </a:tcPr>
                </a:tc>
                <a:extLst>
                  <a:ext uri="{0D108BD9-81ED-4DB2-BD59-A6C34878D82A}">
                    <a16:rowId xmlns:a16="http://schemas.microsoft.com/office/drawing/2014/main" val="10005"/>
                  </a:ext>
                </a:extLst>
              </a:tr>
              <a:tr h="400050">
                <a:tc>
                  <a:txBody>
                    <a:bodyPr/>
                    <a:lstStyle/>
                    <a:p>
                      <a:r>
                        <a:rPr sz="1650" b="0">
                          <a:solidFill>
                            <a:srgbClr val="172F42"/>
                          </a:solidFill>
                          <a:latin typeface="Arial"/>
                          <a:ea typeface="Arial"/>
                          <a:cs typeface="Arial"/>
                        </a:rPr>
                        <a:t>Empleo particular</a:t>
                      </a:r>
                    </a:p>
                  </a:txBody>
                  <a:tcPr marL="95250" marR="95250" marT="57150" marB="57150">
                    <a:solidFill>
                      <a:srgbClr val="FFFFFF"/>
                    </a:solidFill>
                  </a:tcPr>
                </a:tc>
                <a:tc>
                  <a:txBody>
                    <a:bodyPr/>
                    <a:lstStyle/>
                    <a:p>
                      <a:r>
                        <a:rPr sz="1650" b="0">
                          <a:solidFill>
                            <a:srgbClr val="172F42"/>
                          </a:solidFill>
                          <a:latin typeface="Arial"/>
                          <a:ea typeface="Arial"/>
                          <a:cs typeface="Arial"/>
                        </a:rPr>
                        <a:t>-0,115</a:t>
                      </a:r>
                    </a:p>
                  </a:txBody>
                  <a:tcPr marL="95250" marR="95250" marT="57150" marB="57150">
                    <a:solidFill>
                      <a:srgbClr val="FFFFFF"/>
                    </a:solidFill>
                  </a:tcPr>
                </a:tc>
                <a:tc>
                  <a:txBody>
                    <a:bodyPr/>
                    <a:lstStyle/>
                    <a:p>
                      <a:r>
                        <a:rPr sz="1650" b="0">
                          <a:solidFill>
                            <a:srgbClr val="172F42"/>
                          </a:solidFill>
                          <a:latin typeface="Arial"/>
                          <a:ea typeface="Arial"/>
                          <a:cs typeface="Arial"/>
                        </a:rPr>
                        <a:t>[-0,140, -0,091]</a:t>
                      </a:r>
                    </a:p>
                  </a:txBody>
                  <a:tcPr marL="95250" marR="95250" marT="57150" marB="57150">
                    <a:solidFill>
                      <a:srgbClr val="FFFFFF"/>
                    </a:solidFill>
                  </a:tcPr>
                </a:tc>
                <a:tc>
                  <a:txBody>
                    <a:bodyPr/>
                    <a:lstStyle/>
                    <a:p>
                      <a:r>
                        <a:rPr sz="1650" b="0">
                          <a:solidFill>
                            <a:srgbClr val="172F42"/>
                          </a:solidFill>
                          <a:latin typeface="Arial"/>
                          <a:ea typeface="Arial"/>
                          <a:cs typeface="Arial"/>
                        </a:rPr>
                        <a:t>2.192.530</a:t>
                      </a:r>
                    </a:p>
                  </a:txBody>
                  <a:tcPr marL="95250" marR="95250" marT="57150" marB="57150">
                    <a:solidFill>
                      <a:srgbClr val="FFFFFF"/>
                    </a:solidFill>
                  </a:tcPr>
                </a:tc>
                <a:extLst>
                  <a:ext uri="{0D108BD9-81ED-4DB2-BD59-A6C34878D82A}">
                    <a16:rowId xmlns:a16="http://schemas.microsoft.com/office/drawing/2014/main" val="10006"/>
                  </a:ext>
                </a:extLst>
              </a:tr>
              <a:tr h="400050">
                <a:tc>
                  <a:txBody>
                    <a:bodyPr/>
                    <a:lstStyle/>
                    <a:p>
                      <a:r>
                        <a:rPr sz="1650" b="0">
                          <a:solidFill>
                            <a:srgbClr val="172F42"/>
                          </a:solidFill>
                          <a:latin typeface="Arial"/>
                          <a:ea typeface="Arial"/>
                          <a:cs typeface="Arial"/>
                        </a:rPr>
                        <a:t>18 a 35 años</a:t>
                      </a:r>
                    </a:p>
                  </a:txBody>
                  <a:tcPr marL="95250" marR="95250" marT="57150" marB="57150">
                    <a:solidFill>
                      <a:srgbClr val="FFFFFF"/>
                    </a:solidFill>
                  </a:tcPr>
                </a:tc>
                <a:tc>
                  <a:txBody>
                    <a:bodyPr/>
                    <a:lstStyle/>
                    <a:p>
                      <a:r>
                        <a:rPr sz="1650" b="0">
                          <a:solidFill>
                            <a:srgbClr val="172F42"/>
                          </a:solidFill>
                          <a:latin typeface="Arial"/>
                          <a:ea typeface="Arial"/>
                          <a:cs typeface="Arial"/>
                        </a:rPr>
                        <a:t>-0,118</a:t>
                      </a:r>
                    </a:p>
                  </a:txBody>
                  <a:tcPr marL="95250" marR="95250" marT="57150" marB="57150">
                    <a:solidFill>
                      <a:srgbClr val="FFFFFF"/>
                    </a:solidFill>
                  </a:tcPr>
                </a:tc>
                <a:tc>
                  <a:txBody>
                    <a:bodyPr/>
                    <a:lstStyle/>
                    <a:p>
                      <a:r>
                        <a:rPr sz="1650" b="0">
                          <a:solidFill>
                            <a:srgbClr val="172F42"/>
                          </a:solidFill>
                          <a:latin typeface="Arial"/>
                          <a:ea typeface="Arial"/>
                          <a:cs typeface="Arial"/>
                        </a:rPr>
                        <a:t>[-0,146, -0,089]</a:t>
                      </a:r>
                    </a:p>
                  </a:txBody>
                  <a:tcPr marL="95250" marR="95250" marT="57150" marB="57150">
                    <a:solidFill>
                      <a:srgbClr val="FFFFFF"/>
                    </a:solidFill>
                  </a:tcPr>
                </a:tc>
                <a:tc>
                  <a:txBody>
                    <a:bodyPr/>
                    <a:lstStyle/>
                    <a:p>
                      <a:r>
                        <a:rPr sz="1650" b="0">
                          <a:solidFill>
                            <a:srgbClr val="172F42"/>
                          </a:solidFill>
                          <a:latin typeface="Arial"/>
                          <a:ea typeface="Arial"/>
                          <a:cs typeface="Arial"/>
                        </a:rPr>
                        <a:t>1.736.509</a:t>
                      </a:r>
                    </a:p>
                  </a:txBody>
                  <a:tcPr marL="95250" marR="95250" marT="57150" marB="57150">
                    <a:solidFill>
                      <a:srgbClr val="FFFFFF"/>
                    </a:solidFill>
                  </a:tcPr>
                </a:tc>
                <a:extLst>
                  <a:ext uri="{0D108BD9-81ED-4DB2-BD59-A6C34878D82A}">
                    <a16:rowId xmlns:a16="http://schemas.microsoft.com/office/drawing/2014/main" val="10007"/>
                  </a:ext>
                </a:extLst>
              </a:tr>
              <a:tr h="400050">
                <a:tc>
                  <a:txBody>
                    <a:bodyPr/>
                    <a:lstStyle/>
                    <a:p>
                      <a:r>
                        <a:rPr sz="1650" b="0">
                          <a:solidFill>
                            <a:srgbClr val="172F42"/>
                          </a:solidFill>
                          <a:latin typeface="Arial"/>
                          <a:ea typeface="Arial"/>
                          <a:cs typeface="Arial"/>
                        </a:rPr>
                        <a:t>36 a 55 años</a:t>
                      </a:r>
                    </a:p>
                  </a:txBody>
                  <a:tcPr marL="95250" marR="95250" marT="57150" marB="57150">
                    <a:solidFill>
                      <a:srgbClr val="FFFFFF"/>
                    </a:solidFill>
                  </a:tcPr>
                </a:tc>
                <a:tc>
                  <a:txBody>
                    <a:bodyPr/>
                    <a:lstStyle/>
                    <a:p>
                      <a:r>
                        <a:rPr sz="1650" b="0">
                          <a:solidFill>
                            <a:srgbClr val="172F42"/>
                          </a:solidFill>
                          <a:latin typeface="Arial"/>
                          <a:ea typeface="Arial"/>
                          <a:cs typeface="Arial"/>
                        </a:rPr>
                        <a:t>-0,204</a:t>
                      </a:r>
                    </a:p>
                  </a:txBody>
                  <a:tcPr marL="95250" marR="95250" marT="57150" marB="57150">
                    <a:solidFill>
                      <a:srgbClr val="FFFFFF"/>
                    </a:solidFill>
                  </a:tcPr>
                </a:tc>
                <a:tc>
                  <a:txBody>
                    <a:bodyPr/>
                    <a:lstStyle/>
                    <a:p>
                      <a:r>
                        <a:rPr sz="1650" b="0">
                          <a:solidFill>
                            <a:srgbClr val="172F42"/>
                          </a:solidFill>
                          <a:latin typeface="Arial"/>
                          <a:ea typeface="Arial"/>
                          <a:cs typeface="Arial"/>
                        </a:rPr>
                        <a:t>[-0,241, -0,166]</a:t>
                      </a:r>
                    </a:p>
                  </a:txBody>
                  <a:tcPr marL="95250" marR="95250" marT="57150" marB="57150">
                    <a:solidFill>
                      <a:srgbClr val="FFFFFF"/>
                    </a:solidFill>
                  </a:tcPr>
                </a:tc>
                <a:tc>
                  <a:txBody>
                    <a:bodyPr/>
                    <a:lstStyle/>
                    <a:p>
                      <a:r>
                        <a:rPr sz="1650" b="0">
                          <a:solidFill>
                            <a:srgbClr val="172F42"/>
                          </a:solidFill>
                          <a:latin typeface="Arial"/>
                          <a:ea typeface="Arial"/>
                          <a:cs typeface="Arial"/>
                        </a:rPr>
                        <a:t>1.477.061</a:t>
                      </a:r>
                    </a:p>
                  </a:txBody>
                  <a:tcPr marL="95250" marR="95250" marT="57150" marB="57150">
                    <a:solidFill>
                      <a:srgbClr val="FFFFFF"/>
                    </a:solidFill>
                  </a:tcPr>
                </a:tc>
                <a:extLst>
                  <a:ext uri="{0D108BD9-81ED-4DB2-BD59-A6C34878D82A}">
                    <a16:rowId xmlns:a16="http://schemas.microsoft.com/office/drawing/2014/main" val="10008"/>
                  </a:ext>
                </a:extLst>
              </a:tr>
              <a:tr h="400050">
                <a:tc>
                  <a:txBody>
                    <a:bodyPr/>
                    <a:lstStyle/>
                    <a:p>
                      <a:r>
                        <a:rPr sz="1650" b="0">
                          <a:solidFill>
                            <a:srgbClr val="172F42"/>
                          </a:solidFill>
                          <a:latin typeface="Arial"/>
                          <a:ea typeface="Arial"/>
                          <a:cs typeface="Arial"/>
                        </a:rPr>
                        <a:t>56 o más años</a:t>
                      </a:r>
                    </a:p>
                  </a:txBody>
                  <a:tcPr marL="95250" marR="95250" marT="57150" marB="57150">
                    <a:solidFill>
                      <a:srgbClr val="FFFFFF"/>
                    </a:solidFill>
                  </a:tcPr>
                </a:tc>
                <a:tc>
                  <a:txBody>
                    <a:bodyPr/>
                    <a:lstStyle/>
                    <a:p>
                      <a:r>
                        <a:rPr sz="1650" b="0">
                          <a:solidFill>
                            <a:srgbClr val="172F42"/>
                          </a:solidFill>
                          <a:latin typeface="Arial"/>
                          <a:ea typeface="Arial"/>
                          <a:cs typeface="Arial"/>
                        </a:rPr>
                        <a:t>-0,289</a:t>
                      </a:r>
                    </a:p>
                  </a:txBody>
                  <a:tcPr marL="95250" marR="95250" marT="57150" marB="57150">
                    <a:solidFill>
                      <a:srgbClr val="FFFFFF"/>
                    </a:solidFill>
                  </a:tcPr>
                </a:tc>
                <a:tc>
                  <a:txBody>
                    <a:bodyPr/>
                    <a:lstStyle/>
                    <a:p>
                      <a:r>
                        <a:rPr sz="1650" b="0">
                          <a:solidFill>
                            <a:srgbClr val="172F42"/>
                          </a:solidFill>
                          <a:latin typeface="Arial"/>
                          <a:ea typeface="Arial"/>
                          <a:cs typeface="Arial"/>
                        </a:rPr>
                        <a:t>[-0,371, -0,207]</a:t>
                      </a:r>
                    </a:p>
                  </a:txBody>
                  <a:tcPr marL="95250" marR="95250" marT="57150" marB="57150">
                    <a:solidFill>
                      <a:srgbClr val="FFFFFF"/>
                    </a:solidFill>
                  </a:tcPr>
                </a:tc>
                <a:tc>
                  <a:txBody>
                    <a:bodyPr/>
                    <a:lstStyle/>
                    <a:p>
                      <a:r>
                        <a:rPr sz="1650" b="0">
                          <a:solidFill>
                            <a:srgbClr val="172F42"/>
                          </a:solidFill>
                          <a:latin typeface="Arial"/>
                          <a:ea typeface="Arial"/>
                          <a:cs typeface="Arial"/>
                        </a:rPr>
                        <a:t>472.836</a:t>
                      </a:r>
                    </a:p>
                  </a:txBody>
                  <a:tcPr marL="95250" marR="95250" marT="57150" marB="57150">
                    <a:solidFill>
                      <a:srgbClr val="FFFFFF"/>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20708939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ADDB2C5D-D63E-AB2A-BFE0-76337E2036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6309" y="233517"/>
            <a:ext cx="11619382" cy="6390967"/>
          </a:xfrm>
          <a:prstGeom prst="rect">
            <a:avLst/>
          </a:prstGeom>
        </p:spPr>
      </p:pic>
    </p:spTree>
    <p:extLst>
      <p:ext uri="{BB962C8B-B14F-4D97-AF65-F5344CB8AC3E}">
        <p14:creationId xmlns:p14="http://schemas.microsoft.com/office/powerpoint/2010/main" val="42135103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ángulo 8">
            <a:extLst>
              <a:ext uri="{FF2B5EF4-FFF2-40B4-BE49-F238E27FC236}">
                <a16:creationId xmlns:a16="http://schemas.microsoft.com/office/drawing/2014/main" id="{336D890B-4AA3-4CB2-9050-34A23DB8325D}"/>
              </a:ext>
            </a:extLst>
          </p:cNvPr>
          <p:cNvSpPr>
            <a:spLocks noGrp="1"/>
          </p:cNvSpPr>
          <p:nvPr/>
        </p:nvSpPr>
        <p:spPr>
          <a:xfrm>
            <a:off x="609600" y="333375"/>
            <a:ext cx="10972800" cy="762000"/>
          </a:xfrm>
          <a:prstGeom prst="rect">
            <a:avLst/>
          </a:prstGeom>
          <a:noFill/>
          <a:ln w="0">
            <a:noFill/>
          </a:ln>
        </p:spPr>
        <p:txBody>
          <a:bodyPr>
            <a:noAutofit/>
          </a:bodyPr>
          <a:lstStyle/>
          <a:p>
            <a:pPr>
              <a:defRPr sz="3150" b="1">
                <a:solidFill>
                  <a:srgbClr val="172F42"/>
                </a:solidFill>
                <a:latin typeface="Arial"/>
                <a:ea typeface="Arial"/>
                <a:cs typeface="Arial"/>
              </a:defRPr>
            </a:pPr>
            <a:r>
              <a:rPr sz="3150" b="1">
                <a:solidFill>
                  <a:srgbClr val="172F42"/>
                </a:solidFill>
                <a:latin typeface="Arial"/>
                <a:ea typeface="Arial"/>
                <a:cs typeface="Arial"/>
              </a:rPr>
              <a:t>Anexo: fuentes y equipo</a:t>
            </a:r>
          </a:p>
        </p:txBody>
      </p:sp>
      <p:sp>
        <p:nvSpPr>
          <p:cNvPr id="2" name="Rectángulo 1">
            <a:extLst>
              <a:ext uri="{FF2B5EF4-FFF2-40B4-BE49-F238E27FC236}">
                <a16:creationId xmlns:a16="http://schemas.microsoft.com/office/drawing/2014/main" id="{99641F58-6B87-457C-976D-3B201DE39F5E}"/>
              </a:ext>
            </a:extLst>
          </p:cNvPr>
          <p:cNvSpPr>
            <a:spLocks noGrp="1"/>
          </p:cNvSpPr>
          <p:nvPr/>
        </p:nvSpPr>
        <p:spPr>
          <a:xfrm>
            <a:off x="609600" y="6210300"/>
            <a:ext cx="10287000" cy="457200"/>
          </a:xfrm>
          <a:prstGeom prst="rect">
            <a:avLst/>
          </a:prstGeom>
          <a:noFill/>
          <a:ln w="0">
            <a:noFill/>
          </a:ln>
        </p:spPr>
        <p:txBody>
          <a:bodyPr>
            <a:noAutofit/>
          </a:bodyPr>
          <a:lstStyle/>
          <a:p>
            <a:pPr>
              <a:defRPr sz="1125" b="0">
                <a:solidFill>
                  <a:srgbClr val="526471"/>
                </a:solidFill>
                <a:latin typeface="Arial"/>
                <a:ea typeface="Arial"/>
                <a:cs typeface="Arial"/>
              </a:defRPr>
            </a:pPr>
            <a:r>
              <a:rPr sz="1125" b="0" dirty="0">
                <a:solidFill>
                  <a:srgbClr val="526471"/>
                </a:solidFill>
                <a:latin typeface="Arial"/>
                <a:ea typeface="Arial"/>
                <a:cs typeface="Arial"/>
              </a:rPr>
              <a:t>Brecha de </a:t>
            </a:r>
            <a:r>
              <a:rPr sz="1125" b="0" dirty="0" err="1">
                <a:solidFill>
                  <a:srgbClr val="526471"/>
                </a:solidFill>
                <a:latin typeface="Arial"/>
                <a:ea typeface="Arial"/>
                <a:cs typeface="Arial"/>
              </a:rPr>
              <a:t>género</a:t>
            </a:r>
            <a:r>
              <a:rPr sz="1125" b="0" dirty="0">
                <a:solidFill>
                  <a:srgbClr val="526471"/>
                </a:solidFill>
                <a:latin typeface="Arial"/>
                <a:ea typeface="Arial"/>
                <a:cs typeface="Arial"/>
              </a:rPr>
              <a:t> </a:t>
            </a:r>
            <a:r>
              <a:rPr sz="1125" b="0" dirty="0" err="1">
                <a:solidFill>
                  <a:srgbClr val="526471"/>
                </a:solidFill>
                <a:latin typeface="Arial"/>
                <a:ea typeface="Arial"/>
                <a:cs typeface="Arial"/>
              </a:rPr>
              <a:t>en</a:t>
            </a:r>
            <a:r>
              <a:rPr sz="1125" b="0" dirty="0">
                <a:solidFill>
                  <a:srgbClr val="526471"/>
                </a:solidFill>
                <a:latin typeface="Arial"/>
                <a:ea typeface="Arial"/>
                <a:cs typeface="Arial"/>
              </a:rPr>
              <a:t> Bogotá. Equipo 0</a:t>
            </a:r>
            <a:r>
              <a:rPr lang="es-CO" sz="1125" b="0" dirty="0">
                <a:solidFill>
                  <a:srgbClr val="526471"/>
                </a:solidFill>
                <a:latin typeface="Arial"/>
                <a:ea typeface="Arial"/>
                <a:cs typeface="Arial"/>
              </a:rPr>
              <a:t>1</a:t>
            </a:r>
            <a:r>
              <a:rPr sz="1125" b="0" dirty="0">
                <a:solidFill>
                  <a:srgbClr val="526471"/>
                </a:solidFill>
                <a:latin typeface="Arial"/>
                <a:ea typeface="Arial"/>
                <a:cs typeface="Arial"/>
              </a:rPr>
              <a:t>.</a:t>
            </a:r>
          </a:p>
        </p:txBody>
      </p:sp>
      <p:sp>
        <p:nvSpPr>
          <p:cNvPr id="3" name="Rectángulo 2">
            <a:extLst>
              <a:ext uri="{FF2B5EF4-FFF2-40B4-BE49-F238E27FC236}">
                <a16:creationId xmlns:a16="http://schemas.microsoft.com/office/drawing/2014/main" id="{14EF9FF5-E709-49C0-8AB3-1827C055A92B}"/>
              </a:ext>
            </a:extLst>
          </p:cNvPr>
          <p:cNvSpPr>
            <a:spLocks noGrp="1"/>
          </p:cNvSpPr>
          <p:nvPr/>
        </p:nvSpPr>
        <p:spPr>
          <a:xfrm>
            <a:off x="11144250" y="6343650"/>
            <a:ext cx="419100" cy="247650"/>
          </a:xfrm>
          <a:prstGeom prst="rect">
            <a:avLst/>
          </a:prstGeom>
          <a:noFill/>
          <a:ln w="0">
            <a:noFill/>
          </a:ln>
        </p:spPr>
        <p:txBody>
          <a:bodyPr>
            <a:noAutofit/>
          </a:bodyPr>
          <a:lstStyle/>
          <a:p>
            <a:pPr>
              <a:defRPr sz="1200" b="0">
                <a:solidFill>
                  <a:srgbClr val="526471"/>
                </a:solidFill>
                <a:latin typeface="Arial"/>
                <a:ea typeface="Arial"/>
                <a:cs typeface="Arial"/>
              </a:defRPr>
            </a:pPr>
            <a:r>
              <a:rPr sz="1200" b="0">
                <a:solidFill>
                  <a:srgbClr val="526471"/>
                </a:solidFill>
                <a:latin typeface="Arial"/>
                <a:ea typeface="Arial"/>
                <a:cs typeface="Arial"/>
              </a:rPr>
              <a:t>16</a:t>
            </a:r>
          </a:p>
        </p:txBody>
      </p:sp>
      <p:sp>
        <p:nvSpPr>
          <p:cNvPr id="4" name="Rectángulo 3">
            <a:extLst>
              <a:ext uri="{FF2B5EF4-FFF2-40B4-BE49-F238E27FC236}">
                <a16:creationId xmlns:a16="http://schemas.microsoft.com/office/drawing/2014/main" id="{A7544D9F-B9E4-4F3C-925D-32D534B3F1C2}"/>
              </a:ext>
            </a:extLst>
          </p:cNvPr>
          <p:cNvSpPr>
            <a:spLocks noGrp="1"/>
          </p:cNvSpPr>
          <p:nvPr/>
        </p:nvSpPr>
        <p:spPr>
          <a:xfrm>
            <a:off x="685800" y="1428750"/>
            <a:ext cx="10763250" cy="1285875"/>
          </a:xfrm>
          <a:prstGeom prst="rect">
            <a:avLst/>
          </a:prstGeom>
          <a:noFill/>
          <a:ln w="0">
            <a:noFill/>
          </a:ln>
        </p:spPr>
        <p:txBody>
          <a:bodyPr>
            <a:noAutofit/>
          </a:bodyPr>
          <a:lstStyle/>
          <a:p>
            <a:pPr>
              <a:defRPr sz="2025" b="0">
                <a:solidFill>
                  <a:srgbClr val="172F42"/>
                </a:solidFill>
                <a:latin typeface="Arial"/>
                <a:ea typeface="Arial"/>
                <a:cs typeface="Arial"/>
              </a:defRPr>
            </a:pPr>
            <a:r>
              <a:rPr sz="2025" b="0" dirty="0">
                <a:solidFill>
                  <a:srgbClr val="172F42"/>
                </a:solidFill>
                <a:latin typeface="Arial"/>
                <a:ea typeface="Arial"/>
                <a:cs typeface="Arial"/>
              </a:rPr>
              <a:t>GEIH 2018, Bogotá. </a:t>
            </a:r>
            <a:r>
              <a:rPr sz="2025" b="0" dirty="0" err="1">
                <a:solidFill>
                  <a:srgbClr val="172F42"/>
                </a:solidFill>
                <a:latin typeface="Arial"/>
                <a:ea typeface="Arial"/>
                <a:cs typeface="Arial"/>
              </a:rPr>
              <a:t>Microdatos</a:t>
            </a:r>
            <a:r>
              <a:rPr sz="2025" b="0" dirty="0">
                <a:solidFill>
                  <a:srgbClr val="172F42"/>
                </a:solidFill>
                <a:latin typeface="Arial"/>
                <a:ea typeface="Arial"/>
                <a:cs typeface="Arial"/>
              </a:rPr>
              <a:t> y </a:t>
            </a:r>
            <a:r>
              <a:rPr sz="2025" b="0" dirty="0" err="1">
                <a:solidFill>
                  <a:srgbClr val="172F42"/>
                </a:solidFill>
                <a:latin typeface="Arial"/>
                <a:ea typeface="Arial"/>
                <a:cs typeface="Arial"/>
              </a:rPr>
              <a:t>materiales</a:t>
            </a:r>
            <a:r>
              <a:rPr sz="2025" b="0" dirty="0">
                <a:solidFill>
                  <a:srgbClr val="172F42"/>
                </a:solidFill>
                <a:latin typeface="Arial"/>
                <a:ea typeface="Arial"/>
                <a:cs typeface="Arial"/>
              </a:rPr>
              <a:t> del </a:t>
            </a:r>
            <a:r>
              <a:rPr sz="2025" b="0" dirty="0" err="1">
                <a:solidFill>
                  <a:srgbClr val="172F42"/>
                </a:solidFill>
                <a:latin typeface="Arial"/>
                <a:ea typeface="Arial"/>
                <a:cs typeface="Arial"/>
              </a:rPr>
              <a:t>curso</a:t>
            </a:r>
            <a:r>
              <a:rPr sz="2025" b="0" dirty="0">
                <a:solidFill>
                  <a:srgbClr val="172F42"/>
                </a:solidFill>
                <a:latin typeface="Arial"/>
                <a:ea typeface="Arial"/>
                <a:cs typeface="Arial"/>
              </a:rPr>
              <a:t>.</a:t>
            </a:r>
          </a:p>
          <a:p>
            <a:pPr>
              <a:defRPr sz="2025" b="0">
                <a:solidFill>
                  <a:srgbClr val="172F42"/>
                </a:solidFill>
                <a:latin typeface="Arial"/>
                <a:ea typeface="Arial"/>
                <a:cs typeface="Arial"/>
              </a:defRPr>
            </a:pPr>
            <a:r>
              <a:rPr sz="2025" b="0" dirty="0" err="1">
                <a:solidFill>
                  <a:srgbClr val="172F42"/>
                </a:solidFill>
                <a:latin typeface="Arial"/>
                <a:ea typeface="Arial"/>
                <a:cs typeface="Arial"/>
              </a:rPr>
              <a:t>Repositorio</a:t>
            </a:r>
            <a:r>
              <a:rPr sz="2025" b="0" dirty="0">
                <a:solidFill>
                  <a:srgbClr val="172F42"/>
                </a:solidFill>
                <a:latin typeface="Arial"/>
                <a:ea typeface="Arial"/>
                <a:cs typeface="Arial"/>
              </a:rPr>
              <a:t> </a:t>
            </a:r>
            <a:r>
              <a:rPr sz="2025" b="0" dirty="0" err="1">
                <a:solidFill>
                  <a:srgbClr val="172F42"/>
                </a:solidFill>
                <a:latin typeface="Arial"/>
                <a:ea typeface="Arial"/>
                <a:cs typeface="Arial"/>
              </a:rPr>
              <a:t>público</a:t>
            </a:r>
            <a:r>
              <a:rPr sz="2025" b="0" dirty="0">
                <a:solidFill>
                  <a:srgbClr val="172F42"/>
                </a:solidFill>
                <a:latin typeface="Arial"/>
                <a:ea typeface="Arial"/>
                <a:cs typeface="Arial"/>
              </a:rPr>
              <a:t>: </a:t>
            </a:r>
            <a:r>
              <a:rPr lang="es-CO" sz="2025" dirty="0">
                <a:solidFill>
                  <a:srgbClr val="172F42"/>
                </a:solidFill>
                <a:latin typeface="Arial"/>
                <a:ea typeface="Arial"/>
                <a:cs typeface="Arial"/>
              </a:rPr>
              <a:t>ethramos74/BDML-PS01</a:t>
            </a:r>
          </a:p>
          <a:p>
            <a:pPr>
              <a:defRPr sz="2025" b="0">
                <a:solidFill>
                  <a:srgbClr val="172F42"/>
                </a:solidFill>
                <a:latin typeface="Arial"/>
                <a:ea typeface="Arial"/>
                <a:cs typeface="Arial"/>
              </a:defRPr>
            </a:pPr>
            <a:r>
              <a:rPr sz="2025" b="0" dirty="0" err="1">
                <a:solidFill>
                  <a:srgbClr val="172F42"/>
                </a:solidFill>
                <a:latin typeface="Arial"/>
                <a:ea typeface="Arial"/>
                <a:cs typeface="Arial"/>
              </a:rPr>
              <a:t>Cifras</a:t>
            </a:r>
            <a:r>
              <a:rPr sz="2025" b="0" dirty="0">
                <a:solidFill>
                  <a:srgbClr val="172F42"/>
                </a:solidFill>
                <a:latin typeface="Arial"/>
                <a:ea typeface="Arial"/>
                <a:cs typeface="Arial"/>
              </a:rPr>
              <a:t> y </a:t>
            </a:r>
            <a:r>
              <a:rPr sz="2025" b="0" dirty="0" err="1">
                <a:solidFill>
                  <a:srgbClr val="172F42"/>
                </a:solidFill>
                <a:latin typeface="Arial"/>
                <a:ea typeface="Arial"/>
                <a:cs typeface="Arial"/>
              </a:rPr>
              <a:t>ecuaciones</a:t>
            </a:r>
            <a:r>
              <a:rPr sz="2025" b="0" dirty="0">
                <a:solidFill>
                  <a:srgbClr val="172F42"/>
                </a:solidFill>
                <a:latin typeface="Arial"/>
                <a:ea typeface="Arial"/>
                <a:cs typeface="Arial"/>
              </a:rPr>
              <a:t> </a:t>
            </a:r>
            <a:r>
              <a:rPr sz="2025" b="0" dirty="0" err="1">
                <a:solidFill>
                  <a:srgbClr val="172F42"/>
                </a:solidFill>
                <a:latin typeface="Arial"/>
                <a:ea typeface="Arial"/>
                <a:cs typeface="Arial"/>
              </a:rPr>
              <a:t>reproducibles</a:t>
            </a:r>
            <a:r>
              <a:rPr sz="2025" b="0" dirty="0">
                <a:solidFill>
                  <a:srgbClr val="172F42"/>
                </a:solidFill>
                <a:latin typeface="Arial"/>
                <a:ea typeface="Arial"/>
                <a:cs typeface="Arial"/>
              </a:rPr>
              <a:t> </a:t>
            </a:r>
            <a:r>
              <a:rPr sz="2025" b="0" dirty="0" err="1">
                <a:solidFill>
                  <a:srgbClr val="172F42"/>
                </a:solidFill>
                <a:latin typeface="Arial"/>
                <a:ea typeface="Arial"/>
                <a:cs typeface="Arial"/>
              </a:rPr>
              <a:t>en</a:t>
            </a:r>
            <a:r>
              <a:rPr sz="2025" b="0" dirty="0">
                <a:solidFill>
                  <a:srgbClr val="172F42"/>
                </a:solidFill>
                <a:latin typeface="Arial"/>
                <a:ea typeface="Arial"/>
                <a:cs typeface="Arial"/>
              </a:rPr>
              <a:t> el </a:t>
            </a:r>
            <a:r>
              <a:rPr sz="2025" b="0" dirty="0" err="1">
                <a:solidFill>
                  <a:srgbClr val="172F42"/>
                </a:solidFill>
                <a:latin typeface="Arial"/>
                <a:ea typeface="Arial"/>
                <a:cs typeface="Arial"/>
              </a:rPr>
              <a:t>cuaderno</a:t>
            </a:r>
            <a:r>
              <a:rPr sz="2025" b="0" dirty="0">
                <a:solidFill>
                  <a:srgbClr val="172F42"/>
                </a:solidFill>
                <a:latin typeface="Arial"/>
                <a:ea typeface="Arial"/>
                <a:cs typeface="Arial"/>
              </a:rPr>
              <a:t> del punto 2.</a:t>
            </a:r>
          </a:p>
        </p:txBody>
      </p:sp>
      <p:sp>
        <p:nvSpPr>
          <p:cNvPr id="19" name="Rectángulo 18">
            <a:extLst>
              <a:ext uri="{FF2B5EF4-FFF2-40B4-BE49-F238E27FC236}">
                <a16:creationId xmlns:a16="http://schemas.microsoft.com/office/drawing/2014/main" id="{190E0B05-749A-35D3-C5A5-407ABE595EF8}"/>
              </a:ext>
            </a:extLst>
          </p:cNvPr>
          <p:cNvSpPr>
            <a:spLocks noGrp="1"/>
          </p:cNvSpPr>
          <p:nvPr/>
        </p:nvSpPr>
        <p:spPr>
          <a:xfrm>
            <a:off x="685800" y="3286125"/>
            <a:ext cx="8096250" cy="400050"/>
          </a:xfrm>
          <a:prstGeom prst="rect">
            <a:avLst/>
          </a:prstGeom>
          <a:noFill/>
          <a:ln w="0">
            <a:noFill/>
          </a:ln>
        </p:spPr>
        <p:txBody>
          <a:bodyPr>
            <a:noAutofit/>
          </a:bodyPr>
          <a:lstStyle/>
          <a:p>
            <a:pPr>
              <a:defRPr sz="1800" b="0">
                <a:solidFill>
                  <a:srgbClr val="172F42"/>
                </a:solidFill>
                <a:latin typeface="Arial"/>
                <a:ea typeface="Arial"/>
                <a:cs typeface="Arial"/>
              </a:defRPr>
            </a:pPr>
            <a:r>
              <a:rPr sz="1800" b="0" dirty="0" err="1">
                <a:solidFill>
                  <a:srgbClr val="172F42"/>
                </a:solidFill>
                <a:latin typeface="Arial"/>
                <a:ea typeface="Arial"/>
                <a:cs typeface="Arial"/>
              </a:rPr>
              <a:t>Integrante</a:t>
            </a:r>
            <a:r>
              <a:rPr sz="1800" b="0" dirty="0">
                <a:solidFill>
                  <a:srgbClr val="172F42"/>
                </a:solidFill>
                <a:latin typeface="Arial"/>
                <a:ea typeface="Arial"/>
                <a:cs typeface="Arial"/>
              </a:rPr>
              <a:t> 1: </a:t>
            </a:r>
            <a:r>
              <a:rPr lang="es-CO" sz="1800" b="0" dirty="0">
                <a:solidFill>
                  <a:srgbClr val="172F42"/>
                </a:solidFill>
                <a:latin typeface="Arial"/>
                <a:ea typeface="Arial"/>
                <a:cs typeface="Arial"/>
              </a:rPr>
              <a:t>Jhon Sebastián Vela Salcedo.</a:t>
            </a:r>
            <a:endParaRPr sz="1800" b="0" dirty="0">
              <a:solidFill>
                <a:srgbClr val="172F42"/>
              </a:solidFill>
              <a:latin typeface="Arial"/>
              <a:ea typeface="Arial"/>
              <a:cs typeface="Arial"/>
            </a:endParaRPr>
          </a:p>
        </p:txBody>
      </p:sp>
      <p:sp>
        <p:nvSpPr>
          <p:cNvPr id="21" name="Rectángulo 20">
            <a:extLst>
              <a:ext uri="{FF2B5EF4-FFF2-40B4-BE49-F238E27FC236}">
                <a16:creationId xmlns:a16="http://schemas.microsoft.com/office/drawing/2014/main" id="{DC0FCB97-427E-9217-40B0-05A798498D16}"/>
              </a:ext>
            </a:extLst>
          </p:cNvPr>
          <p:cNvSpPr>
            <a:spLocks noGrp="1"/>
          </p:cNvSpPr>
          <p:nvPr/>
        </p:nvSpPr>
        <p:spPr>
          <a:xfrm>
            <a:off x="685800" y="3743325"/>
            <a:ext cx="8096250" cy="400050"/>
          </a:xfrm>
          <a:prstGeom prst="rect">
            <a:avLst/>
          </a:prstGeom>
          <a:noFill/>
          <a:ln w="0">
            <a:noFill/>
          </a:ln>
        </p:spPr>
        <p:txBody>
          <a:bodyPr>
            <a:noAutofit/>
          </a:bodyPr>
          <a:lstStyle/>
          <a:p>
            <a:pPr>
              <a:defRPr sz="1800" b="0">
                <a:solidFill>
                  <a:srgbClr val="172F42"/>
                </a:solidFill>
                <a:latin typeface="Arial"/>
                <a:ea typeface="Arial"/>
                <a:cs typeface="Arial"/>
              </a:defRPr>
            </a:pPr>
            <a:r>
              <a:rPr sz="1800" b="0" dirty="0" err="1">
                <a:solidFill>
                  <a:srgbClr val="172F42"/>
                </a:solidFill>
                <a:latin typeface="Arial"/>
                <a:ea typeface="Arial"/>
                <a:cs typeface="Arial"/>
              </a:rPr>
              <a:t>Integrante</a:t>
            </a:r>
            <a:r>
              <a:rPr sz="1800" b="0" dirty="0">
                <a:solidFill>
                  <a:srgbClr val="172F42"/>
                </a:solidFill>
                <a:latin typeface="Arial"/>
                <a:ea typeface="Arial"/>
                <a:cs typeface="Arial"/>
              </a:rPr>
              <a:t> 2: </a:t>
            </a:r>
            <a:r>
              <a:rPr lang="es-CO" sz="1800" b="0" dirty="0">
                <a:solidFill>
                  <a:srgbClr val="172F42"/>
                </a:solidFill>
                <a:latin typeface="Arial"/>
                <a:ea typeface="Arial"/>
                <a:cs typeface="Arial"/>
              </a:rPr>
              <a:t>Ethan Arturo Ramos Benitez.</a:t>
            </a:r>
            <a:endParaRPr sz="1800" b="0" dirty="0">
              <a:solidFill>
                <a:srgbClr val="172F42"/>
              </a:solidFill>
              <a:latin typeface="Arial"/>
              <a:ea typeface="Arial"/>
              <a:cs typeface="Arial"/>
            </a:endParaRPr>
          </a:p>
        </p:txBody>
      </p:sp>
      <p:sp>
        <p:nvSpPr>
          <p:cNvPr id="23" name="Rectángulo 22">
            <a:extLst>
              <a:ext uri="{FF2B5EF4-FFF2-40B4-BE49-F238E27FC236}">
                <a16:creationId xmlns:a16="http://schemas.microsoft.com/office/drawing/2014/main" id="{02913652-0B7B-8AA4-B492-D00EC6ADD7E9}"/>
              </a:ext>
            </a:extLst>
          </p:cNvPr>
          <p:cNvSpPr>
            <a:spLocks noGrp="1"/>
          </p:cNvSpPr>
          <p:nvPr/>
        </p:nvSpPr>
        <p:spPr>
          <a:xfrm>
            <a:off x="685800" y="4200525"/>
            <a:ext cx="8096250" cy="400050"/>
          </a:xfrm>
          <a:prstGeom prst="rect">
            <a:avLst/>
          </a:prstGeom>
          <a:noFill/>
          <a:ln w="0">
            <a:noFill/>
          </a:ln>
        </p:spPr>
        <p:txBody>
          <a:bodyPr>
            <a:noAutofit/>
          </a:bodyPr>
          <a:lstStyle/>
          <a:p>
            <a:pPr>
              <a:defRPr sz="1800" b="0">
                <a:solidFill>
                  <a:srgbClr val="172F42"/>
                </a:solidFill>
                <a:latin typeface="Arial"/>
                <a:ea typeface="Arial"/>
                <a:cs typeface="Arial"/>
              </a:defRPr>
            </a:pPr>
            <a:r>
              <a:rPr sz="1800" b="0" dirty="0" err="1">
                <a:solidFill>
                  <a:srgbClr val="172F42"/>
                </a:solidFill>
                <a:latin typeface="Arial"/>
                <a:ea typeface="Arial"/>
                <a:cs typeface="Arial"/>
              </a:rPr>
              <a:t>Integrante</a:t>
            </a:r>
            <a:r>
              <a:rPr sz="1800" b="0" dirty="0">
                <a:solidFill>
                  <a:srgbClr val="172F42"/>
                </a:solidFill>
                <a:latin typeface="Arial"/>
                <a:ea typeface="Arial"/>
                <a:cs typeface="Arial"/>
              </a:rPr>
              <a:t> 3: </a:t>
            </a:r>
            <a:r>
              <a:rPr lang="es-CO" sz="1800" b="0" dirty="0">
                <a:solidFill>
                  <a:srgbClr val="172F42"/>
                </a:solidFill>
                <a:latin typeface="Arial"/>
                <a:ea typeface="Arial"/>
                <a:cs typeface="Arial"/>
              </a:rPr>
              <a:t>Harold Santiago Aguilera </a:t>
            </a:r>
            <a:r>
              <a:rPr lang="es-CO" sz="1800" b="0" dirty="0" err="1">
                <a:solidFill>
                  <a:srgbClr val="172F42"/>
                </a:solidFill>
                <a:latin typeface="Arial"/>
                <a:ea typeface="Arial"/>
                <a:cs typeface="Arial"/>
              </a:rPr>
              <a:t>Mulfo</a:t>
            </a:r>
            <a:r>
              <a:rPr lang="es-CO" sz="1800" b="0" dirty="0">
                <a:solidFill>
                  <a:srgbClr val="172F42"/>
                </a:solidFill>
                <a:latin typeface="Arial"/>
                <a:ea typeface="Arial"/>
                <a:cs typeface="Arial"/>
              </a:rPr>
              <a:t>.</a:t>
            </a:r>
            <a:endParaRPr sz="1800" b="0" dirty="0">
              <a:solidFill>
                <a:srgbClr val="172F42"/>
              </a:solidFill>
              <a:latin typeface="Arial"/>
              <a:ea typeface="Arial"/>
              <a:cs typeface="Arial"/>
            </a:endParaRPr>
          </a:p>
        </p:txBody>
      </p:sp>
      <p:sp>
        <p:nvSpPr>
          <p:cNvPr id="25" name="Rectángulo 24">
            <a:extLst>
              <a:ext uri="{FF2B5EF4-FFF2-40B4-BE49-F238E27FC236}">
                <a16:creationId xmlns:a16="http://schemas.microsoft.com/office/drawing/2014/main" id="{93E8AEAA-0F05-1626-F531-BD29322F9272}"/>
              </a:ext>
            </a:extLst>
          </p:cNvPr>
          <p:cNvSpPr>
            <a:spLocks noGrp="1"/>
          </p:cNvSpPr>
          <p:nvPr/>
        </p:nvSpPr>
        <p:spPr>
          <a:xfrm>
            <a:off x="685800" y="4657725"/>
            <a:ext cx="8096250" cy="400050"/>
          </a:xfrm>
          <a:prstGeom prst="rect">
            <a:avLst/>
          </a:prstGeom>
          <a:noFill/>
          <a:ln w="0">
            <a:noFill/>
          </a:ln>
        </p:spPr>
        <p:txBody>
          <a:bodyPr>
            <a:noAutofit/>
          </a:bodyPr>
          <a:lstStyle/>
          <a:p>
            <a:pPr>
              <a:defRPr sz="1800" b="0">
                <a:solidFill>
                  <a:srgbClr val="172F42"/>
                </a:solidFill>
                <a:latin typeface="Arial"/>
                <a:ea typeface="Arial"/>
                <a:cs typeface="Arial"/>
              </a:defRPr>
            </a:pPr>
            <a:r>
              <a:rPr sz="1800" b="0" dirty="0" err="1">
                <a:solidFill>
                  <a:srgbClr val="172F42"/>
                </a:solidFill>
                <a:latin typeface="Arial"/>
                <a:ea typeface="Arial"/>
                <a:cs typeface="Arial"/>
              </a:rPr>
              <a:t>Integrante</a:t>
            </a:r>
            <a:r>
              <a:rPr sz="1800" b="0" dirty="0">
                <a:solidFill>
                  <a:srgbClr val="172F42"/>
                </a:solidFill>
                <a:latin typeface="Arial"/>
                <a:ea typeface="Arial"/>
                <a:cs typeface="Arial"/>
              </a:rPr>
              <a:t> 4: </a:t>
            </a:r>
            <a:r>
              <a:rPr lang="es-CO" sz="1800" b="0" dirty="0">
                <a:solidFill>
                  <a:srgbClr val="172F42"/>
                </a:solidFill>
                <a:latin typeface="Arial"/>
                <a:ea typeface="Arial"/>
                <a:cs typeface="Arial"/>
              </a:rPr>
              <a:t>Cesar Augusto Vallejo Quiroga.</a:t>
            </a:r>
            <a:endParaRPr sz="1800" b="0" dirty="0">
              <a:solidFill>
                <a:srgbClr val="172F42"/>
              </a:solidFill>
              <a:latin typeface="Arial"/>
              <a:ea typeface="Arial"/>
              <a:cs typeface="Arial"/>
            </a:endParaRPr>
          </a:p>
        </p:txBody>
      </p:sp>
    </p:spTree>
    <p:extLst>
      <p:ext uri="{BB962C8B-B14F-4D97-AF65-F5344CB8AC3E}">
        <p14:creationId xmlns:p14="http://schemas.microsoft.com/office/powerpoint/2010/main" val="1785810786"/>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212</TotalTime>
  <Words>3078</Words>
  <Application>Microsoft Office PowerPoint</Application>
  <DocSecurity>0</DocSecurity>
  <PresentationFormat>Panorámica</PresentationFormat>
  <Paragraphs>377</Paragraphs>
  <Slides>16</Slides>
  <Notes>13</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16</vt:i4>
      </vt:variant>
    </vt:vector>
  </HeadingPairs>
  <TitlesOfParts>
    <vt:vector size="20" baseType="lpstr">
      <vt:lpstr>Arial</vt:lpstr>
      <vt:lpstr>Calibri</vt:lpstr>
      <vt:lpstr>Cambria Math</vt:lpstr>
      <vt:lpstr>ChatGPT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Jhon Sebastián Vela Salcedo.</cp:lastModifiedBy>
  <cp:revision>6</cp:revision>
  <dcterms:created xsi:type="dcterms:W3CDTF">2026-09-08T21:14:00Z</dcterms:created>
  <dcterms:modified xsi:type="dcterms:W3CDTF">2026-09-09T20:59:15Z</dcterms:modified>
</cp:coreProperties>
</file>