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3.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71" r:id="rId3"/>
    <p:sldId id="273" r:id="rId4"/>
    <p:sldId id="257" r:id="rId5"/>
    <p:sldId id="258" r:id="rId6"/>
    <p:sldId id="259" r:id="rId7"/>
    <p:sldId id="260" r:id="rId8"/>
    <p:sldId id="261" r:id="rId9"/>
    <p:sldId id="262" r:id="rId10"/>
    <p:sldId id="274" r:id="rId11"/>
    <p:sldId id="263" r:id="rId12"/>
    <p:sldId id="264" r:id="rId13"/>
    <p:sldId id="265" r:id="rId14"/>
    <p:sldId id="266" r:id="rId15"/>
    <p:sldId id="275" r:id="rId16"/>
    <p:sldId id="267" r:id="rId17"/>
    <p:sldId id="268" r:id="rId18"/>
    <p:sldId id="269" r:id="rId19"/>
    <p:sldId id="270" r:id="rId20"/>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550F9F-627A-44A3-A2AC-8B4DF5D0A9DF}" v="2" dt="2026-09-09T22:08:41.5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3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hon Sebastian Vela Salcedo" userId="f923b55c-de67-42b2-8cb5-3052cf7a683d" providerId="ADAL" clId="{0C2953E3-6A22-4E9D-BB61-DD3E3E222FE1}"/>
    <pc:docChg chg="custSel addSld modSld">
      <pc:chgData name="Jhon Sebastian Vela Salcedo" userId="f923b55c-de67-42b2-8cb5-3052cf7a683d" providerId="ADAL" clId="{0C2953E3-6A22-4E9D-BB61-DD3E3E222FE1}" dt="2026-09-09T22:22:52.416" v="606" actId="14100"/>
      <pc:docMkLst>
        <pc:docMk/>
      </pc:docMkLst>
      <pc:sldChg chg="mod">
        <pc:chgData name="Jhon Sebastian Vela Salcedo" userId="f923b55c-de67-42b2-8cb5-3052cf7a683d" providerId="ADAL" clId="{0C2953E3-6A22-4E9D-BB61-DD3E3E222FE1}" dt="2026-09-09T22:08:00.934" v="5" actId="27918"/>
        <pc:sldMkLst>
          <pc:docMk/>
          <pc:sldMk cId="1225544089" sldId="264"/>
        </pc:sldMkLst>
      </pc:sldChg>
      <pc:sldChg chg="modSp mod">
        <pc:chgData name="Jhon Sebastian Vela Salcedo" userId="f923b55c-de67-42b2-8cb5-3052cf7a683d" providerId="ADAL" clId="{0C2953E3-6A22-4E9D-BB61-DD3E3E222FE1}" dt="2026-09-09T22:22:52.416" v="606" actId="14100"/>
        <pc:sldMkLst>
          <pc:docMk/>
          <pc:sldMk cId="1980235137" sldId="266"/>
        </pc:sldMkLst>
        <pc:spChg chg="mod">
          <ac:chgData name="Jhon Sebastian Vela Salcedo" userId="f923b55c-de67-42b2-8cb5-3052cf7a683d" providerId="ADAL" clId="{0C2953E3-6A22-4E9D-BB61-DD3E3E222FE1}" dt="2026-09-09T22:22:52.416" v="606" actId="14100"/>
          <ac:spMkLst>
            <pc:docMk/>
            <pc:sldMk cId="1980235137" sldId="266"/>
            <ac:spMk id="4" creationId="{D9DFA558-C0F0-4EDE-8EDF-8876C63DA48E}"/>
          </ac:spMkLst>
        </pc:spChg>
        <pc:spChg chg="mod">
          <ac:chgData name="Jhon Sebastian Vela Salcedo" userId="f923b55c-de67-42b2-8cb5-3052cf7a683d" providerId="ADAL" clId="{0C2953E3-6A22-4E9D-BB61-DD3E3E222FE1}" dt="2026-09-09T22:10:41.351" v="73" actId="20577"/>
          <ac:spMkLst>
            <pc:docMk/>
            <pc:sldMk cId="1980235137" sldId="266"/>
            <ac:spMk id="6" creationId="{73998A8D-A899-4112-879D-60283EE23C42}"/>
          </ac:spMkLst>
        </pc:spChg>
      </pc:sldChg>
      <pc:sldChg chg="modSp mod">
        <pc:chgData name="Jhon Sebastian Vela Salcedo" userId="f923b55c-de67-42b2-8cb5-3052cf7a683d" providerId="ADAL" clId="{0C2953E3-6A22-4E9D-BB61-DD3E3E222FE1}" dt="2026-09-09T21:57:45.056" v="2"/>
        <pc:sldMkLst>
          <pc:docMk/>
          <pc:sldMk cId="1388624640" sldId="270"/>
        </pc:sldMkLst>
        <pc:spChg chg="mod">
          <ac:chgData name="Jhon Sebastian Vela Salcedo" userId="f923b55c-de67-42b2-8cb5-3052cf7a683d" providerId="ADAL" clId="{0C2953E3-6A22-4E9D-BB61-DD3E3E222FE1}" dt="2026-09-09T21:57:33.218" v="1" actId="20577"/>
          <ac:spMkLst>
            <pc:docMk/>
            <pc:sldMk cId="1388624640" sldId="270"/>
            <ac:spMk id="2" creationId="{F08DD965-01A0-4EAD-B1AD-150B83BBC4A2}"/>
          </ac:spMkLst>
        </pc:spChg>
        <pc:spChg chg="mod">
          <ac:chgData name="Jhon Sebastian Vela Salcedo" userId="f923b55c-de67-42b2-8cb5-3052cf7a683d" providerId="ADAL" clId="{0C2953E3-6A22-4E9D-BB61-DD3E3E222FE1}" dt="2026-09-09T21:57:45.056" v="2"/>
          <ac:spMkLst>
            <pc:docMk/>
            <pc:sldMk cId="1388624640" sldId="270"/>
            <ac:spMk id="4" creationId="{073D3BF3-DFB8-4393-A65E-FCF155A7509A}"/>
          </ac:spMkLst>
        </pc:spChg>
      </pc:sldChg>
      <pc:sldChg chg="modSp add mod setBg">
        <pc:chgData name="Jhon Sebastian Vela Salcedo" userId="f923b55c-de67-42b2-8cb5-3052cf7a683d" providerId="ADAL" clId="{0C2953E3-6A22-4E9D-BB61-DD3E3E222FE1}" dt="2026-09-09T22:09:18.217" v="49" actId="20577"/>
        <pc:sldMkLst>
          <pc:docMk/>
          <pc:sldMk cId="788192904" sldId="275"/>
        </pc:sldMkLst>
        <pc:spChg chg="mod">
          <ac:chgData name="Jhon Sebastian Vela Salcedo" userId="f923b55c-de67-42b2-8cb5-3052cf7a683d" providerId="ADAL" clId="{0C2953E3-6A22-4E9D-BB61-DD3E3E222FE1}" dt="2026-09-09T22:09:18.217" v="49" actId="20577"/>
          <ac:spMkLst>
            <pc:docMk/>
            <pc:sldMk cId="788192904" sldId="275"/>
            <ac:spMk id="4" creationId="{FFCC8E15-E4DA-96C7-292B-74929E99BF14}"/>
          </ac:spMkLst>
        </pc:spChg>
        <pc:spChg chg="mod">
          <ac:chgData name="Jhon Sebastian Vela Salcedo" userId="f923b55c-de67-42b2-8cb5-3052cf7a683d" providerId="ADAL" clId="{0C2953E3-6A22-4E9D-BB61-DD3E3E222FE1}" dt="2026-09-09T22:09:06.155" v="29" actId="20577"/>
          <ac:spMkLst>
            <pc:docMk/>
            <pc:sldMk cId="788192904" sldId="275"/>
            <ac:spMk id="6" creationId="{BD26E228-0F7C-2B86-0013-8528E0B7D0FD}"/>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0"/>
        <c:ser>
          <c:idx val="0"/>
          <c:order val="0"/>
          <c:tx>
            <c:v>Aumento del RMSE</c:v>
          </c:tx>
          <c:spPr>
            <a:solidFill>
              <a:srgbClr val="1463AE"/>
            </a:solidFill>
          </c:spPr>
          <c:invertIfNegative val="1"/>
          <c:cat>
            <c:strRef>
              <c:f>'Chart Data'!$A$2:$A$8</c:f>
              <c:strCache>
                <c:ptCount val="7"/>
                <c:pt idx="0">
                  <c:v>Horas totales de Trabajo</c:v>
                </c:pt>
                <c:pt idx="1">
                  <c:v>Años de educación</c:v>
                </c:pt>
                <c:pt idx="2">
                  <c:v>Grupo de ocupación</c:v>
                </c:pt>
                <c:pt idx="3">
                  <c:v>Estrato</c:v>
                </c:pt>
                <c:pt idx="4">
                  <c:v>Ocupación detallada</c:v>
                </c:pt>
                <c:pt idx="5">
                  <c:v>Vínculo laboral</c:v>
                </c:pt>
                <c:pt idx="6">
                  <c:v>Tamaño de firma</c:v>
                </c:pt>
              </c:strCache>
            </c:strRef>
          </c:cat>
          <c:val>
            <c:numRef>
              <c:f>'Chart Data'!$B$2:$B$8</c:f>
              <c:numCache>
                <c:formatCode>General</c:formatCode>
                <c:ptCount val="7"/>
                <c:pt idx="0">
                  <c:v>0.10717728036599999</c:v>
                </c:pt>
                <c:pt idx="1">
                  <c:v>9.7817424850299997E-2</c:v>
                </c:pt>
                <c:pt idx="2">
                  <c:v>7.3608629414499999E-2</c:v>
                </c:pt>
                <c:pt idx="3">
                  <c:v>6.3876390444899997E-2</c:v>
                </c:pt>
                <c:pt idx="4">
                  <c:v>3.9551140754500003E-2</c:v>
                </c:pt>
                <c:pt idx="5">
                  <c:v>3.7559112364499998E-2</c:v>
                </c:pt>
                <c:pt idx="6">
                  <c:v>2.4270759620600001E-2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DDF-4369-92DC-E45FC1433BF0}"/>
            </c:ext>
          </c:extLst>
        </c:ser>
        <c:dLbls>
          <c:showLegendKey val="0"/>
          <c:showVal val="0"/>
          <c:showCatName val="0"/>
          <c:showSerName val="0"/>
          <c:showPercent val="0"/>
          <c:showBubbleSize val="0"/>
        </c:dLbls>
        <c:gapWidth val="7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sz="1425">
                <a:solidFill>
                  <a:srgbClr val="666666"/>
                </a:solidFill>
                <a:latin typeface="Arial"/>
                <a:ea typeface="Arial"/>
                <a:cs typeface="Arial"/>
              </a:defRPr>
            </a:pPr>
            <a:endParaRPr lang="es-CO"/>
          </a:p>
        </c:txPr>
        <c:crossAx val="48672768"/>
        <c:crosses val="autoZero"/>
        <c:auto val="1"/>
        <c:lblAlgn val="ctr"/>
        <c:lblOffset val="100"/>
        <c:noMultiLvlLbl val="1"/>
      </c:catAx>
      <c:valAx>
        <c:axId val="48672768"/>
        <c:scaling>
          <c:orientation val="minMax"/>
        </c:scaling>
        <c:delete val="0"/>
        <c:axPos val="b"/>
        <c:majorGridlines>
          <c:spPr>
            <a:ln w="5715">
              <a:solidFill>
                <a:srgbClr val="E6EBEF"/>
              </a:solidFill>
            </a:ln>
          </c:spPr>
        </c:majorGridlines>
        <c:title>
          <c:tx>
            <c:rich>
              <a:bodyPr/>
              <a:lstStyle/>
              <a:p>
                <a:r>
                  <a:rPr lang="it-IT">
                    <a:latin typeface="Arial"/>
                    <a:ea typeface="Arial"/>
                    <a:cs typeface="Arial"/>
                  </a:rPr>
                  <a:t>Aumento del RMSE al permutar</a:t>
                </a:r>
              </a:p>
            </c:rich>
          </c:tx>
          <c:overlay val="0"/>
        </c:title>
        <c:numFmt formatCode="General" sourceLinked="1"/>
        <c:majorTickMark val="none"/>
        <c:minorTickMark val="none"/>
        <c:tickLblPos val="low"/>
        <c:spPr>
          <a:ln w="9525">
            <a:solidFill>
              <a:srgbClr val="D4D4D4"/>
            </a:solidFill>
            <a:prstDash val="solid"/>
          </a:ln>
        </c:spPr>
        <c:txPr>
          <a:bodyPr anchorCtr="1"/>
          <a:lstStyle/>
          <a:p>
            <a:pPr>
              <a:defRPr sz="1425">
                <a:solidFill>
                  <a:srgbClr val="666666"/>
                </a:solidFill>
                <a:latin typeface="Arial"/>
                <a:ea typeface="Arial"/>
                <a:cs typeface="Arial"/>
              </a:defRPr>
            </a:pPr>
            <a:endParaRPr lang="es-CO"/>
          </a:p>
        </c:txPr>
        <c:crossAx val="48650112"/>
        <c:crosses val="autoZero"/>
        <c:crossBetween val="between"/>
      </c:valAx>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scatterChart>
        <c:scatterStyle val="lineMarker"/>
        <c:varyColors val="0"/>
        <c:ser>
          <c:idx val="0"/>
          <c:order val="0"/>
          <c:tx>
            <c:v>Predicción media</c:v>
          </c:tx>
          <c:spPr>
            <a:ln w="24765">
              <a:solidFill>
                <a:srgbClr val="1463AE"/>
              </a:solidFill>
              <a:prstDash val="solid"/>
            </a:ln>
          </c:spPr>
          <c:marker>
            <c:symbol val="none"/>
          </c:marker>
          <c:xVal>
            <c:numRef>
              <c:f>'Chart Data'!$A$2:$A$13</c:f>
              <c:numCache>
                <c:formatCode>General</c:formatCode>
                <c:ptCount val="12"/>
                <c:pt idx="0">
                  <c:v>18</c:v>
                </c:pt>
                <c:pt idx="1">
                  <c:v>27</c:v>
                </c:pt>
                <c:pt idx="2">
                  <c:v>35</c:v>
                </c:pt>
                <c:pt idx="3">
                  <c:v>40</c:v>
                </c:pt>
                <c:pt idx="4">
                  <c:v>44</c:v>
                </c:pt>
                <c:pt idx="5">
                  <c:v>48</c:v>
                </c:pt>
                <c:pt idx="6">
                  <c:v>50</c:v>
                </c:pt>
                <c:pt idx="7">
                  <c:v>54</c:v>
                </c:pt>
                <c:pt idx="8">
                  <c:v>57.2</c:v>
                </c:pt>
                <c:pt idx="9">
                  <c:v>60</c:v>
                </c:pt>
                <c:pt idx="10">
                  <c:v>70</c:v>
                </c:pt>
                <c:pt idx="11">
                  <c:v>72</c:v>
                </c:pt>
              </c:numCache>
            </c:numRef>
          </c:xVal>
          <c:yVal>
            <c:numRef>
              <c:f>'Chart Data'!$B$2:$B$13</c:f>
              <c:numCache>
                <c:formatCode>0.0</c:formatCode>
                <c:ptCount val="12"/>
                <c:pt idx="0">
                  <c:v>13.2760887349</c:v>
                </c:pt>
                <c:pt idx="1">
                  <c:v>13.603862399</c:v>
                </c:pt>
                <c:pt idx="2">
                  <c:v>13.807788127</c:v>
                </c:pt>
                <c:pt idx="3">
                  <c:v>13.878685643900001</c:v>
                </c:pt>
                <c:pt idx="4">
                  <c:v>13.905333283899999</c:v>
                </c:pt>
                <c:pt idx="5">
                  <c:v>13.939667802600001</c:v>
                </c:pt>
                <c:pt idx="6">
                  <c:v>13.960275833200001</c:v>
                </c:pt>
                <c:pt idx="7">
                  <c:v>13.9797758587</c:v>
                </c:pt>
                <c:pt idx="8">
                  <c:v>13.989409354099999</c:v>
                </c:pt>
                <c:pt idx="9">
                  <c:v>13.998654911599999</c:v>
                </c:pt>
                <c:pt idx="10">
                  <c:v>14.0370508233</c:v>
                </c:pt>
                <c:pt idx="11">
                  <c:v>14.045505551</c:v>
                </c:pt>
              </c:numCache>
            </c:numRef>
          </c:yVal>
          <c:smooth val="0"/>
          <c:extLst>
            <c:ext xmlns:c16="http://schemas.microsoft.com/office/drawing/2014/chart" uri="{C3380CC4-5D6E-409C-BE32-E72D297353CC}">
              <c16:uniqueId val="{00000000-1D1A-4180-9A68-33B70C85E937}"/>
            </c:ext>
          </c:extLst>
        </c:ser>
        <c:dLbls>
          <c:showLegendKey val="0"/>
          <c:showVal val="0"/>
          <c:showCatName val="0"/>
          <c:showSerName val="0"/>
          <c:showPercent val="0"/>
          <c:showBubbleSize val="0"/>
        </c:dLbls>
        <c:axId val="48650112"/>
        <c:axId val="48672768"/>
      </c:scatterChart>
      <c:valAx>
        <c:axId val="48672768"/>
        <c:scaling>
          <c:orientation val="minMax"/>
        </c:scaling>
        <c:delete val="0"/>
        <c:axPos val="l"/>
        <c:majorGridlines>
          <c:spPr>
            <a:ln w="5715">
              <a:solidFill>
                <a:srgbClr val="E6EBEF"/>
              </a:solidFill>
            </a:ln>
          </c:spPr>
        </c:majorGridlines>
        <c:title>
          <c:tx>
            <c:rich>
              <a:bodyPr/>
              <a:lstStyle/>
              <a:p>
                <a:r>
                  <a:rPr lang="es-ES">
                    <a:latin typeface="Arial"/>
                    <a:ea typeface="Arial"/>
                    <a:cs typeface="Arial"/>
                  </a:rPr>
                  <a:t>Predicción media de log ingreso</a:t>
                </a:r>
              </a:p>
            </c:rich>
          </c:tx>
          <c:overlay val="0"/>
        </c:title>
        <c:numFmt formatCode="0.0" sourceLinked="1"/>
        <c:majorTickMark val="none"/>
        <c:minorTickMark val="none"/>
        <c:tickLblPos val="low"/>
        <c:spPr>
          <a:ln w="9525">
            <a:solidFill>
              <a:srgbClr val="D4D4D4"/>
            </a:solidFill>
            <a:prstDash val="solid"/>
          </a:ln>
        </c:spPr>
        <c:txPr>
          <a:bodyPr anchorCtr="1"/>
          <a:lstStyle/>
          <a:p>
            <a:pPr>
              <a:defRPr sz="1425">
                <a:solidFill>
                  <a:srgbClr val="666666"/>
                </a:solidFill>
                <a:latin typeface="Arial"/>
                <a:ea typeface="Arial"/>
                <a:cs typeface="Arial"/>
              </a:defRPr>
            </a:pPr>
            <a:endParaRPr lang="es-CO"/>
          </a:p>
        </c:txPr>
        <c:crossAx val="48650112"/>
        <c:crosses val="autoZero"/>
        <c:crossBetween val="midCat"/>
      </c:valAx>
      <c:valAx>
        <c:axId val="48650112"/>
        <c:scaling>
          <c:orientation val="minMax"/>
          <c:max val="78"/>
          <c:min val="18"/>
        </c:scaling>
        <c:delete val="0"/>
        <c:axPos val="b"/>
        <c:title>
          <c:tx>
            <c:rich>
              <a:bodyPr/>
              <a:lstStyle/>
              <a:p>
                <a:r>
                  <a:rPr lang="es-CO">
                    <a:latin typeface="Arial"/>
                    <a:ea typeface="Arial"/>
                    <a:cs typeface="Arial"/>
                  </a:rPr>
                  <a:t>Horas totales trabajadas</a:t>
                </a:r>
              </a:p>
            </c:rich>
          </c:tx>
          <c:overlay val="0"/>
        </c:title>
        <c:numFmt formatCode="General" sourceLinked="1"/>
        <c:majorTickMark val="none"/>
        <c:minorTickMark val="none"/>
        <c:tickLblPos val="low"/>
        <c:spPr>
          <a:ln w="9525">
            <a:solidFill>
              <a:srgbClr val="D4D4D4"/>
            </a:solidFill>
            <a:prstDash val="solid"/>
          </a:ln>
        </c:spPr>
        <c:txPr>
          <a:bodyPr anchorCtr="1"/>
          <a:lstStyle/>
          <a:p>
            <a:pPr>
              <a:defRPr sz="1425">
                <a:solidFill>
                  <a:srgbClr val="666666"/>
                </a:solidFill>
                <a:latin typeface="Arial"/>
                <a:ea typeface="Arial"/>
                <a:cs typeface="Arial"/>
              </a:defRPr>
            </a:pPr>
            <a:endParaRPr lang="es-CO"/>
          </a:p>
        </c:txPr>
        <c:crossAx val="48672768"/>
        <c:crosses val="autoZero"/>
        <c:crossBetween val="midCat"/>
        <c:majorUnit val="10"/>
      </c:valAx>
    </c:plotArea>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scatterChart>
        <c:scatterStyle val="lineMarker"/>
        <c:varyColors val="0"/>
        <c:ser>
          <c:idx val="0"/>
          <c:order val="0"/>
          <c:tx>
            <c:v>LOOCV</c:v>
          </c:tx>
          <c:spPr>
            <a:ln w="24765">
              <a:solidFill>
                <a:srgbClr val="1463AE"/>
              </a:solidFill>
              <a:prstDash val="solid"/>
            </a:ln>
          </c:spPr>
          <c:marker>
            <c:symbol val="none"/>
          </c:marker>
          <c:xVal>
            <c:numRef>
              <c:f>'Chart Data'!$A$2:$A$26</c:f>
              <c:numCache>
                <c:formatCode>General</c:formatCode>
                <c:ptCount val="25"/>
                <c:pt idx="0">
                  <c:v>-2</c:v>
                </c:pt>
                <c:pt idx="1">
                  <c:v>-1.75</c:v>
                </c:pt>
                <c:pt idx="2">
                  <c:v>-1.5</c:v>
                </c:pt>
                <c:pt idx="3">
                  <c:v>-1.25</c:v>
                </c:pt>
                <c:pt idx="4">
                  <c:v>-1</c:v>
                </c:pt>
                <c:pt idx="5">
                  <c:v>-0.75</c:v>
                </c:pt>
                <c:pt idx="6">
                  <c:v>-0.5</c:v>
                </c:pt>
                <c:pt idx="7">
                  <c:v>-0.25</c:v>
                </c:pt>
                <c:pt idx="8">
                  <c:v>0</c:v>
                </c:pt>
                <c:pt idx="9">
                  <c:v>0.25</c:v>
                </c:pt>
                <c:pt idx="10">
                  <c:v>0.5</c:v>
                </c:pt>
                <c:pt idx="11">
                  <c:v>0.75</c:v>
                </c:pt>
                <c:pt idx="12">
                  <c:v>1</c:v>
                </c:pt>
                <c:pt idx="13">
                  <c:v>1.25</c:v>
                </c:pt>
                <c:pt idx="14">
                  <c:v>1.5</c:v>
                </c:pt>
                <c:pt idx="15">
                  <c:v>1.75</c:v>
                </c:pt>
                <c:pt idx="16">
                  <c:v>2</c:v>
                </c:pt>
                <c:pt idx="17">
                  <c:v>2.25</c:v>
                </c:pt>
                <c:pt idx="18">
                  <c:v>2.5</c:v>
                </c:pt>
                <c:pt idx="19">
                  <c:v>2.75</c:v>
                </c:pt>
                <c:pt idx="20">
                  <c:v>3</c:v>
                </c:pt>
                <c:pt idx="21">
                  <c:v>3.25</c:v>
                </c:pt>
                <c:pt idx="22">
                  <c:v>3.5</c:v>
                </c:pt>
                <c:pt idx="23">
                  <c:v>3.75</c:v>
                </c:pt>
                <c:pt idx="24">
                  <c:v>4</c:v>
                </c:pt>
              </c:numCache>
            </c:numRef>
          </c:xVal>
          <c:yVal>
            <c:numRef>
              <c:f>'Chart Data'!$B$2:$B$26</c:f>
              <c:numCache>
                <c:formatCode>0.000</c:formatCode>
                <c:ptCount val="25"/>
                <c:pt idx="0">
                  <c:v>0.50695618478100002</c:v>
                </c:pt>
                <c:pt idx="1">
                  <c:v>0.50666194550200006</c:v>
                </c:pt>
                <c:pt idx="2">
                  <c:v>0.50640420047800005</c:v>
                </c:pt>
                <c:pt idx="3">
                  <c:v>0.50619707302700001</c:v>
                </c:pt>
                <c:pt idx="4">
                  <c:v>0.50604766511599997</c:v>
                </c:pt>
                <c:pt idx="5">
                  <c:v>0.50595034451499998</c:v>
                </c:pt>
                <c:pt idx="6">
                  <c:v>0.505894281748</c:v>
                </c:pt>
                <c:pt idx="7">
                  <c:v>0.50586890584999999</c:v>
                </c:pt>
                <c:pt idx="8">
                  <c:v>0.50586301240200005</c:v>
                </c:pt>
                <c:pt idx="9">
                  <c:v>0.505862980746</c:v>
                </c:pt>
                <c:pt idx="10">
                  <c:v>0.50585452000700004</c:v>
                </c:pt>
                <c:pt idx="11">
                  <c:v>0.50582392734399995</c:v>
                </c:pt>
                <c:pt idx="12">
                  <c:v>0.50575979600099996</c:v>
                </c:pt>
                <c:pt idx="13">
                  <c:v>0.50566071199499996</c:v>
                </c:pt>
                <c:pt idx="14">
                  <c:v>0.50554366214199997</c:v>
                </c:pt>
                <c:pt idx="15">
                  <c:v>0.50544296898300001</c:v>
                </c:pt>
                <c:pt idx="16">
                  <c:v>0.50540043141900004</c:v>
                </c:pt>
                <c:pt idx="17">
                  <c:v>0.50546106340200003</c:v>
                </c:pt>
                <c:pt idx="18">
                  <c:v>0.50568911703599995</c:v>
                </c:pt>
                <c:pt idx="19">
                  <c:v>0.50620602089699995</c:v>
                </c:pt>
                <c:pt idx="20">
                  <c:v>0.50724016123399995</c:v>
                </c:pt>
                <c:pt idx="21">
                  <c:v>0.50917399850900003</c:v>
                </c:pt>
                <c:pt idx="22">
                  <c:v>0.51259884265400002</c:v>
                </c:pt>
                <c:pt idx="23">
                  <c:v>0.51840678564499998</c:v>
                </c:pt>
                <c:pt idx="24">
                  <c:v>0.52794812335600005</c:v>
                </c:pt>
              </c:numCache>
            </c:numRef>
          </c:yVal>
          <c:smooth val="0"/>
          <c:extLst>
            <c:ext xmlns:c16="http://schemas.microsoft.com/office/drawing/2014/chart" uri="{C3380CC4-5D6E-409C-BE32-E72D297353CC}">
              <c16:uniqueId val="{00000000-915D-4FE3-A628-066687FC37C1}"/>
            </c:ext>
          </c:extLst>
        </c:ser>
        <c:dLbls>
          <c:showLegendKey val="0"/>
          <c:showVal val="0"/>
          <c:showCatName val="0"/>
          <c:showSerName val="0"/>
          <c:showPercent val="0"/>
          <c:showBubbleSize val="0"/>
        </c:dLbls>
        <c:axId val="48650112"/>
        <c:axId val="48672768"/>
      </c:scatterChart>
      <c:valAx>
        <c:axId val="48672768"/>
        <c:scaling>
          <c:orientation val="minMax"/>
        </c:scaling>
        <c:delete val="0"/>
        <c:axPos val="l"/>
        <c:majorGridlines>
          <c:spPr>
            <a:ln w="5715">
              <a:solidFill>
                <a:srgbClr val="E6EBEF"/>
              </a:solidFill>
            </a:ln>
          </c:spPr>
        </c:majorGridlines>
        <c:title>
          <c:tx>
            <c:rich>
              <a:bodyPr/>
              <a:lstStyle/>
              <a:p>
                <a:r>
                  <a:rPr lang="es-CO">
                    <a:latin typeface="Arial"/>
                    <a:ea typeface="Arial"/>
                    <a:cs typeface="Arial"/>
                  </a:rPr>
                  <a:t>RMSE LOOCV</a:t>
                </a:r>
              </a:p>
            </c:rich>
          </c:tx>
          <c:overlay val="0"/>
        </c:title>
        <c:numFmt formatCode="0.000" sourceLinked="1"/>
        <c:majorTickMark val="none"/>
        <c:minorTickMark val="none"/>
        <c:tickLblPos val="low"/>
        <c:spPr>
          <a:ln w="9525">
            <a:solidFill>
              <a:srgbClr val="D4D4D4"/>
            </a:solidFill>
            <a:prstDash val="solid"/>
          </a:ln>
        </c:spPr>
        <c:txPr>
          <a:bodyPr anchorCtr="1"/>
          <a:lstStyle/>
          <a:p>
            <a:pPr>
              <a:defRPr sz="1425">
                <a:solidFill>
                  <a:srgbClr val="666666"/>
                </a:solidFill>
                <a:latin typeface="Arial"/>
                <a:ea typeface="Arial"/>
                <a:cs typeface="Arial"/>
              </a:defRPr>
            </a:pPr>
            <a:endParaRPr lang="es-CO"/>
          </a:p>
        </c:txPr>
        <c:crossAx val="48650112"/>
        <c:crosses val="autoZero"/>
        <c:crossBetween val="midCat"/>
      </c:valAx>
      <c:valAx>
        <c:axId val="48650112"/>
        <c:scaling>
          <c:orientation val="minMax"/>
          <c:max val="4"/>
          <c:min val="-2"/>
        </c:scaling>
        <c:delete val="0"/>
        <c:axPos val="b"/>
        <c:title>
          <c:tx>
            <c:rich>
              <a:bodyPr/>
              <a:lstStyle/>
              <a:p>
                <a:r>
                  <a:rPr lang="es-CO">
                    <a:latin typeface="Arial"/>
                    <a:ea typeface="Arial"/>
                    <a:cs typeface="Arial"/>
                  </a:rPr>
                  <a:t>log₁₀(</a:t>
                </a:r>
                <a:r>
                  <a:rPr lang="el-GR">
                    <a:latin typeface="Arial"/>
                    <a:ea typeface="Arial"/>
                    <a:cs typeface="Arial"/>
                  </a:rPr>
                  <a:t>λ)</a:t>
                </a:r>
              </a:p>
            </c:rich>
          </c:tx>
          <c:overlay val="0"/>
        </c:title>
        <c:numFmt formatCode="General" sourceLinked="1"/>
        <c:majorTickMark val="none"/>
        <c:minorTickMark val="none"/>
        <c:tickLblPos val="low"/>
        <c:spPr>
          <a:ln w="9525">
            <a:solidFill>
              <a:srgbClr val="D4D4D4"/>
            </a:solidFill>
            <a:prstDash val="solid"/>
          </a:ln>
        </c:spPr>
        <c:txPr>
          <a:bodyPr anchorCtr="1"/>
          <a:lstStyle/>
          <a:p>
            <a:pPr>
              <a:defRPr sz="1425">
                <a:solidFill>
                  <a:srgbClr val="666666"/>
                </a:solidFill>
                <a:latin typeface="Arial"/>
                <a:ea typeface="Arial"/>
                <a:cs typeface="Arial"/>
              </a:defRPr>
            </a:pPr>
            <a:endParaRPr lang="es-CO"/>
          </a:p>
        </c:txPr>
        <c:crossAx val="48672768"/>
        <c:crosses val="autoZero"/>
        <c:crossBetween val="midCat"/>
        <c:majorUnit val="1"/>
      </c:valAx>
    </c:plotArea>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Recorrido principal. Tiempo orientativo: 1 a 2 minutos.</a:t>
            </a:r>
          </a:p>
          <a:p>
            <a:endParaRPr/>
          </a:p>
          <a:p>
            <a:r>
              <a:t>Abrir con el modelo elegido por RMSE de validación. R6 es ridge con selección hacia atrás. La mejora frente al modelo condicional de edad reestimado con fex_c es de 33,66%. R5 y R7 casi empatan. La validación participa en elegir el ganador, así que su mínimo no es una prueba independiente.</a:t>
            </a:r>
          </a:p>
          <a:p>
            <a:endParaRPr/>
          </a:p>
          <a:p>
            <a:r>
              <a:t>Fuentes:</a:t>
            </a:r>
          </a:p>
          <a:p>
            <a:r>
              <a:t>https://github.com/SebastianVela/BigData_Taller_1/blob/37b80b9fdfadaed31cada47698c354f0405120f7/punto3_prediccion_ingreso/salidas/rmse_especificaciones.csv</a:t>
            </a:r>
          </a:p>
          <a:p>
            <a:endParaRPr/>
          </a:p>
          <a:p>
            <a:r>
              <a:t>Los totales suman fex_c original. El IC del total no está disponible por información insuficiente del diseño. Los IC de estimadores usan la aproximación por personas del cuaderno.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Anexo de consulta.</a:t>
            </a:r>
          </a:p>
          <a:p>
            <a:endParaRPr/>
          </a:p>
          <a:p>
            <a:r>
              <a:t>Los diez bloques contienen 32.177 registros. Se parte de ocupados de 18 años o más y se exige ingreso positivo observado para tomar logaritmos. No se imputan ingresos ni se recortan extremos en la muestra principal. Los factores suman la población cubierta, sin corregir automáticamente la no respuesta.</a:t>
            </a:r>
          </a:p>
          <a:p>
            <a:endParaRPr/>
          </a:p>
          <a:p>
            <a:r>
              <a:t>Fuentes:</a:t>
            </a:r>
          </a:p>
          <a:p>
            <a:r>
              <a:t>https://github.com/SebastianVela/BigData_Taller_1/blob/37b80b9fdfadaed31cada47698c354f0405120f7/datos/auditoria/poblacion_ambitos.csv</a:t>
            </a:r>
          </a:p>
          <a:p>
            <a:endParaRPr/>
          </a:p>
          <a:p>
            <a:r>
              <a:t>Los totales suman fex_c original. El IC del total no está disponible por información insuficiente del diseño. Los IC de estimadores usan la aproximación por personas del cuaderno.</a:t>
            </a:r>
          </a:p>
          <a:p>
            <a:endParaRPr/>
          </a:p>
          <a:p>
            <a:r>
              <a:t>LaTeX de referencia:</a:t>
            </a:r>
          </a:p>
          <a:p>
            <a:r>
              <a:t>n=\sum_i 1,\quad\hat N=\sum_i w_i,\quad w_i=\mathrm{fex\_c}_i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Recorrido principal. Tiempo orientativo: 1 a 2 minutos.</a:t>
            </a:r>
          </a:p>
          <a:p>
            <a:endParaRPr/>
          </a:p>
          <a:p>
            <a:r>
              <a:t>El enunciado fija bloques 1 a 7 para entrenamiento y 8 a 10 para validación. La muestra es la misma del análisis de género. No se usan ingresos de validación para ajustar coeficientes. Se usa validación para comparar los 24 modelos, por tanto se necesitaría un nuevo test para evaluar el procedimiento final.</a:t>
            </a:r>
          </a:p>
          <a:p>
            <a:endParaRPr/>
          </a:p>
          <a:p>
            <a:r>
              <a:t>Fuentes:</a:t>
            </a:r>
          </a:p>
          <a:p>
            <a:r>
              <a:t>https://github.com/SebastianVela/BigData_Taller_1/blob/37b80b9fdfadaed31cada47698c354f0405120f7/punto3_prediccion_ingreso/salidas/poblacion_particiones.csv</a:t>
            </a:r>
          </a:p>
          <a:p>
            <a:endParaRPr/>
          </a:p>
          <a:p>
            <a:r>
              <a:t>Los totales suman fex_c original. El IC del total no está disponible por información insuficiente del diseño. Los IC de estimadores usan la aproximación por personas del cuaderno.</a:t>
            </a:r>
          </a:p>
          <a:p>
            <a:endParaRPr/>
          </a:p>
          <a:p>
            <a:r>
              <a:t>LaTeX de referencia:</a:t>
            </a:r>
          </a:p>
          <a:p>
            <a:r>
              <a:t>\mathrm{RMSE}_{V}=\sqrt{\frac{1}{n_V}\sum_{i\in V}(y_i-\hat y_i)^2}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Recorrido principal. Tiempo orientativo: 1 a 2 minutos.</a:t>
            </a:r>
          </a:p>
          <a:p>
            <a:endParaRPr/>
          </a:p>
          <a:p>
            <a:r>
              <a:t>El inventario completo de variables se audita antes de construir modelos. Excluir componentes del ingreso, variables derivadas del objetivo, identificadores y fex_c como predictor. Las imputaciones, categorías, escalas y nudos se aprenden sólo en entrenamiento. Los grupos contienen transformaciones y sus interacciones.</a:t>
            </a:r>
          </a:p>
          <a:p>
            <a:endParaRPr/>
          </a:p>
          <a:p>
            <a:r>
              <a:t>Fuentes:</a:t>
            </a:r>
          </a:p>
          <a:p>
            <a:r>
              <a:t>https://github.com/SebastianVela/BigData_Taller_1/blob/37b80b9fdfadaed31cada47698c354f0405120f7/punto3_prediccion_ingreso/salidas/auditoria_predictores.csv</a:t>
            </a:r>
          </a:p>
          <a:p>
            <a:endParaRPr/>
          </a:p>
          <a:p>
            <a:r>
              <a:t>Los totales suman fex_c original. El IC del total no está disponible por información insuficiente del diseño. Los IC de estimadores usan la aproximación por personas del cuaderno.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Recorrido principal. Tiempo orientativo: 1 a 2 minutos.</a:t>
            </a:r>
          </a:p>
          <a:p>
            <a:endParaRPr/>
          </a:p>
          <a:p>
            <a:r>
              <a:t>MCO corresponde a lambda cero. Ridge penaliza los coeficientes de regresores escalados y deja libre el intercepto. s_j es la escala aprendida en entrenamiento. El ajuste del ganador es sin factores porque el criterio principal evalúa cada registro por igual. Lambda se elige por LOOCV en entrenamiento.</a:t>
            </a:r>
          </a:p>
          <a:p>
            <a:endParaRPr/>
          </a:p>
          <a:p>
            <a:r>
              <a:t>Fuentes:</a:t>
            </a:r>
          </a:p>
          <a:p>
            <a:r>
              <a:t>https://github.com/SebastianVela/BigData_Taller_1/blob/37b80b9fdfadaed31cada47698c354f0405120f7/punto3_prediccion_ingreso/salidas/lambda_modelo_ganador.csv</a:t>
            </a:r>
          </a:p>
          <a:p>
            <a:endParaRPr/>
          </a:p>
          <a:p>
            <a:r>
              <a:t>Los totales suman fex_c original. El IC del total no está disponible por información insuficiente del diseño. Los IC de estimadores usan la aproximación por personas del cuaderno.</a:t>
            </a:r>
          </a:p>
          <a:p>
            <a:endParaRPr/>
          </a:p>
          <a:p>
            <a:r>
              <a:t>LaTeX de referencia:</a:t>
            </a:r>
          </a:p>
          <a:p>
            <a:r>
              <a:t>(\hat\alpha,\hat\beta_\lambda)=\arg\min_{\alpha,b}\left[\sum_{i\in T}(y_i-\alpha-x_i'b)^2+\lambda\sum_j s_j^2 b_j^2\right]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Recorrido principal. Tiempo orientativo: 1 a 2 minutos.</a:t>
            </a:r>
          </a:p>
          <a:p>
            <a:endParaRPr/>
          </a:p>
          <a:p>
            <a:r>
              <a:t>La búsqueda agrega o elimina grupos completos, preservando las transformaciones e interacciones requeridas. Se fija lambda durante cada búsqueda y se vuelve a elegir para el conjunto final. La mejora mínima es 1e-7 en LOOCV. Son algoritmos locales, no una enumeración global de todos los subconjuntos.</a:t>
            </a:r>
          </a:p>
          <a:p>
            <a:endParaRPr/>
          </a:p>
          <a:p>
            <a:r>
              <a:t>Fuentes:</a:t>
            </a:r>
          </a:p>
          <a:p>
            <a:r>
              <a:t>https://github.com/SebastianVela/BigData_Taller_1/blob/37b80b9fdfadaed31cada47698c354f0405120f7/punto3_prediccion_ingreso/salidas/seleccion_adelante.csv</a:t>
            </a:r>
          </a:p>
          <a:p>
            <a:r>
              <a:t>https://github.com/SebastianVela/BigData_Taller_1/blob/37b80b9fdfadaed31cada47698c354f0405120f7/punto3_prediccion_ingreso/salidas/seleccion_atras.csv</a:t>
            </a:r>
          </a:p>
          <a:p>
            <a:r>
              <a:t>https://github.com/SebastianVela/BigData_Taller_1/blob/37b80b9fdfadaed31cada47698c354f0405120f7/punto3_prediccion_ingreso/salidas/seleccion_mixto.csv</a:t>
            </a:r>
          </a:p>
          <a:p>
            <a:endParaRPr/>
          </a:p>
          <a:p>
            <a:r>
              <a:t>Los totales suman fex_c original. El IC del total no está disponible por información insuficiente del diseño. Los IC de estimadores usan la aproximación por personas del cuaderno.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Recorrido principal. Tiempo orientativo: 1 a 2 minutos.</a:t>
            </a:r>
          </a:p>
          <a:p>
            <a:endParaRPr/>
          </a:p>
          <a:p>
            <a:r>
              <a:t>Primera mitad de la tabla completa. M1 y M2 corresponden a edad. M3 y M4 corresponden a género. M4i incluye perfiles por sexo. El sufijo w usa fex_c para ajustar, pero todos los RMSE de esta tabla se evalúan sin ponderar, conforme al criterio del taller.</a:t>
            </a:r>
          </a:p>
          <a:p>
            <a:endParaRPr/>
          </a:p>
          <a:p>
            <a:r>
              <a:t>Fuentes:</a:t>
            </a:r>
          </a:p>
          <a:p>
            <a:r>
              <a:t>https://github.com/SebastianVela/BigData_Taller_1/blob/37b80b9fdfadaed31cada47698c354f0405120f7/punto3_prediccion_ingreso/salidas/rmse_especificaciones.csv</a:t>
            </a:r>
          </a:p>
          <a:p>
            <a:endParaRPr/>
          </a:p>
          <a:p>
            <a:r>
              <a:t>Los totales suman fex_c original. El IC del total no está disponible por información insuficiente del diseño. Los IC de estimadores usan la aproximación por personas del cuaderno.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Recorrido principal. Tiempo orientativo: 1 a 2 minutos.</a:t>
            </a:r>
          </a:p>
          <a:p>
            <a:endParaRPr/>
          </a:p>
          <a:p>
            <a:r>
              <a:t>Segunda mitad de la tabla completa. La diferencia R6 frente a R5 y R7 es aproximadamente 0,0000103 unidades de log ingreso. No se interpreta como superioridad estadísticamente demostrada. M10 sin penalización rinde peor que las variantes ridge comparables.</a:t>
            </a:r>
          </a:p>
          <a:p>
            <a:endParaRPr/>
          </a:p>
          <a:p>
            <a:r>
              <a:t>Fuentes:</a:t>
            </a:r>
          </a:p>
          <a:p>
            <a:r>
              <a:t>https://github.com/SebastianVela/BigData_Taller_1/blob/37b80b9fdfadaed31cada47698c354f0405120f7/punto3_prediccion_ingreso/salidas/rmse_especificaciones.csv</a:t>
            </a:r>
          </a:p>
          <a:p>
            <a:endParaRPr/>
          </a:p>
          <a:p>
            <a:r>
              <a:t>Los totales suman fex_c original. El IC del total no está disponible por información insuficiente del diseño. Los IC de estimadores usan la aproximación por personas del cuaderno.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Recorrido principal. Tiempo orientativo: 1 a 2 minutos.</a:t>
            </a:r>
          </a:p>
          <a:p>
            <a:endParaRPr/>
          </a:p>
          <a:p>
            <a:r>
              <a:t>PRESS calcula LOOCV con el diseño y lambda fijos. La CV de cinco particiones vuelve a aprender transformaciones y lambda, manteniendo grupos seleccionados. No es validación anidada de toda la selección. La comparación con validación revela sensibilidad a la separación y al procedimiento.</a:t>
            </a:r>
          </a:p>
          <a:p>
            <a:endParaRPr/>
          </a:p>
          <a:p>
            <a:r>
              <a:t>Fuentes:</a:t>
            </a:r>
          </a:p>
          <a:p>
            <a:r>
              <a:t>https://github.com/SebastianVela/BigData_Taller_1/blob/37b80b9fdfadaed31cada47698c354f0405120f7/punto3_prediccion_ingreso/salidas/loocv_vs_validacion.csv</a:t>
            </a:r>
          </a:p>
          <a:p>
            <a:r>
              <a:t>https://github.com/SebastianVela/BigData_Taller_1/blob/37b80b9fdfadaed31cada47698c354f0405120f7/punto3_prediccion_ingreso/salidas/rmse_especificaciones.csv</a:t>
            </a:r>
          </a:p>
          <a:p>
            <a:endParaRPr/>
          </a:p>
          <a:p>
            <a:r>
              <a:t>Los totales suman fex_c original. El IC del total no está disponible por información insuficiente del diseño. Los IC de estimadores usan la aproximación por personas del cuaderno.</a:t>
            </a:r>
          </a:p>
          <a:p>
            <a:endParaRPr/>
          </a:p>
          <a:p>
            <a:r>
              <a:t>LaTeX de referencia:</a:t>
            </a:r>
          </a:p>
          <a:p>
            <a:r>
              <a:t>\mathrm{RMSE}_{\mathrm{LOO}}=\sqrt{\frac{1}{n_T}\sum_{i\in T}\left(\frac{e_i}{1-h_{ii}}\right)^2}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Recorrido principal. Tiempo orientativo: 1 a 2 minutos.</a:t>
            </a:r>
          </a:p>
          <a:p>
            <a:endParaRPr/>
          </a:p>
          <a:p>
            <a:r>
              <a:t>Medida principal: permutar una variable en validación y reconstruir todas sus transformaciones e interacciones, sin reajustar el modelo. Repetir 30 veces y promediar el aumento del RMSE. Mide dependencia predictiva del modelo. Variables correlacionadas pueden sustituirse, y permutar puede producir combinaciones poco frecuentes.</a:t>
            </a:r>
          </a:p>
          <a:p>
            <a:endParaRPr/>
          </a:p>
          <a:p>
            <a:r>
              <a:t>Fuentes:</a:t>
            </a:r>
          </a:p>
          <a:p>
            <a:r>
              <a:t>https://github.com/SebastianVela/BigData_Taller_1/blob/37b80b9fdfadaed31cada47698c354f0405120f7/punto3_prediccion_ingreso/salidas/importancia_variables.csv</a:t>
            </a:r>
          </a:p>
          <a:p>
            <a:endParaRPr/>
          </a:p>
          <a:p>
            <a:r>
              <a:t>Los totales suman fex_c original. El IC del total no está disponible por información insuficiente del diseño. Los IC de estimadores usan la aproximación por personas del cuaderno.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Recorrido principal. Tiempo orientativo: 1 a 2 minutos.</a:t>
            </a:r>
          </a:p>
          <a:p>
            <a:endParaRPr/>
          </a:p>
          <a:p>
            <a:r>
              <a:t>Para cubrir el requisito del enunciado, se muestra evidencia de cómo cambian las predicciones con la variable más importante. Se fija horas en una malla entre percentiles 5 y 95 y se promedian predicciones sobre los demás atributos de validación. Esta curva resume el modelo y no identifica el efecto de aumentar horas.</a:t>
            </a:r>
          </a:p>
          <a:p>
            <a:endParaRPr/>
          </a:p>
          <a:p>
            <a:r>
              <a:t>Fuentes:</a:t>
            </a:r>
          </a:p>
          <a:p>
            <a:r>
              <a:t>https://github.com/SebastianVela/BigData_Taller_1/blob/37b80b9fdfadaed31cada47698c354f0405120f7/punto3_prediccion_ingreso/salidas/perfil_variable_importante.csv</a:t>
            </a:r>
          </a:p>
          <a:p>
            <a:endParaRPr/>
          </a:p>
          <a:p>
            <a:r>
              <a:t>Los totales suman fex_c original. El IC del total no está disponible por información insuficiente del diseño. Los IC de estimadores usan la aproximación por personas del cuaderno.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Recorrido principal. Tiempo orientativo: 1 a 2 minutos.</a:t>
            </a:r>
          </a:p>
          <a:p>
            <a:endParaRPr/>
          </a:p>
          <a:p>
            <a:r>
              <a:t>Cerrar el recorrido principal. Se mejora sustancialmente frente a las referencias con modelos lineales y regularización. No hay una validación independiente del mínimo seleccionado. El ingreso observado es declarado y no puede validar por sí mismo el ingreso verdadero. Las discrepancias servirían para revisión con evidencia adicional, no para probar evasión.</a:t>
            </a:r>
          </a:p>
          <a:p>
            <a:endParaRPr/>
          </a:p>
          <a:p>
            <a:r>
              <a:t>Fuentes:</a:t>
            </a:r>
          </a:p>
          <a:p>
            <a:r>
              <a:t>https://github.com/SebastianVela/BigData_Taller_1/blob/37b80b9fdfadaed31cada47698c354f0405120f7/punto3_prediccion_ingreso/salidas/rmse_especificaciones.csv</a:t>
            </a:r>
          </a:p>
          <a:p>
            <a:r>
              <a:t>https://github.com/SebastianVela/BigData_Taller_1/blob/37b80b9fdfadaed31cada47698c354f0405120f7/punto3_prediccion_ingreso/salidas/importancia_variables.csv</a:t>
            </a:r>
          </a:p>
          <a:p>
            <a:endParaRPr/>
          </a:p>
          <a:p>
            <a:r>
              <a:t>Los totales suman fex_c original. El IC del total no está disponible por información insuficiente del diseño. Los IC de estimadores usan la aproximación por personas del cuaderno.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ACDD6-26B6-CD77-4DA3-DC2CA1C334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8D34F5-3B84-BCBA-B2F2-6819B48630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1D4FED-FABB-CAE9-3523-B4E723EC2E38}"/>
              </a:ext>
            </a:extLst>
          </p:cNvPr>
          <p:cNvSpPr>
            <a:spLocks noGrp="1"/>
          </p:cNvSpPr>
          <p:nvPr>
            <p:ph type="body" idx="1"/>
          </p:nvPr>
        </p:nvSpPr>
        <p:spPr/>
        <p:txBody>
          <a:bodyPr/>
          <a:lstStyle/>
          <a:p>
            <a:r>
              <a:t>Recorrido principal. Tiempo orientativo: 1 a 2 minutos.</a:t>
            </a:r>
          </a:p>
          <a:p>
            <a:endParaRPr/>
          </a:p>
          <a:p>
            <a:r>
              <a:t>Cerrar el recorrido principal. Se mejora sustancialmente frente a las referencias con modelos lineales y regularización. No hay una validación independiente del mínimo seleccionado. El ingreso observado es declarado y no puede validar por sí mismo el ingreso verdadero. Las discrepancias servirían para revisión con evidencia adicional, no para probar evasión.</a:t>
            </a:r>
          </a:p>
          <a:p>
            <a:endParaRPr/>
          </a:p>
          <a:p>
            <a:r>
              <a:t>Fuentes:</a:t>
            </a:r>
          </a:p>
          <a:p>
            <a:r>
              <a:t>https://github.com/SebastianVela/BigData_Taller_1/blob/37b80b9fdfadaed31cada47698c354f0405120f7/punto3_prediccion_ingreso/salidas/rmse_especificaciones.csv</a:t>
            </a:r>
          </a:p>
          <a:p>
            <a:r>
              <a:t>https://github.com/SebastianVela/BigData_Taller_1/blob/37b80b9fdfadaed31cada47698c354f0405120f7/punto3_prediccion_ingreso/salidas/importancia_variables.csv</a:t>
            </a:r>
          </a:p>
          <a:p>
            <a:endParaRPr/>
          </a:p>
          <a:p>
            <a:r>
              <a:t>Los totales suman fex_c original. El IC del total no está disponible por información insuficiente del diseño. Los IC de estimadores usan la aproximación por personas del cuaderno.</a:t>
            </a:r>
          </a:p>
        </p:txBody>
      </p:sp>
      <p:sp>
        <p:nvSpPr>
          <p:cNvPr id="4" name="Slide Number Placeholder 3">
            <a:extLst>
              <a:ext uri="{FF2B5EF4-FFF2-40B4-BE49-F238E27FC236}">
                <a16:creationId xmlns:a16="http://schemas.microsoft.com/office/drawing/2014/main" id="{81CC5218-23DE-2BC5-5337-F339FD6713A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7716289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Anexo de consulta.</a:t>
            </a:r>
          </a:p>
          <a:p>
            <a:endParaRPr/>
          </a:p>
          <a:p>
            <a:r>
              <a:t>La primera medida mantiene fijo el modelo y evalúa cuánto pierde al romper la información de una variable. La segunda elimina la variable y reajusta, permitiendo sustitución por otros predictores. La desviación entre permutaciones mide variabilidad Monte Carlo, no es automáticamente un error estándar inferencial.</a:t>
            </a:r>
          </a:p>
          <a:p>
            <a:endParaRPr/>
          </a:p>
          <a:p>
            <a:r>
              <a:t>Fuentes:</a:t>
            </a:r>
          </a:p>
          <a:p>
            <a:r>
              <a:t>https://github.com/SebastianVela/BigData_Taller_1/blob/37b80b9fdfadaed31cada47698c354f0405120f7/punto3_prediccion_ingreso/salidas/importancia_variables.csv</a:t>
            </a:r>
          </a:p>
          <a:p>
            <a:endParaRPr/>
          </a:p>
          <a:p>
            <a:r>
              <a:t>Los totales suman fex_c original. El IC del total no está disponible por información insuficiente del diseño. Los IC de estimadores usan la aproximación por personas del cuaderno.</a:t>
            </a:r>
          </a:p>
          <a:p>
            <a:endParaRPr/>
          </a:p>
          <a:p>
            <a:r>
              <a:t>LaTeX de referencia:</a:t>
            </a:r>
          </a:p>
          <a:p>
            <a:r>
              <a:t>I_j=\frac{1}{B}\sum_{b=1}^{B}\left[\mathrm{RMSE}_V(\hat f,X_j^{\pi_b})-\mathrm{RMSE}_V(\hat f,X)\right]</a:t>
            </a:r>
          </a:p>
          <a:p>
            <a:endParaRPr/>
          </a:p>
          <a:p>
            <a:r>
              <a:t>LaTeX de referencia:</a:t>
            </a:r>
          </a:p>
          <a:p>
            <a:r>
              <a:t>J_j=\mathrm{RMSE}_V(\hat f_{-j},X_{-j})-\mathrm{RMSE}_V(\hat f,X)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Anexo de consulta.</a:t>
            </a:r>
          </a:p>
          <a:p>
            <a:endParaRPr/>
          </a:p>
          <a:p>
            <a:r>
              <a:t>La curva mantiene los grupos ganadores fijos y varía lambda en 25 valores. El eje horizontal usa log base 10 de lambda. El mínimo es lambda 100. La complejidad efectiva es la traza del suavizador, menor que el número de columnas. No se debe confundir el número de columnas con grados de libertad efectivos.</a:t>
            </a:r>
          </a:p>
          <a:p>
            <a:endParaRPr/>
          </a:p>
          <a:p>
            <a:r>
              <a:t>Fuentes:</a:t>
            </a:r>
          </a:p>
          <a:p>
            <a:r>
              <a:t>https://github.com/SebastianVela/BigData_Taller_1/blob/37b80b9fdfadaed31cada47698c354f0405120f7/punto3_prediccion_ingreso/salidas/lambda_modelo_ganador.csv</a:t>
            </a:r>
          </a:p>
          <a:p>
            <a:endParaRPr/>
          </a:p>
          <a:p>
            <a:r>
              <a:t>Los totales suman fex_c original. El IC del total no está disponible por información insuficiente del diseño. Los IC de estimadores usan la aproximación por personas del cuaderno.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Anexo de consulta.</a:t>
            </a:r>
          </a:p>
          <a:p>
            <a:endParaRPr/>
          </a:p>
          <a:p>
            <a:r>
              <a:t>El RMSE principal corresponde a registros. Para representar la población cubierta de Bogotá se pondera el error de validación por fex_c. Se conserva la escala original de los pesos al contar personas. Cada partición aporta una parte de la expansión del archivo y no es una estimación independiente de toda la ciudad.</a:t>
            </a:r>
          </a:p>
          <a:p>
            <a:endParaRPr/>
          </a:p>
          <a:p>
            <a:r>
              <a:t>Fuentes:</a:t>
            </a:r>
          </a:p>
          <a:p>
            <a:r>
              <a:t>https://github.com/SebastianVela/BigData_Taller_1/blob/37b80b9fdfadaed31cada47698c354f0405120f7/punto3_prediccion_ingreso/salidas/poblacion_particiones.csv</a:t>
            </a:r>
          </a:p>
          <a:p>
            <a:r>
              <a:t>https://github.com/SebastianVela/BigData_Taller_1/blob/37b80b9fdfadaed31cada47698c354f0405120f7/punto3_prediccion_ingreso/salidas/rmse_especificaciones.csv</a:t>
            </a:r>
          </a:p>
          <a:p>
            <a:endParaRPr/>
          </a:p>
          <a:p>
            <a:r>
              <a:t>Los totales suman fex_c original. El IC del total no está disponible por información insuficiente del diseño. Los IC de estimadores usan la aproximación por personas del cuaderno.</a:t>
            </a:r>
          </a:p>
          <a:p>
            <a:endParaRPr/>
          </a:p>
          <a:p>
            <a:r>
              <a:t>LaTeX de referencia:</a:t>
            </a:r>
          </a:p>
          <a:p>
            <a:r>
              <a:t>\mathrm{RMSE}_{V,w}=\sqrt{\frac{\sum_{i\in V}w_i(y_i-\hat y_i)^2}{\sum_{i\in V}w_i}}=0.5342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Anexo de consulta.</a:t>
            </a:r>
          </a:p>
          <a:p>
            <a:endParaRPr/>
          </a:p>
          <a:p>
            <a:r>
              <a:t>Recorrido principal: diapositivas 1 a 11, aproximadamente 15 minutos. Las tablas completas de especificaciones deben estar disponibles para preguntas. Defender separación, regularización, selección, PRESS, importancia y alcance tributario.</a:t>
            </a:r>
          </a:p>
          <a:p>
            <a:endParaRPr/>
          </a:p>
          <a:p>
            <a:r>
              <a:t>Fuentes:</a:t>
            </a:r>
          </a:p>
          <a:p>
            <a:r>
              <a:t>https://github.com/SebastianVela/BigData_Taller_1/blob/37b80b9fdfadaed31cada47698c354f0405120f7/punto3_prediccion_ingreso/salidas/rmse_especificaciones.csv</a:t>
            </a:r>
          </a:p>
          <a:p>
            <a:r>
              <a:t>https://github.com/ignaciomsarmiento/BDML_2026_20</a:t>
            </a:r>
          </a:p>
          <a:p>
            <a:endParaRPr/>
          </a:p>
          <a:p>
            <a:r>
              <a:t>Los totales suman fex_c original. El IC del total no está disponible por información insuficiente del diseño. Los IC de estimadores usan la aproximación por personas del cuaderno.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DED6259E-5620-4324-8704-0BD752AFA3EA}"/>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Predicción del ingreso en Bogotá: resultados</a:t>
            </a:r>
          </a:p>
        </p:txBody>
      </p:sp>
      <p:sp>
        <p:nvSpPr>
          <p:cNvPr id="2" name="Rectángulo 1">
            <a:extLst>
              <a:ext uri="{FF2B5EF4-FFF2-40B4-BE49-F238E27FC236}">
                <a16:creationId xmlns:a16="http://schemas.microsoft.com/office/drawing/2014/main" id="{C21A9DA0-B480-4232-8354-C51050E3FADA}"/>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a:solidFill>
                  <a:srgbClr val="526471"/>
                </a:solidFill>
                <a:latin typeface="Arial"/>
                <a:ea typeface="Arial"/>
                <a:cs typeface="Arial"/>
              </a:rPr>
              <a:t>Entrenamiento: 10.263 registros. Validación: 4.500 registros. Fuente: GEIH 2018, Bogotá.</a:t>
            </a:r>
          </a:p>
        </p:txBody>
      </p:sp>
      <p:sp>
        <p:nvSpPr>
          <p:cNvPr id="3" name="Rectángulo 2">
            <a:extLst>
              <a:ext uri="{FF2B5EF4-FFF2-40B4-BE49-F238E27FC236}">
                <a16:creationId xmlns:a16="http://schemas.microsoft.com/office/drawing/2014/main" id="{8A5B5353-DF87-4482-BAA2-DC5C12F573BF}"/>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1</a:t>
            </a:r>
          </a:p>
        </p:txBody>
      </p:sp>
      <p:sp>
        <p:nvSpPr>
          <p:cNvPr id="4" name="Rectángulo 3">
            <a:extLst>
              <a:ext uri="{FF2B5EF4-FFF2-40B4-BE49-F238E27FC236}">
                <a16:creationId xmlns:a16="http://schemas.microsoft.com/office/drawing/2014/main" id="{095AD2A1-CA5C-47A8-93F6-B1C7F8214C8B}"/>
              </a:ext>
            </a:extLst>
          </p:cNvPr>
          <p:cNvSpPr>
            <a:spLocks noGrp="1"/>
          </p:cNvSpPr>
          <p:nvPr/>
        </p:nvSpPr>
        <p:spPr>
          <a:xfrm>
            <a:off x="685800" y="1476375"/>
            <a:ext cx="5048250" cy="904875"/>
          </a:xfrm>
          <a:prstGeom prst="rect">
            <a:avLst/>
          </a:prstGeom>
          <a:noFill/>
          <a:ln w="0">
            <a:noFill/>
          </a:ln>
        </p:spPr>
        <p:txBody>
          <a:bodyPr>
            <a:noAutofit/>
          </a:bodyPr>
          <a:lstStyle/>
          <a:p>
            <a:pPr>
              <a:defRPr sz="5100" b="0">
                <a:solidFill>
                  <a:srgbClr val="1463AE"/>
                </a:solidFill>
                <a:latin typeface="Arial"/>
                <a:ea typeface="Arial"/>
                <a:cs typeface="Arial"/>
              </a:defRPr>
            </a:pPr>
            <a:r>
              <a:rPr sz="5100" b="0">
                <a:solidFill>
                  <a:srgbClr val="1463AE"/>
                </a:solidFill>
                <a:latin typeface="Arial"/>
                <a:ea typeface="Arial"/>
                <a:cs typeface="Arial"/>
              </a:rPr>
              <a:t>0,5384</a:t>
            </a:r>
          </a:p>
        </p:txBody>
      </p:sp>
      <p:sp>
        <p:nvSpPr>
          <p:cNvPr id="5" name="Rectángulo 4">
            <a:extLst>
              <a:ext uri="{FF2B5EF4-FFF2-40B4-BE49-F238E27FC236}">
                <a16:creationId xmlns:a16="http://schemas.microsoft.com/office/drawing/2014/main" id="{789426BF-C122-4498-A13C-129E5573B875}"/>
              </a:ext>
            </a:extLst>
          </p:cNvPr>
          <p:cNvSpPr>
            <a:spLocks noGrp="1"/>
          </p:cNvSpPr>
          <p:nvPr/>
        </p:nvSpPr>
        <p:spPr>
          <a:xfrm>
            <a:off x="685800" y="2552700"/>
            <a:ext cx="5048250" cy="952500"/>
          </a:xfrm>
          <a:prstGeom prst="rect">
            <a:avLst/>
          </a:prstGeom>
          <a:noFill/>
          <a:ln w="0">
            <a:noFill/>
          </a:ln>
        </p:spPr>
        <p:txBody>
          <a:bodyPr>
            <a:noAutofit/>
          </a:bodyPr>
          <a:lstStyle/>
          <a:p>
            <a:pPr>
              <a:defRPr sz="2175" b="0">
                <a:solidFill>
                  <a:srgbClr val="172F42"/>
                </a:solidFill>
                <a:latin typeface="Arial"/>
                <a:ea typeface="Arial"/>
                <a:cs typeface="Arial"/>
              </a:defRPr>
            </a:pPr>
            <a:r>
              <a:rPr sz="2175" b="0" dirty="0">
                <a:solidFill>
                  <a:srgbClr val="172F42"/>
                </a:solidFill>
                <a:latin typeface="Arial"/>
                <a:ea typeface="Arial"/>
                <a:cs typeface="Arial"/>
              </a:rPr>
              <a:t>RMSE de </a:t>
            </a:r>
            <a:r>
              <a:rPr sz="2175" b="0" dirty="0" err="1">
                <a:solidFill>
                  <a:srgbClr val="172F42"/>
                </a:solidFill>
                <a:latin typeface="Arial"/>
                <a:ea typeface="Arial"/>
                <a:cs typeface="Arial"/>
              </a:rPr>
              <a:t>validación</a:t>
            </a:r>
            <a:endParaRPr sz="2175" b="0" dirty="0">
              <a:solidFill>
                <a:srgbClr val="172F42"/>
              </a:solidFill>
              <a:latin typeface="Arial"/>
              <a:ea typeface="Arial"/>
              <a:cs typeface="Arial"/>
            </a:endParaRPr>
          </a:p>
          <a:p>
            <a:pPr>
              <a:defRPr sz="2175" b="0">
                <a:solidFill>
                  <a:srgbClr val="172F42"/>
                </a:solidFill>
                <a:latin typeface="Arial"/>
                <a:ea typeface="Arial"/>
                <a:cs typeface="Arial"/>
              </a:defRPr>
            </a:pPr>
            <a:r>
              <a:rPr sz="2175" b="0" dirty="0">
                <a:solidFill>
                  <a:srgbClr val="172F42"/>
                </a:solidFill>
                <a:latin typeface="Arial"/>
                <a:ea typeface="Arial"/>
                <a:cs typeface="Arial"/>
              </a:rPr>
              <a:t>Ridge con </a:t>
            </a:r>
            <a:r>
              <a:rPr sz="2175" b="0" dirty="0" err="1">
                <a:solidFill>
                  <a:srgbClr val="172F42"/>
                </a:solidFill>
                <a:latin typeface="Arial"/>
                <a:ea typeface="Arial"/>
                <a:cs typeface="Arial"/>
              </a:rPr>
              <a:t>selección</a:t>
            </a:r>
            <a:r>
              <a:rPr sz="2175" b="0" dirty="0">
                <a:solidFill>
                  <a:srgbClr val="172F42"/>
                </a:solidFill>
                <a:latin typeface="Arial"/>
                <a:ea typeface="Arial"/>
                <a:cs typeface="Arial"/>
              </a:rPr>
              <a:t> </a:t>
            </a:r>
            <a:r>
              <a:rPr sz="2175" b="0" dirty="0" err="1">
                <a:solidFill>
                  <a:srgbClr val="172F42"/>
                </a:solidFill>
                <a:latin typeface="Arial"/>
                <a:ea typeface="Arial"/>
                <a:cs typeface="Arial"/>
              </a:rPr>
              <a:t>hacia</a:t>
            </a:r>
            <a:r>
              <a:rPr sz="2175" b="0" dirty="0">
                <a:solidFill>
                  <a:srgbClr val="172F42"/>
                </a:solidFill>
                <a:latin typeface="Arial"/>
                <a:ea typeface="Arial"/>
                <a:cs typeface="Arial"/>
              </a:rPr>
              <a:t> atrás</a:t>
            </a:r>
          </a:p>
        </p:txBody>
      </p:sp>
      <p:sp>
        <p:nvSpPr>
          <p:cNvPr id="8" name="Rectángulo 7">
            <a:extLst>
              <a:ext uri="{FF2B5EF4-FFF2-40B4-BE49-F238E27FC236}">
                <a16:creationId xmlns:a16="http://schemas.microsoft.com/office/drawing/2014/main" id="{9348F95B-A2E5-405B-8D82-2BF642830757}"/>
              </a:ext>
            </a:extLst>
          </p:cNvPr>
          <p:cNvSpPr>
            <a:spLocks noGrp="1"/>
          </p:cNvSpPr>
          <p:nvPr/>
        </p:nvSpPr>
        <p:spPr>
          <a:xfrm>
            <a:off x="685800" y="4238625"/>
            <a:ext cx="10763250" cy="1285875"/>
          </a:xfrm>
          <a:prstGeom prst="rect">
            <a:avLst/>
          </a:prstGeom>
          <a:noFill/>
          <a:ln w="0">
            <a:noFill/>
          </a:ln>
        </p:spPr>
        <p:txBody>
          <a:bodyPr>
            <a:noAutofit/>
          </a:bodyPr>
          <a:lstStyle/>
          <a:p>
            <a:pPr>
              <a:defRPr sz="2475" b="0">
                <a:solidFill>
                  <a:srgbClr val="172F42"/>
                </a:solidFill>
                <a:latin typeface="Arial"/>
                <a:ea typeface="Arial"/>
                <a:cs typeface="Arial"/>
              </a:defRPr>
            </a:pPr>
            <a:r>
              <a:rPr sz="2475" b="0">
                <a:solidFill>
                  <a:srgbClr val="172F42"/>
                </a:solidFill>
                <a:latin typeface="Arial"/>
                <a:ea typeface="Arial"/>
                <a:cs typeface="Arial"/>
              </a:rPr>
              <a:t>Las variables laborales y las interacciones mejoran el pronóstico. La ventaja entre las mejores variantes es mínima.</a:t>
            </a:r>
          </a:p>
        </p:txBody>
      </p:sp>
    </p:spTree>
    <p:extLst>
      <p:ext uri="{BB962C8B-B14F-4D97-AF65-F5344CB8AC3E}">
        <p14:creationId xmlns:p14="http://schemas.microsoft.com/office/powerpoint/2010/main" val="21015274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CFCC2144-F3B5-200E-74C7-1B8F2AFDE1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61" y="1074469"/>
            <a:ext cx="12182739" cy="4187995"/>
          </a:xfrm>
          <a:prstGeom prst="rect">
            <a:avLst/>
          </a:prstGeom>
        </p:spPr>
      </p:pic>
    </p:spTree>
    <p:extLst>
      <p:ext uri="{BB962C8B-B14F-4D97-AF65-F5344CB8AC3E}">
        <p14:creationId xmlns:p14="http://schemas.microsoft.com/office/powerpoint/2010/main" val="2867067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CA6F6FB0-4CE6-40D3-8696-EEBFE5671BB8}"/>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Anexo: muestra y población representada</a:t>
            </a:r>
          </a:p>
        </p:txBody>
      </p:sp>
      <p:sp>
        <p:nvSpPr>
          <p:cNvPr id="2" name="Rectángulo 1">
            <a:extLst>
              <a:ext uri="{FF2B5EF4-FFF2-40B4-BE49-F238E27FC236}">
                <a16:creationId xmlns:a16="http://schemas.microsoft.com/office/drawing/2014/main" id="{7C413B90-7588-4DA8-BAC9-DC63D5E5B460}"/>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a:solidFill>
                  <a:srgbClr val="526471"/>
                </a:solidFill>
                <a:latin typeface="Arial"/>
                <a:ea typeface="Arial"/>
                <a:cs typeface="Arial"/>
              </a:rPr>
              <a:t>n = 14.764. Población representada ≈ 3.686.676 personas. Fuente: GEIH 2018, Bogotá.</a:t>
            </a:r>
          </a:p>
        </p:txBody>
      </p:sp>
      <p:sp>
        <p:nvSpPr>
          <p:cNvPr id="3" name="Rectángulo 2">
            <a:extLst>
              <a:ext uri="{FF2B5EF4-FFF2-40B4-BE49-F238E27FC236}">
                <a16:creationId xmlns:a16="http://schemas.microsoft.com/office/drawing/2014/main" id="{3AEAD05E-B12A-4BE4-9FD8-478F4477DC4F}"/>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10</a:t>
            </a:r>
          </a:p>
        </p:txBody>
      </p:sp>
      <mc:AlternateContent xmlns:mc="http://schemas.openxmlformats.org/markup-compatibility/2006" xmlns:a14="http://schemas.microsoft.com/office/drawing/2010/main">
        <mc:Choice Requires="a14">
          <p:sp>
            <p:nvSpPr>
              <p:cNvPr id="4" name="EQ_age_10_6">
                <a:extLst>
                  <a:ext uri="{FF2B5EF4-FFF2-40B4-BE49-F238E27FC236}">
                    <a16:creationId xmlns:a16="http://schemas.microsoft.com/office/drawing/2014/main" id="{BB626DA8-06B5-4347-8161-2E3FA276E00B}"/>
                  </a:ext>
                </a:extLst>
              </p:cNvPr>
              <p:cNvSpPr>
                <a:spLocks noGrp="1"/>
              </p:cNvSpPr>
              <p:nvPr/>
            </p:nvSpPr>
            <p:spPr>
              <a:xfrm>
                <a:off x="685800" y="1190625"/>
                <a:ext cx="10763250" cy="809625"/>
              </a:xfrm>
              <a:prstGeom prst="rect">
                <a:avLst/>
              </a:prstGeom>
              <a:noFill/>
              <a:ln w="0">
                <a:noFill/>
              </a:ln>
            </p:spPr>
            <p:txBody>
              <a:bodyPr/>
              <a:lstStyle/>
              <a:p>
                <a:pPr algn="l"/>
                <a14:m>
                  <m:oMathPara xmlns:m="http://schemas.openxmlformats.org/officeDocument/2006/math">
                    <m:oMath>
                      <m:r>
                        <a:rPr>
                          <a:latin typeface="Cambria Math" panose="02040503050406030204" pitchFamily="18" charset="0"/>
                        </a:rPr>
                        <m:t>𝑛</m:t>
                      </m:r>
                      <m:r>
                        <a:rPr>
                          <a:latin typeface="Cambria Math" panose="02040503050406030204" pitchFamily="18" charset="0"/>
                        </a:rPr>
                        <m:t>=</m:t>
                      </m:r>
                      <m:nary>
                        <m:naryPr>
                          <m:chr m:val="∑"/>
                          <m:limLoc m:val="subSup"/>
                          <m:grow m:val="on"/>
                          <m:supHide m:val="on"/>
                          <m:ctrlPr>
                            <a:rPr>
                              <a:latin typeface="Cambria Math" panose="02040503050406030204" pitchFamily="18" charset="0"/>
                            </a:rPr>
                          </m:ctrlPr>
                        </m:naryPr>
                        <m:sub>
                          <m:r>
                            <a:rPr>
                              <a:latin typeface="Cambria Math" panose="02040503050406030204" pitchFamily="18" charset="0"/>
                            </a:rPr>
                            <m:t>𝑖</m:t>
                          </m:r>
                        </m:sub>
                        <m:sup/>
                        <m:e>
                          <m:r>
                            <a:rPr>
                              <a:latin typeface="Cambria Math" panose="02040503050406030204" pitchFamily="18" charset="0"/>
                            </a:rPr>
                            <m:t>1,</m:t>
                          </m:r>
                          <m:r>
                            <m:rPr>
                              <m:nor/>
                            </m:rPr>
                            <a:rPr i="0"/>
                            <m:t> </m:t>
                          </m:r>
                        </m:e>
                      </m:nary>
                      <m:acc>
                        <m:accPr>
                          <m:chr m:val="ˆ"/>
                          <m:ctrlPr>
                            <a:rPr>
                              <a:latin typeface="Cambria Math" panose="02040503050406030204" pitchFamily="18" charset="0"/>
                            </a:rPr>
                          </m:ctrlPr>
                        </m:accPr>
                        <m:e>
                          <m:r>
                            <a:rPr>
                              <a:latin typeface="Cambria Math" panose="02040503050406030204" pitchFamily="18" charset="0"/>
                            </a:rPr>
                            <m:t>𝑁</m:t>
                          </m:r>
                        </m:e>
                      </m:acc>
                      <m:r>
                        <a:rPr>
                          <a:latin typeface="Cambria Math" panose="02040503050406030204" pitchFamily="18" charset="0"/>
                        </a:rPr>
                        <m:t>=</m:t>
                      </m:r>
                      <m:nary>
                        <m:naryPr>
                          <m:chr m:val="∑"/>
                          <m:limLoc m:val="subSup"/>
                          <m:grow m:val="on"/>
                          <m:supHide m:val="on"/>
                          <m:ctrlPr>
                            <a:rPr>
                              <a:latin typeface="Cambria Math" panose="02040503050406030204" pitchFamily="18" charset="0"/>
                            </a:rPr>
                          </m:ctrlPr>
                        </m:naryPr>
                        <m:sub>
                          <m:r>
                            <a:rPr>
                              <a:latin typeface="Cambria Math" panose="02040503050406030204" pitchFamily="18" charset="0"/>
                            </a:rPr>
                            <m:t>𝑖</m:t>
                          </m:r>
                        </m:sub>
                        <m:sup/>
                        <m:e>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𝑖</m:t>
                              </m:r>
                            </m:sub>
                          </m:sSub>
                        </m:e>
                      </m:nary>
                      <m:r>
                        <a:rPr>
                          <a:latin typeface="Cambria Math" panose="02040503050406030204" pitchFamily="18" charset="0"/>
                        </a:rPr>
                        <m:t>,</m:t>
                      </m:r>
                      <m:r>
                        <m:rPr>
                          <m:nor/>
                        </m:rPr>
                        <a:rPr i="0"/>
                        <m:t> </m:t>
                      </m:r>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𝑖</m:t>
                          </m:r>
                        </m:sub>
                      </m:sSub>
                      <m:r>
                        <a:rPr>
                          <a:latin typeface="Cambria Math" panose="02040503050406030204" pitchFamily="18" charset="0"/>
                        </a:rPr>
                        <m:t>=</m:t>
                      </m:r>
                      <m:sSub>
                        <m:sSubPr>
                          <m:ctrlPr>
                            <a:rPr>
                              <a:latin typeface="Cambria Math" panose="02040503050406030204" pitchFamily="18" charset="0"/>
                            </a:rPr>
                          </m:ctrlPr>
                        </m:sSubPr>
                        <m:e>
                          <m:r>
                            <m:rPr>
                              <m:sty m:val="p"/>
                            </m:rPr>
                            <a:rPr>
                              <a:latin typeface="Cambria Math" panose="02040503050406030204" pitchFamily="18" charset="0"/>
                            </a:rPr>
                            <m:t>fex</m:t>
                          </m:r>
                          <m:r>
                            <a:rPr>
                              <a:latin typeface="Cambria Math" panose="02040503050406030204" pitchFamily="18" charset="0"/>
                            </a:rPr>
                            <m:t>_</m:t>
                          </m:r>
                          <m:r>
                            <m:rPr>
                              <m:sty m:val="p"/>
                            </m:rPr>
                            <a:rPr>
                              <a:latin typeface="Cambria Math" panose="02040503050406030204" pitchFamily="18" charset="0"/>
                            </a:rPr>
                            <m:t>c</m:t>
                          </m:r>
                        </m:e>
                        <m:sub>
                          <m:r>
                            <a:rPr>
                              <a:latin typeface="Cambria Math" panose="02040503050406030204" pitchFamily="18" charset="0"/>
                            </a:rPr>
                            <m:t>𝑖</m:t>
                          </m:r>
                        </m:sub>
                      </m:sSub>
                    </m:oMath>
                  </m:oMathPara>
                </a14:m>
                <a:endParaRPr sz="2800"/>
              </a:p>
            </p:txBody>
          </p:sp>
        </mc:Choice>
        <mc:Fallback xmlns="">
          <p:sp>
            <p:nvSpPr>
              <p:cNvPr id="4" name="EQ_age_10_6">
                <a:extLst>
                  <a:ext uri="{FF2B5EF4-FFF2-40B4-BE49-F238E27FC236}">
                    <a16:creationId xmlns:a16="http://schemas.microsoft.com/office/drawing/2014/main" id="{BB626DA8-06B5-4347-8161-2E3FA276E00B}"/>
                  </a:ext>
                </a:extLst>
              </p:cNvPr>
              <p:cNvSpPr>
                <a:spLocks noGrp="1" noRot="1" noChangeAspect="1" noMove="1" noResize="1" noEditPoints="1" noAdjustHandles="1" noChangeArrowheads="1" noChangeShapeType="1" noTextEdit="1"/>
              </p:cNvSpPr>
              <p:nvPr/>
            </p:nvSpPr>
            <p:spPr>
              <a:xfrm>
                <a:off x="685800" y="1190625"/>
                <a:ext cx="10763250" cy="809625"/>
              </a:xfrm>
              <a:prstGeom prst="rect">
                <a:avLst/>
              </a:prstGeom>
              <a:blipFill>
                <a:blip r:embed="rId3"/>
                <a:stretch>
                  <a:fillRect/>
                </a:stretch>
              </a:blipFill>
              <a:ln w="0">
                <a:noFill/>
              </a:ln>
            </p:spPr>
            <p:txBody>
              <a:bodyPr/>
              <a:lstStyle/>
              <a:p>
                <a:r>
                  <a:rPr lang="es-CO">
                    <a:noFill/>
                  </a:rPr>
                  <a:t> </a:t>
                </a:r>
              </a:p>
            </p:txBody>
          </p:sp>
        </mc:Fallback>
      </mc:AlternateContent>
      <p:graphicFrame>
        <p:nvGraphicFramePr>
          <p:cNvPr id="11" name="Tabla 10"/>
          <p:cNvGraphicFramePr/>
          <p:nvPr/>
        </p:nvGraphicFramePr>
        <p:xfrm>
          <a:off x="609600" y="2476500"/>
          <a:ext cx="10972800" cy="2333624"/>
        </p:xfrm>
        <a:graphic>
          <a:graphicData uri="http://schemas.openxmlformats.org/drawingml/2006/table">
            <a:tbl>
              <a:tblPr/>
              <a:tblGrid>
                <a:gridCol w="5334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352800">
                  <a:extLst>
                    <a:ext uri="{9D8B030D-6E8A-4147-A177-3AD203B41FA5}">
                      <a16:colId xmlns:a16="http://schemas.microsoft.com/office/drawing/2014/main" val="20002"/>
                    </a:ext>
                  </a:extLst>
                </a:gridCol>
              </a:tblGrid>
              <a:tr h="583406">
                <a:tc>
                  <a:txBody>
                    <a:bodyPr/>
                    <a:lstStyle/>
                    <a:p>
                      <a:r>
                        <a:rPr sz="1875" b="0">
                          <a:solidFill>
                            <a:srgbClr val="172F42"/>
                          </a:solidFill>
                          <a:latin typeface="Arial"/>
                          <a:ea typeface="Arial"/>
                          <a:cs typeface="Arial"/>
                        </a:rPr>
                        <a:t>Población cubierta</a:t>
                      </a:r>
                    </a:p>
                  </a:txBody>
                  <a:tcPr marL="95250" marR="95250" marT="57150" marB="57150">
                    <a:solidFill>
                      <a:srgbClr val="EDF3F7"/>
                    </a:solidFill>
                  </a:tcPr>
                </a:tc>
                <a:tc>
                  <a:txBody>
                    <a:bodyPr/>
                    <a:lstStyle/>
                    <a:p>
                      <a:r>
                        <a:rPr sz="1875" b="0">
                          <a:solidFill>
                            <a:srgbClr val="172F42"/>
                          </a:solidFill>
                          <a:latin typeface="Arial"/>
                          <a:ea typeface="Arial"/>
                          <a:cs typeface="Arial"/>
                        </a:rPr>
                        <a:t>Registros</a:t>
                      </a:r>
                    </a:p>
                  </a:txBody>
                  <a:tcPr marL="95250" marR="95250" marT="57150" marB="57150">
                    <a:solidFill>
                      <a:srgbClr val="EDF3F7"/>
                    </a:solidFill>
                  </a:tcPr>
                </a:tc>
                <a:tc>
                  <a:txBody>
                    <a:bodyPr/>
                    <a:lstStyle/>
                    <a:p>
                      <a:r>
                        <a:rPr sz="1875" b="0">
                          <a:solidFill>
                            <a:srgbClr val="172F42"/>
                          </a:solidFill>
                          <a:latin typeface="Arial"/>
                          <a:ea typeface="Arial"/>
                          <a:cs typeface="Arial"/>
                        </a:rPr>
                        <a:t>Personas representadas</a:t>
                      </a:r>
                    </a:p>
                  </a:txBody>
                  <a:tcPr marL="95250" marR="95250" marT="57150" marB="57150">
                    <a:solidFill>
                      <a:srgbClr val="EDF3F7"/>
                    </a:solidFill>
                  </a:tcPr>
                </a:tc>
                <a:extLst>
                  <a:ext uri="{0D108BD9-81ED-4DB2-BD59-A6C34878D82A}">
                    <a16:rowId xmlns:a16="http://schemas.microsoft.com/office/drawing/2014/main" val="10000"/>
                  </a:ext>
                </a:extLst>
              </a:tr>
              <a:tr h="583406">
                <a:tc>
                  <a:txBody>
                    <a:bodyPr/>
                    <a:lstStyle/>
                    <a:p>
                      <a:r>
                        <a:rPr sz="1875" b="0">
                          <a:solidFill>
                            <a:srgbClr val="172F42"/>
                          </a:solidFill>
                          <a:latin typeface="Arial"/>
                          <a:ea typeface="Arial"/>
                          <a:cs typeface="Arial"/>
                        </a:rPr>
                        <a:t>Base consolidada</a:t>
                      </a:r>
                    </a:p>
                  </a:txBody>
                  <a:tcPr marL="95250" marR="95250" marT="57150" marB="57150">
                    <a:solidFill>
                      <a:srgbClr val="FFFFFF"/>
                    </a:solidFill>
                  </a:tcPr>
                </a:tc>
                <a:tc>
                  <a:txBody>
                    <a:bodyPr/>
                    <a:lstStyle/>
                    <a:p>
                      <a:r>
                        <a:rPr sz="1875" b="0" dirty="0">
                          <a:solidFill>
                            <a:srgbClr val="172F42"/>
                          </a:solidFill>
                          <a:latin typeface="Arial"/>
                          <a:ea typeface="Arial"/>
                          <a:cs typeface="Arial"/>
                        </a:rPr>
                        <a:t>32.177</a:t>
                      </a:r>
                    </a:p>
                  </a:txBody>
                  <a:tcPr marL="95250" marR="95250" marT="57150" marB="57150">
                    <a:solidFill>
                      <a:srgbClr val="FFFFFF"/>
                    </a:solidFill>
                  </a:tcPr>
                </a:tc>
                <a:tc>
                  <a:txBody>
                    <a:bodyPr/>
                    <a:lstStyle/>
                    <a:p>
                      <a:r>
                        <a:rPr sz="1875" b="0" dirty="0">
                          <a:solidFill>
                            <a:srgbClr val="172F42"/>
                          </a:solidFill>
                          <a:latin typeface="Arial"/>
                          <a:ea typeface="Arial"/>
                          <a:cs typeface="Arial"/>
                        </a:rPr>
                        <a:t>8.164.164</a:t>
                      </a:r>
                    </a:p>
                  </a:txBody>
                  <a:tcPr marL="95250" marR="95250" marT="57150" marB="57150">
                    <a:solidFill>
                      <a:srgbClr val="FFFFFF"/>
                    </a:solidFill>
                  </a:tcPr>
                </a:tc>
                <a:extLst>
                  <a:ext uri="{0D108BD9-81ED-4DB2-BD59-A6C34878D82A}">
                    <a16:rowId xmlns:a16="http://schemas.microsoft.com/office/drawing/2014/main" val="10001"/>
                  </a:ext>
                </a:extLst>
              </a:tr>
              <a:tr h="583406">
                <a:tc>
                  <a:txBody>
                    <a:bodyPr/>
                    <a:lstStyle/>
                    <a:p>
                      <a:r>
                        <a:rPr sz="1875" b="0" dirty="0" err="1">
                          <a:solidFill>
                            <a:srgbClr val="172F42"/>
                          </a:solidFill>
                          <a:latin typeface="Arial"/>
                          <a:ea typeface="Arial"/>
                          <a:cs typeface="Arial"/>
                        </a:rPr>
                        <a:t>Ocupados</a:t>
                      </a:r>
                      <a:r>
                        <a:rPr sz="1875" b="0" dirty="0">
                          <a:solidFill>
                            <a:srgbClr val="172F42"/>
                          </a:solidFill>
                          <a:latin typeface="Arial"/>
                          <a:ea typeface="Arial"/>
                          <a:cs typeface="Arial"/>
                        </a:rPr>
                        <a:t> de 18 </a:t>
                      </a:r>
                      <a:r>
                        <a:rPr sz="1875" b="0" dirty="0" err="1">
                          <a:solidFill>
                            <a:srgbClr val="172F42"/>
                          </a:solidFill>
                          <a:latin typeface="Arial"/>
                          <a:ea typeface="Arial"/>
                          <a:cs typeface="Arial"/>
                        </a:rPr>
                        <a:t>años</a:t>
                      </a:r>
                      <a:r>
                        <a:rPr sz="1875" b="0" dirty="0">
                          <a:solidFill>
                            <a:srgbClr val="172F42"/>
                          </a:solidFill>
                          <a:latin typeface="Arial"/>
                          <a:ea typeface="Arial"/>
                          <a:cs typeface="Arial"/>
                        </a:rPr>
                        <a:t> o </a:t>
                      </a:r>
                      <a:r>
                        <a:rPr sz="1875" b="0" dirty="0" err="1">
                          <a:solidFill>
                            <a:srgbClr val="172F42"/>
                          </a:solidFill>
                          <a:latin typeface="Arial"/>
                          <a:ea typeface="Arial"/>
                          <a:cs typeface="Arial"/>
                        </a:rPr>
                        <a:t>más</a:t>
                      </a:r>
                      <a:endParaRPr sz="1875" b="0" dirty="0">
                        <a:solidFill>
                          <a:srgbClr val="172F42"/>
                        </a:solidFill>
                        <a:latin typeface="Arial"/>
                        <a:ea typeface="Arial"/>
                        <a:cs typeface="Arial"/>
                      </a:endParaRPr>
                    </a:p>
                  </a:txBody>
                  <a:tcPr marL="95250" marR="95250" marT="57150" marB="57150">
                    <a:solidFill>
                      <a:srgbClr val="FFFFFF"/>
                    </a:solidFill>
                  </a:tcPr>
                </a:tc>
                <a:tc>
                  <a:txBody>
                    <a:bodyPr/>
                    <a:lstStyle/>
                    <a:p>
                      <a:r>
                        <a:rPr sz="1875" b="0">
                          <a:solidFill>
                            <a:srgbClr val="172F42"/>
                          </a:solidFill>
                          <a:latin typeface="Arial"/>
                          <a:ea typeface="Arial"/>
                          <a:cs typeface="Arial"/>
                        </a:rPr>
                        <a:t>16.542</a:t>
                      </a:r>
                    </a:p>
                  </a:txBody>
                  <a:tcPr marL="95250" marR="95250" marT="57150" marB="57150">
                    <a:solidFill>
                      <a:srgbClr val="FFFFFF"/>
                    </a:solidFill>
                  </a:tcPr>
                </a:tc>
                <a:tc>
                  <a:txBody>
                    <a:bodyPr/>
                    <a:lstStyle/>
                    <a:p>
                      <a:r>
                        <a:rPr sz="1875" b="0">
                          <a:solidFill>
                            <a:srgbClr val="172F42"/>
                          </a:solidFill>
                          <a:latin typeface="Arial"/>
                          <a:ea typeface="Arial"/>
                          <a:cs typeface="Arial"/>
                        </a:rPr>
                        <a:t>4.120.583</a:t>
                      </a:r>
                    </a:p>
                  </a:txBody>
                  <a:tcPr marL="95250" marR="95250" marT="57150" marB="57150">
                    <a:solidFill>
                      <a:srgbClr val="FFFFFF"/>
                    </a:solidFill>
                  </a:tcPr>
                </a:tc>
                <a:extLst>
                  <a:ext uri="{0D108BD9-81ED-4DB2-BD59-A6C34878D82A}">
                    <a16:rowId xmlns:a16="http://schemas.microsoft.com/office/drawing/2014/main" val="10002"/>
                  </a:ext>
                </a:extLst>
              </a:tr>
              <a:tr h="583406">
                <a:tc>
                  <a:txBody>
                    <a:bodyPr/>
                    <a:lstStyle/>
                    <a:p>
                      <a:r>
                        <a:rPr sz="1875" b="0">
                          <a:solidFill>
                            <a:srgbClr val="172F42"/>
                          </a:solidFill>
                          <a:latin typeface="Arial"/>
                          <a:ea typeface="Arial"/>
                          <a:cs typeface="Arial"/>
                        </a:rPr>
                        <a:t>Ingreso positivo observado</a:t>
                      </a:r>
                    </a:p>
                  </a:txBody>
                  <a:tcPr marL="95250" marR="95250" marT="57150" marB="57150">
                    <a:solidFill>
                      <a:srgbClr val="FFFFFF"/>
                    </a:solidFill>
                  </a:tcPr>
                </a:tc>
                <a:tc>
                  <a:txBody>
                    <a:bodyPr/>
                    <a:lstStyle/>
                    <a:p>
                      <a:r>
                        <a:rPr sz="1875" b="0" dirty="0">
                          <a:solidFill>
                            <a:srgbClr val="172F42"/>
                          </a:solidFill>
                          <a:latin typeface="Arial"/>
                          <a:ea typeface="Arial"/>
                          <a:cs typeface="Arial"/>
                        </a:rPr>
                        <a:t>14.764</a:t>
                      </a:r>
                    </a:p>
                  </a:txBody>
                  <a:tcPr marL="95250" marR="95250" marT="57150" marB="57150">
                    <a:solidFill>
                      <a:srgbClr val="FFFFFF"/>
                    </a:solidFill>
                  </a:tcPr>
                </a:tc>
                <a:tc>
                  <a:txBody>
                    <a:bodyPr/>
                    <a:lstStyle/>
                    <a:p>
                      <a:r>
                        <a:rPr sz="1875" b="0" dirty="0">
                          <a:solidFill>
                            <a:srgbClr val="172F42"/>
                          </a:solidFill>
                          <a:latin typeface="Arial"/>
                          <a:ea typeface="Arial"/>
                          <a:cs typeface="Arial"/>
                        </a:rPr>
                        <a:t>3.686.676</a:t>
                      </a:r>
                    </a:p>
                  </a:txBody>
                  <a:tcPr marL="95250" marR="95250" marT="57150" marB="57150">
                    <a:solidFill>
                      <a:srgbClr val="FFFFFF"/>
                    </a:solidFill>
                  </a:tcPr>
                </a:tc>
                <a:extLst>
                  <a:ext uri="{0D108BD9-81ED-4DB2-BD59-A6C34878D82A}">
                    <a16:rowId xmlns:a16="http://schemas.microsoft.com/office/drawing/2014/main" val="10003"/>
                  </a:ext>
                </a:extLst>
              </a:tr>
            </a:tbl>
          </a:graphicData>
        </a:graphic>
      </p:graphicFrame>
      <p:sp>
        <p:nvSpPr>
          <p:cNvPr id="6" name="Rectángulo 5">
            <a:extLst>
              <a:ext uri="{FF2B5EF4-FFF2-40B4-BE49-F238E27FC236}">
                <a16:creationId xmlns:a16="http://schemas.microsoft.com/office/drawing/2014/main" id="{0434FEBC-EE36-42BD-8739-0EE1AF044DE7}"/>
              </a:ext>
            </a:extLst>
          </p:cNvPr>
          <p:cNvSpPr>
            <a:spLocks noGrp="1"/>
          </p:cNvSpPr>
          <p:nvPr/>
        </p:nvSpPr>
        <p:spPr>
          <a:xfrm>
            <a:off x="685800" y="5191125"/>
            <a:ext cx="10763250" cy="733425"/>
          </a:xfrm>
          <a:prstGeom prst="rect">
            <a:avLst/>
          </a:prstGeom>
          <a:noFill/>
          <a:ln w="0">
            <a:noFill/>
          </a:ln>
        </p:spPr>
        <p:txBody>
          <a:bodyPr>
            <a:noAutofit/>
          </a:bodyPr>
          <a:lstStyle/>
          <a:p>
            <a:pPr>
              <a:defRPr sz="1875" b="0">
                <a:solidFill>
                  <a:srgbClr val="172F42"/>
                </a:solidFill>
                <a:latin typeface="Arial"/>
                <a:ea typeface="Arial"/>
                <a:cs typeface="Arial"/>
              </a:defRPr>
            </a:pPr>
            <a:r>
              <a:rPr sz="1875" b="0">
                <a:solidFill>
                  <a:srgbClr val="172F42"/>
                </a:solidFill>
                <a:latin typeface="Arial"/>
                <a:ea typeface="Arial"/>
                <a:cs typeface="Arial"/>
              </a:rPr>
              <a:t>IC del total: no estimable con el diseño disponible. Faltan estratos, conglomerados completos o pesos replicados.</a:t>
            </a:r>
          </a:p>
        </p:txBody>
      </p:sp>
    </p:spTree>
    <p:extLst>
      <p:ext uri="{BB962C8B-B14F-4D97-AF65-F5344CB8AC3E}">
        <p14:creationId xmlns:p14="http://schemas.microsoft.com/office/powerpoint/2010/main" val="2616220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58748AB0-EAA8-4C9F-894E-C57AD6CBEE9D}"/>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La separación de datos define la evaluación</a:t>
            </a:r>
          </a:p>
        </p:txBody>
      </p:sp>
      <p:sp>
        <p:nvSpPr>
          <p:cNvPr id="2" name="Rectángulo 1">
            <a:extLst>
              <a:ext uri="{FF2B5EF4-FFF2-40B4-BE49-F238E27FC236}">
                <a16:creationId xmlns:a16="http://schemas.microsoft.com/office/drawing/2014/main" id="{942FC634-1901-4330-9FF6-61B84673A8E4}"/>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a:solidFill>
                  <a:srgbClr val="526471"/>
                </a:solidFill>
                <a:latin typeface="Arial"/>
                <a:ea typeface="Arial"/>
                <a:cs typeface="Arial"/>
              </a:rPr>
              <a:t>Entrenamiento: 10.263 registros. Validación: 4.500 registros. Fuente: GEIH 2018, Bogotá.</a:t>
            </a:r>
          </a:p>
        </p:txBody>
      </p:sp>
      <p:sp>
        <p:nvSpPr>
          <p:cNvPr id="3" name="Rectángulo 2">
            <a:extLst>
              <a:ext uri="{FF2B5EF4-FFF2-40B4-BE49-F238E27FC236}">
                <a16:creationId xmlns:a16="http://schemas.microsoft.com/office/drawing/2014/main" id="{094EC3E0-FDE9-41E5-8C74-BD07079465C9}"/>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2</a:t>
            </a:r>
          </a:p>
        </p:txBody>
      </p:sp>
      <p:graphicFrame>
        <p:nvGraphicFramePr>
          <p:cNvPr id="10" name="Tabla 9"/>
          <p:cNvGraphicFramePr/>
          <p:nvPr/>
        </p:nvGraphicFramePr>
        <p:xfrm>
          <a:off x="609600" y="1428750"/>
          <a:ext cx="10972800" cy="1952625"/>
        </p:xfrm>
        <a:graphic>
          <a:graphicData uri="http://schemas.openxmlformats.org/drawingml/2006/table">
            <a:tbl>
              <a:tblPr/>
              <a:tblGrid>
                <a:gridCol w="371475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3352800">
                  <a:extLst>
                    <a:ext uri="{9D8B030D-6E8A-4147-A177-3AD203B41FA5}">
                      <a16:colId xmlns:a16="http://schemas.microsoft.com/office/drawing/2014/main" val="20003"/>
                    </a:ext>
                  </a:extLst>
                </a:gridCol>
              </a:tblGrid>
              <a:tr h="650875">
                <a:tc>
                  <a:txBody>
                    <a:bodyPr/>
                    <a:lstStyle/>
                    <a:p>
                      <a:r>
                        <a:rPr sz="1950" b="0">
                          <a:solidFill>
                            <a:srgbClr val="172F42"/>
                          </a:solidFill>
                          <a:latin typeface="Arial"/>
                          <a:ea typeface="Arial"/>
                          <a:cs typeface="Arial"/>
                        </a:rPr>
                        <a:t>Uso</a:t>
                      </a:r>
                    </a:p>
                  </a:txBody>
                  <a:tcPr marL="95250" marR="95250" marT="57150" marB="57150">
                    <a:solidFill>
                      <a:srgbClr val="EDF3F7"/>
                    </a:solidFill>
                  </a:tcPr>
                </a:tc>
                <a:tc>
                  <a:txBody>
                    <a:bodyPr/>
                    <a:lstStyle/>
                    <a:p>
                      <a:r>
                        <a:rPr sz="1950" b="0">
                          <a:solidFill>
                            <a:srgbClr val="172F42"/>
                          </a:solidFill>
                          <a:latin typeface="Arial"/>
                          <a:ea typeface="Arial"/>
                          <a:cs typeface="Arial"/>
                        </a:rPr>
                        <a:t>Bloques</a:t>
                      </a:r>
                    </a:p>
                  </a:txBody>
                  <a:tcPr marL="95250" marR="95250" marT="57150" marB="57150">
                    <a:solidFill>
                      <a:srgbClr val="EDF3F7"/>
                    </a:solidFill>
                  </a:tcPr>
                </a:tc>
                <a:tc>
                  <a:txBody>
                    <a:bodyPr/>
                    <a:lstStyle/>
                    <a:p>
                      <a:r>
                        <a:rPr sz="1950" b="0">
                          <a:solidFill>
                            <a:srgbClr val="172F42"/>
                          </a:solidFill>
                          <a:latin typeface="Arial"/>
                          <a:ea typeface="Arial"/>
                          <a:cs typeface="Arial"/>
                        </a:rPr>
                        <a:t>Registros</a:t>
                      </a:r>
                    </a:p>
                  </a:txBody>
                  <a:tcPr marL="95250" marR="95250" marT="57150" marB="57150">
                    <a:solidFill>
                      <a:srgbClr val="EDF3F7"/>
                    </a:solidFill>
                  </a:tcPr>
                </a:tc>
                <a:tc>
                  <a:txBody>
                    <a:bodyPr/>
                    <a:lstStyle/>
                    <a:p>
                      <a:r>
                        <a:rPr sz="1950" b="0">
                          <a:solidFill>
                            <a:srgbClr val="172F42"/>
                          </a:solidFill>
                          <a:latin typeface="Arial"/>
                          <a:ea typeface="Arial"/>
                          <a:cs typeface="Arial"/>
                        </a:rPr>
                        <a:t>Suma de fex_c</a:t>
                      </a:r>
                    </a:p>
                  </a:txBody>
                  <a:tcPr marL="95250" marR="95250" marT="57150" marB="57150">
                    <a:solidFill>
                      <a:srgbClr val="EDF3F7"/>
                    </a:solidFill>
                  </a:tcPr>
                </a:tc>
                <a:extLst>
                  <a:ext uri="{0D108BD9-81ED-4DB2-BD59-A6C34878D82A}">
                    <a16:rowId xmlns:a16="http://schemas.microsoft.com/office/drawing/2014/main" val="10000"/>
                  </a:ext>
                </a:extLst>
              </a:tr>
              <a:tr h="650875">
                <a:tc>
                  <a:txBody>
                    <a:bodyPr/>
                    <a:lstStyle/>
                    <a:p>
                      <a:r>
                        <a:rPr sz="1950" b="0">
                          <a:solidFill>
                            <a:srgbClr val="172F42"/>
                          </a:solidFill>
                          <a:latin typeface="Arial"/>
                          <a:ea typeface="Arial"/>
                          <a:cs typeface="Arial"/>
                        </a:rPr>
                        <a:t>Entrenamiento</a:t>
                      </a:r>
                    </a:p>
                  </a:txBody>
                  <a:tcPr marL="95250" marR="95250" marT="57150" marB="57150">
                    <a:solidFill>
                      <a:srgbClr val="FFFFFF"/>
                    </a:solidFill>
                  </a:tcPr>
                </a:tc>
                <a:tc>
                  <a:txBody>
                    <a:bodyPr/>
                    <a:lstStyle/>
                    <a:p>
                      <a:r>
                        <a:rPr sz="1950" b="0">
                          <a:solidFill>
                            <a:srgbClr val="172F42"/>
                          </a:solidFill>
                          <a:latin typeface="Arial"/>
                          <a:ea typeface="Arial"/>
                          <a:cs typeface="Arial"/>
                        </a:rPr>
                        <a:t>1 a 7</a:t>
                      </a:r>
                    </a:p>
                  </a:txBody>
                  <a:tcPr marL="95250" marR="95250" marT="57150" marB="57150">
                    <a:solidFill>
                      <a:srgbClr val="FFFFFF"/>
                    </a:solidFill>
                  </a:tcPr>
                </a:tc>
                <a:tc>
                  <a:txBody>
                    <a:bodyPr/>
                    <a:lstStyle/>
                    <a:p>
                      <a:r>
                        <a:rPr sz="1950" b="0">
                          <a:solidFill>
                            <a:srgbClr val="172F42"/>
                          </a:solidFill>
                          <a:latin typeface="Arial"/>
                          <a:ea typeface="Arial"/>
                          <a:cs typeface="Arial"/>
                        </a:rPr>
                        <a:t>10.263</a:t>
                      </a:r>
                    </a:p>
                  </a:txBody>
                  <a:tcPr marL="95250" marR="95250" marT="57150" marB="57150">
                    <a:solidFill>
                      <a:srgbClr val="FFFFFF"/>
                    </a:solidFill>
                  </a:tcPr>
                </a:tc>
                <a:tc>
                  <a:txBody>
                    <a:bodyPr/>
                    <a:lstStyle/>
                    <a:p>
                      <a:r>
                        <a:rPr sz="1950" b="0">
                          <a:solidFill>
                            <a:srgbClr val="172F42"/>
                          </a:solidFill>
                          <a:latin typeface="Arial"/>
                          <a:ea typeface="Arial"/>
                          <a:cs typeface="Arial"/>
                        </a:rPr>
                        <a:t>2.499.677</a:t>
                      </a:r>
                    </a:p>
                  </a:txBody>
                  <a:tcPr marL="95250" marR="95250" marT="57150" marB="57150">
                    <a:solidFill>
                      <a:srgbClr val="FFFFFF"/>
                    </a:solidFill>
                  </a:tcPr>
                </a:tc>
                <a:extLst>
                  <a:ext uri="{0D108BD9-81ED-4DB2-BD59-A6C34878D82A}">
                    <a16:rowId xmlns:a16="http://schemas.microsoft.com/office/drawing/2014/main" val="10001"/>
                  </a:ext>
                </a:extLst>
              </a:tr>
              <a:tr h="650875">
                <a:tc>
                  <a:txBody>
                    <a:bodyPr/>
                    <a:lstStyle/>
                    <a:p>
                      <a:r>
                        <a:rPr sz="1950" b="0">
                          <a:solidFill>
                            <a:srgbClr val="172F42"/>
                          </a:solidFill>
                          <a:latin typeface="Arial"/>
                          <a:ea typeface="Arial"/>
                          <a:cs typeface="Arial"/>
                        </a:rPr>
                        <a:t>Validación</a:t>
                      </a:r>
                    </a:p>
                  </a:txBody>
                  <a:tcPr marL="95250" marR="95250" marT="57150" marB="57150">
                    <a:solidFill>
                      <a:srgbClr val="FFFFFF"/>
                    </a:solidFill>
                  </a:tcPr>
                </a:tc>
                <a:tc>
                  <a:txBody>
                    <a:bodyPr/>
                    <a:lstStyle/>
                    <a:p>
                      <a:r>
                        <a:rPr sz="1950" b="0">
                          <a:solidFill>
                            <a:srgbClr val="172F42"/>
                          </a:solidFill>
                          <a:latin typeface="Arial"/>
                          <a:ea typeface="Arial"/>
                          <a:cs typeface="Arial"/>
                        </a:rPr>
                        <a:t>8 a 10</a:t>
                      </a:r>
                    </a:p>
                  </a:txBody>
                  <a:tcPr marL="95250" marR="95250" marT="57150" marB="57150">
                    <a:solidFill>
                      <a:srgbClr val="FFFFFF"/>
                    </a:solidFill>
                  </a:tcPr>
                </a:tc>
                <a:tc>
                  <a:txBody>
                    <a:bodyPr/>
                    <a:lstStyle/>
                    <a:p>
                      <a:r>
                        <a:rPr sz="1950" b="0">
                          <a:solidFill>
                            <a:srgbClr val="172F42"/>
                          </a:solidFill>
                          <a:latin typeface="Arial"/>
                          <a:ea typeface="Arial"/>
                          <a:cs typeface="Arial"/>
                        </a:rPr>
                        <a:t>4.500</a:t>
                      </a:r>
                    </a:p>
                  </a:txBody>
                  <a:tcPr marL="95250" marR="95250" marT="57150" marB="57150">
                    <a:solidFill>
                      <a:srgbClr val="FFFFFF"/>
                    </a:solidFill>
                  </a:tcPr>
                </a:tc>
                <a:tc>
                  <a:txBody>
                    <a:bodyPr/>
                    <a:lstStyle/>
                    <a:p>
                      <a:r>
                        <a:rPr sz="1950" b="0">
                          <a:solidFill>
                            <a:srgbClr val="172F42"/>
                          </a:solidFill>
                          <a:latin typeface="Arial"/>
                          <a:ea typeface="Arial"/>
                          <a:cs typeface="Arial"/>
                        </a:rPr>
                        <a:t>1.186.729</a:t>
                      </a:r>
                    </a:p>
                  </a:txBody>
                  <a:tcPr marL="95250" marR="95250" marT="57150" marB="57150">
                    <a:solidFill>
                      <a:srgbClr val="FFFFFF"/>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5" name="EQ_pred_2_0">
                <a:extLst>
                  <a:ext uri="{FF2B5EF4-FFF2-40B4-BE49-F238E27FC236}">
                    <a16:creationId xmlns:a16="http://schemas.microsoft.com/office/drawing/2014/main" id="{3A5A2668-2E4E-4BF2-B2C5-E2BC57D4BD11}"/>
                  </a:ext>
                </a:extLst>
              </p:cNvPr>
              <p:cNvSpPr>
                <a:spLocks noGrp="1"/>
              </p:cNvSpPr>
              <p:nvPr/>
            </p:nvSpPr>
            <p:spPr>
              <a:xfrm>
                <a:off x="685800" y="3667125"/>
                <a:ext cx="10763250" cy="904875"/>
              </a:xfrm>
              <a:prstGeom prst="rect">
                <a:avLst/>
              </a:prstGeom>
              <a:noFill/>
              <a:ln w="0">
                <a:noFill/>
              </a:ln>
            </p:spPr>
            <p:txBody>
              <a:bodyPr/>
              <a:lstStyle/>
              <a:p>
                <a:pPr algn="l"/>
                <a14:m>
                  <m:oMathPara xmlns:m="http://schemas.openxmlformats.org/officeDocument/2006/math">
                    <m:oMath>
                      <m:sSub>
                        <m:sSubPr>
                          <m:ctrlPr>
                            <a:rPr>
                              <a:latin typeface="Cambria Math" panose="02040503050406030204" pitchFamily="18" charset="0"/>
                            </a:rPr>
                          </m:ctrlPr>
                        </m:sSubPr>
                        <m:e>
                          <m:r>
                            <m:rPr>
                              <m:sty m:val="p"/>
                            </m:rPr>
                            <a:rPr>
                              <a:latin typeface="Cambria Math" panose="02040503050406030204" pitchFamily="18" charset="0"/>
                            </a:rPr>
                            <m:t>RMSE</m:t>
                          </m:r>
                        </m:e>
                        <m:sub>
                          <m:r>
                            <a:rPr>
                              <a:latin typeface="Cambria Math" panose="02040503050406030204" pitchFamily="18" charset="0"/>
                            </a:rPr>
                            <m:t>𝑉</m:t>
                          </m:r>
                        </m:sub>
                      </m:sSub>
                      <m:r>
                        <a:rPr>
                          <a:latin typeface="Cambria Math" panose="02040503050406030204" pitchFamily="18" charset="0"/>
                        </a:rPr>
                        <m:t>=</m:t>
                      </m:r>
                      <m:rad>
                        <m:radPr>
                          <m:degHide m:val="on"/>
                          <m:ctrlPr>
                            <a:rPr i="1">
                              <a:latin typeface="Cambria Math" panose="02040503050406030204" pitchFamily="18" charset="0"/>
                            </a:rPr>
                          </m:ctrlPr>
                        </m:radPr>
                        <m:deg/>
                        <m:e>
                          <m:f>
                            <m:fPr>
                              <m:ctrlPr>
                                <a:rPr>
                                  <a:latin typeface="Cambria Math" panose="02040503050406030204" pitchFamily="18" charset="0"/>
                                </a:rPr>
                              </m:ctrlPr>
                            </m:fPr>
                            <m:num>
                              <m:r>
                                <a:rPr>
                                  <a:latin typeface="Cambria Math" panose="02040503050406030204" pitchFamily="18" charset="0"/>
                                </a:rPr>
                                <m:t>1</m:t>
                              </m:r>
                            </m:num>
                            <m:den>
                              <m:sSub>
                                <m:sSubPr>
                                  <m:ctrlPr>
                                    <a:rPr>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𝑉</m:t>
                                  </m:r>
                                </m:sub>
                              </m:sSub>
                            </m:den>
                          </m:f>
                          <m:nary>
                            <m:naryPr>
                              <m:chr m:val="∑"/>
                              <m:limLoc m:val="subSup"/>
                              <m:grow m:val="on"/>
                              <m:supHide m:val="on"/>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𝑉</m:t>
                              </m:r>
                            </m:sub>
                            <m:sup/>
                            <m:e>
                              <m:r>
                                <a:rPr>
                                  <a:latin typeface="Cambria Math" panose="02040503050406030204" pitchFamily="18" charset="0"/>
                                </a:rPr>
                                <m:t>(</m:t>
                              </m:r>
                            </m:e>
                          </m:nary>
                          <m:sSub>
                            <m:sSubPr>
                              <m:ctrlPr>
                                <a:rPr>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𝑖</m:t>
                              </m:r>
                            </m:sub>
                          </m:sSub>
                          <m:r>
                            <a:rPr>
                              <a:latin typeface="Cambria Math" panose="02040503050406030204" pitchFamily="18" charset="0"/>
                            </a:rPr>
                            <m:t>−</m:t>
                          </m:r>
                          <m:sSub>
                            <m:sSubPr>
                              <m:ctrlPr>
                                <a:rPr i="1">
                                  <a:latin typeface="Cambria Math" panose="02040503050406030204" pitchFamily="18" charset="0"/>
                                </a:rPr>
                              </m:ctrlPr>
                            </m:sSubPr>
                            <m:e>
                              <m:acc>
                                <m:accPr>
                                  <m:chr m:val="ˆ"/>
                                  <m:ctrlPr>
                                    <a:rPr>
                                      <a:latin typeface="Cambria Math" panose="02040503050406030204" pitchFamily="18" charset="0"/>
                                    </a:rPr>
                                  </m:ctrlPr>
                                </m:accPr>
                                <m:e>
                                  <m:r>
                                    <a:rPr>
                                      <a:latin typeface="Cambria Math" panose="02040503050406030204" pitchFamily="18" charset="0"/>
                                    </a:rPr>
                                    <m:t>𝑦</m:t>
                                  </m:r>
                                </m:e>
                              </m:acc>
                            </m:e>
                            <m:sub>
                              <m:r>
                                <a:rPr>
                                  <a:latin typeface="Cambria Math" panose="02040503050406030204" pitchFamily="18" charset="0"/>
                                </a:rPr>
                                <m:t>𝑖</m:t>
                              </m:r>
                            </m:sub>
                          </m:sSub>
                          <m:sSup>
                            <m:sSupPr>
                              <m:ctrlPr>
                                <a:rPr>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2</m:t>
                              </m:r>
                            </m:sup>
                          </m:sSup>
                        </m:e>
                      </m:rad>
                    </m:oMath>
                  </m:oMathPara>
                </a14:m>
                <a:endParaRPr sz="2900"/>
              </a:p>
            </p:txBody>
          </p:sp>
        </mc:Choice>
        <mc:Fallback xmlns="">
          <p:sp>
            <p:nvSpPr>
              <p:cNvPr id="5" name="EQ_pred_2_0">
                <a:extLst>
                  <a:ext uri="{FF2B5EF4-FFF2-40B4-BE49-F238E27FC236}">
                    <a16:creationId xmlns:a16="http://schemas.microsoft.com/office/drawing/2014/main" id="{3A5A2668-2E4E-4BF2-B2C5-E2BC57D4BD11}"/>
                  </a:ext>
                </a:extLst>
              </p:cNvPr>
              <p:cNvSpPr>
                <a:spLocks noGrp="1" noRot="1" noChangeAspect="1" noMove="1" noResize="1" noEditPoints="1" noAdjustHandles="1" noChangeArrowheads="1" noChangeShapeType="1" noTextEdit="1"/>
              </p:cNvSpPr>
              <p:nvPr/>
            </p:nvSpPr>
            <p:spPr>
              <a:xfrm>
                <a:off x="685800" y="3667125"/>
                <a:ext cx="10763250" cy="904875"/>
              </a:xfrm>
              <a:prstGeom prst="rect">
                <a:avLst/>
              </a:prstGeom>
              <a:blipFill>
                <a:blip r:embed="rId3"/>
                <a:stretch>
                  <a:fillRect/>
                </a:stretch>
              </a:blipFill>
              <a:ln w="0">
                <a:noFill/>
              </a:ln>
            </p:spPr>
            <p:txBody>
              <a:bodyPr/>
              <a:lstStyle/>
              <a:p>
                <a:r>
                  <a:rPr lang="es-CO">
                    <a:noFill/>
                  </a:rPr>
                  <a:t> </a:t>
                </a:r>
              </a:p>
            </p:txBody>
          </p:sp>
        </mc:Fallback>
      </mc:AlternateContent>
      <p:sp>
        <p:nvSpPr>
          <p:cNvPr id="6" name="Rectángulo 5">
            <a:extLst>
              <a:ext uri="{FF2B5EF4-FFF2-40B4-BE49-F238E27FC236}">
                <a16:creationId xmlns:a16="http://schemas.microsoft.com/office/drawing/2014/main" id="{95BFE703-69C3-4B6A-87B0-FA470AACD5D1}"/>
              </a:ext>
            </a:extLst>
          </p:cNvPr>
          <p:cNvSpPr>
            <a:spLocks noGrp="1"/>
          </p:cNvSpPr>
          <p:nvPr/>
        </p:nvSpPr>
        <p:spPr>
          <a:xfrm>
            <a:off x="685800" y="5143500"/>
            <a:ext cx="10763250" cy="762000"/>
          </a:xfrm>
          <a:prstGeom prst="rect">
            <a:avLst/>
          </a:prstGeom>
          <a:noFill/>
          <a:ln w="0">
            <a:noFill/>
          </a:ln>
        </p:spPr>
        <p:txBody>
          <a:bodyPr>
            <a:noAutofit/>
          </a:bodyPr>
          <a:lstStyle/>
          <a:p>
            <a:pPr>
              <a:defRPr sz="2025" b="0">
                <a:solidFill>
                  <a:srgbClr val="172F42"/>
                </a:solidFill>
                <a:latin typeface="Arial"/>
                <a:ea typeface="Arial"/>
                <a:cs typeface="Arial"/>
              </a:defRPr>
            </a:pPr>
            <a:r>
              <a:rPr sz="2025" b="0" dirty="0">
                <a:solidFill>
                  <a:srgbClr val="172F42"/>
                </a:solidFill>
                <a:latin typeface="Arial"/>
                <a:ea typeface="Arial"/>
                <a:cs typeface="Arial"/>
              </a:rPr>
              <a:t>La </a:t>
            </a:r>
            <a:r>
              <a:rPr sz="2025" b="0" dirty="0" err="1">
                <a:solidFill>
                  <a:srgbClr val="172F42"/>
                </a:solidFill>
                <a:latin typeface="Arial"/>
                <a:ea typeface="Arial"/>
                <a:cs typeface="Arial"/>
              </a:rPr>
              <a:t>selección</a:t>
            </a:r>
            <a:r>
              <a:rPr sz="2025" b="0" dirty="0">
                <a:solidFill>
                  <a:srgbClr val="172F42"/>
                </a:solidFill>
                <a:latin typeface="Arial"/>
                <a:ea typeface="Arial"/>
                <a:cs typeface="Arial"/>
              </a:rPr>
              <a:t> </a:t>
            </a:r>
            <a:r>
              <a:rPr sz="2025" b="0" dirty="0" err="1">
                <a:solidFill>
                  <a:srgbClr val="172F42"/>
                </a:solidFill>
                <a:latin typeface="Arial"/>
                <a:ea typeface="Arial"/>
                <a:cs typeface="Arial"/>
              </a:rPr>
              <a:t>minimiza</a:t>
            </a:r>
            <a:r>
              <a:rPr sz="2025" b="0" dirty="0">
                <a:solidFill>
                  <a:srgbClr val="172F42"/>
                </a:solidFill>
                <a:latin typeface="Arial"/>
                <a:ea typeface="Arial"/>
                <a:cs typeface="Arial"/>
              </a:rPr>
              <a:t> error </a:t>
            </a:r>
            <a:r>
              <a:rPr sz="2025" b="0" dirty="0" err="1">
                <a:solidFill>
                  <a:srgbClr val="172F42"/>
                </a:solidFill>
                <a:latin typeface="Arial"/>
                <a:ea typeface="Arial"/>
                <a:cs typeface="Arial"/>
              </a:rPr>
              <a:t>por</a:t>
            </a:r>
            <a:r>
              <a:rPr sz="2025" b="0" dirty="0">
                <a:solidFill>
                  <a:srgbClr val="172F42"/>
                </a:solidFill>
                <a:latin typeface="Arial"/>
                <a:ea typeface="Arial"/>
                <a:cs typeface="Arial"/>
              </a:rPr>
              <a:t> </a:t>
            </a:r>
            <a:r>
              <a:rPr sz="2025" b="0" dirty="0" err="1">
                <a:solidFill>
                  <a:srgbClr val="172F42"/>
                </a:solidFill>
                <a:latin typeface="Arial"/>
                <a:ea typeface="Arial"/>
                <a:cs typeface="Arial"/>
              </a:rPr>
              <a:t>registro</a:t>
            </a:r>
            <a:r>
              <a:rPr sz="2025" b="0" dirty="0">
                <a:solidFill>
                  <a:srgbClr val="172F42"/>
                </a:solidFill>
                <a:latin typeface="Arial"/>
                <a:ea typeface="Arial"/>
                <a:cs typeface="Arial"/>
              </a:rPr>
              <a:t>, sin </a:t>
            </a:r>
            <a:r>
              <a:rPr sz="2025" b="0" dirty="0" err="1">
                <a:solidFill>
                  <a:srgbClr val="172F42"/>
                </a:solidFill>
                <a:latin typeface="Arial"/>
                <a:ea typeface="Arial"/>
                <a:cs typeface="Arial"/>
              </a:rPr>
              <a:t>fex_c</a:t>
            </a:r>
            <a:r>
              <a:rPr sz="2025" b="0" dirty="0">
                <a:solidFill>
                  <a:srgbClr val="172F42"/>
                </a:solidFill>
                <a:latin typeface="Arial"/>
                <a:ea typeface="Arial"/>
                <a:cs typeface="Arial"/>
              </a:rPr>
              <a:t>. El RMSE </a:t>
            </a:r>
            <a:r>
              <a:rPr sz="2025" b="0" dirty="0" err="1">
                <a:solidFill>
                  <a:srgbClr val="172F42"/>
                </a:solidFill>
                <a:latin typeface="Arial"/>
                <a:ea typeface="Arial"/>
                <a:cs typeface="Arial"/>
              </a:rPr>
              <a:t>ponderado</a:t>
            </a:r>
            <a:r>
              <a:rPr sz="2025" b="0" dirty="0">
                <a:solidFill>
                  <a:srgbClr val="172F42"/>
                </a:solidFill>
                <a:latin typeface="Arial"/>
                <a:ea typeface="Arial"/>
                <a:cs typeface="Arial"/>
              </a:rPr>
              <a:t> se </a:t>
            </a:r>
            <a:r>
              <a:rPr sz="2025" b="0" dirty="0" err="1">
                <a:solidFill>
                  <a:srgbClr val="172F42"/>
                </a:solidFill>
                <a:latin typeface="Arial"/>
                <a:ea typeface="Arial"/>
                <a:cs typeface="Arial"/>
              </a:rPr>
              <a:t>reporta</a:t>
            </a:r>
            <a:r>
              <a:rPr sz="2025" b="0" dirty="0">
                <a:solidFill>
                  <a:srgbClr val="172F42"/>
                </a:solidFill>
                <a:latin typeface="Arial"/>
                <a:ea typeface="Arial"/>
                <a:cs typeface="Arial"/>
              </a:rPr>
              <a:t> </a:t>
            </a:r>
            <a:r>
              <a:rPr sz="2025" b="0" dirty="0" err="1">
                <a:solidFill>
                  <a:srgbClr val="172F42"/>
                </a:solidFill>
                <a:latin typeface="Arial"/>
                <a:ea typeface="Arial"/>
                <a:cs typeface="Arial"/>
              </a:rPr>
              <a:t>como</a:t>
            </a:r>
            <a:r>
              <a:rPr sz="2025" b="0" dirty="0">
                <a:solidFill>
                  <a:srgbClr val="172F42"/>
                </a:solidFill>
                <a:latin typeface="Arial"/>
                <a:ea typeface="Arial"/>
                <a:cs typeface="Arial"/>
              </a:rPr>
              <a:t> </a:t>
            </a:r>
            <a:r>
              <a:rPr sz="2025" b="0" dirty="0" err="1">
                <a:solidFill>
                  <a:srgbClr val="172F42"/>
                </a:solidFill>
                <a:latin typeface="Arial"/>
                <a:ea typeface="Arial"/>
                <a:cs typeface="Arial"/>
              </a:rPr>
              <a:t>sensibilidad</a:t>
            </a:r>
            <a:r>
              <a:rPr sz="2025" b="0" dirty="0">
                <a:solidFill>
                  <a:srgbClr val="172F42"/>
                </a:solidFill>
                <a:latin typeface="Arial"/>
                <a:ea typeface="Arial"/>
                <a:cs typeface="Arial"/>
              </a:rPr>
              <a:t> </a:t>
            </a:r>
            <a:r>
              <a:rPr sz="2025" b="0" dirty="0" err="1">
                <a:solidFill>
                  <a:srgbClr val="172F42"/>
                </a:solidFill>
                <a:latin typeface="Arial"/>
                <a:ea typeface="Arial"/>
                <a:cs typeface="Arial"/>
              </a:rPr>
              <a:t>poblacional</a:t>
            </a:r>
            <a:r>
              <a:rPr sz="2025" b="0" dirty="0">
                <a:solidFill>
                  <a:srgbClr val="172F42"/>
                </a:solidFill>
                <a:latin typeface="Arial"/>
                <a:ea typeface="Arial"/>
                <a:cs typeface="Arial"/>
              </a:rPr>
              <a:t>.</a:t>
            </a:r>
          </a:p>
        </p:txBody>
      </p:sp>
    </p:spTree>
    <p:extLst>
      <p:ext uri="{BB962C8B-B14F-4D97-AF65-F5344CB8AC3E}">
        <p14:creationId xmlns:p14="http://schemas.microsoft.com/office/powerpoint/2010/main" val="733342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2A95CCEE-C829-4966-84A2-D7321F701423}"/>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Las variables deben aportar información disponible</a:t>
            </a:r>
          </a:p>
        </p:txBody>
      </p:sp>
      <p:sp>
        <p:nvSpPr>
          <p:cNvPr id="2" name="Rectángulo 1">
            <a:extLst>
              <a:ext uri="{FF2B5EF4-FFF2-40B4-BE49-F238E27FC236}">
                <a16:creationId xmlns:a16="http://schemas.microsoft.com/office/drawing/2014/main" id="{6BA901FC-09C9-49AE-80E6-200901E5DE42}"/>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a:solidFill>
                  <a:srgbClr val="526471"/>
                </a:solidFill>
                <a:latin typeface="Arial"/>
                <a:ea typeface="Arial"/>
                <a:cs typeface="Arial"/>
              </a:rPr>
              <a:t>Entrenamiento: 10.263 registros. Validación: 4.500 registros. Fuente: GEIH 2018, Bogotá.</a:t>
            </a:r>
          </a:p>
        </p:txBody>
      </p:sp>
      <p:sp>
        <p:nvSpPr>
          <p:cNvPr id="3" name="Rectángulo 2">
            <a:extLst>
              <a:ext uri="{FF2B5EF4-FFF2-40B4-BE49-F238E27FC236}">
                <a16:creationId xmlns:a16="http://schemas.microsoft.com/office/drawing/2014/main" id="{DB202CB9-28C9-4F25-B9D3-3E9A06697165}"/>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3</a:t>
            </a:r>
          </a:p>
        </p:txBody>
      </p:sp>
      <p:sp>
        <p:nvSpPr>
          <p:cNvPr id="4" name="Rectángulo 3">
            <a:extLst>
              <a:ext uri="{FF2B5EF4-FFF2-40B4-BE49-F238E27FC236}">
                <a16:creationId xmlns:a16="http://schemas.microsoft.com/office/drawing/2014/main" id="{BAFA90E1-F057-48F5-81A7-FC3971BF8644}"/>
              </a:ext>
            </a:extLst>
          </p:cNvPr>
          <p:cNvSpPr>
            <a:spLocks noGrp="1"/>
          </p:cNvSpPr>
          <p:nvPr/>
        </p:nvSpPr>
        <p:spPr>
          <a:xfrm>
            <a:off x="685800" y="1524000"/>
            <a:ext cx="5048250" cy="3667125"/>
          </a:xfrm>
          <a:prstGeom prst="rect">
            <a:avLst/>
          </a:prstGeom>
          <a:noFill/>
          <a:ln w="0">
            <a:noFill/>
          </a:ln>
        </p:spPr>
        <p:txBody>
          <a:bodyPr>
            <a:noAutofit/>
          </a:bodyPr>
          <a:lstStyle/>
          <a:p>
            <a:pPr>
              <a:defRPr sz="2025" b="0">
                <a:solidFill>
                  <a:srgbClr val="172F42"/>
                </a:solidFill>
                <a:latin typeface="Arial"/>
                <a:ea typeface="Arial"/>
                <a:cs typeface="Arial"/>
              </a:defRPr>
            </a:pPr>
            <a:r>
              <a:rPr sz="2025" b="0">
                <a:solidFill>
                  <a:srgbClr val="172F42"/>
                </a:solidFill>
                <a:latin typeface="Arial"/>
                <a:ea typeface="Arial"/>
                <a:cs typeface="Arial"/>
              </a:rPr>
              <a:t>Información económica</a:t>
            </a:r>
          </a:p>
          <a:p>
            <a:endParaRPr sz="2025" b="0">
              <a:solidFill>
                <a:srgbClr val="172F42"/>
              </a:solidFill>
              <a:latin typeface="Arial"/>
              <a:ea typeface="Arial"/>
              <a:cs typeface="Arial"/>
            </a:endParaRPr>
          </a:p>
          <a:p>
            <a:pPr>
              <a:defRPr sz="2025" b="0">
                <a:solidFill>
                  <a:srgbClr val="172F42"/>
                </a:solidFill>
                <a:latin typeface="Arial"/>
                <a:ea typeface="Arial"/>
                <a:cs typeface="Arial"/>
              </a:defRPr>
            </a:pPr>
            <a:r>
              <a:rPr sz="2025" b="0">
                <a:solidFill>
                  <a:srgbClr val="172F42"/>
                </a:solidFill>
                <a:latin typeface="Arial"/>
                <a:ea typeface="Arial"/>
                <a:cs typeface="Arial"/>
              </a:rPr>
              <a:t>Edad y escolaridad.</a:t>
            </a:r>
          </a:p>
          <a:p>
            <a:pPr>
              <a:defRPr sz="2025" b="0">
                <a:solidFill>
                  <a:srgbClr val="172F42"/>
                </a:solidFill>
                <a:latin typeface="Arial"/>
                <a:ea typeface="Arial"/>
                <a:cs typeface="Arial"/>
              </a:defRPr>
            </a:pPr>
            <a:r>
              <a:rPr sz="2025" b="0">
                <a:solidFill>
                  <a:srgbClr val="172F42"/>
                </a:solidFill>
                <a:latin typeface="Arial"/>
                <a:ea typeface="Arial"/>
                <a:cs typeface="Arial"/>
              </a:rPr>
              <a:t>Horas, antigüedad y segundo empleo.</a:t>
            </a:r>
          </a:p>
          <a:p>
            <a:pPr>
              <a:defRPr sz="2025" b="0">
                <a:solidFill>
                  <a:srgbClr val="172F42"/>
                </a:solidFill>
                <a:latin typeface="Arial"/>
                <a:ea typeface="Arial"/>
                <a:cs typeface="Arial"/>
              </a:defRPr>
            </a:pPr>
            <a:r>
              <a:rPr sz="2025" b="0">
                <a:solidFill>
                  <a:srgbClr val="172F42"/>
                </a:solidFill>
                <a:latin typeface="Arial"/>
                <a:ea typeface="Arial"/>
                <a:cs typeface="Arial"/>
              </a:rPr>
              <a:t>Vínculo, ocupación, tamaño de firma y formalidad.</a:t>
            </a:r>
          </a:p>
          <a:p>
            <a:pPr>
              <a:defRPr sz="2025" b="0">
                <a:solidFill>
                  <a:srgbClr val="172F42"/>
                </a:solidFill>
                <a:latin typeface="Arial"/>
                <a:ea typeface="Arial"/>
                <a:cs typeface="Arial"/>
              </a:defRPr>
            </a:pPr>
            <a:r>
              <a:rPr sz="2025" b="0">
                <a:solidFill>
                  <a:srgbClr val="172F42"/>
                </a:solidFill>
                <a:latin typeface="Arial"/>
                <a:ea typeface="Arial"/>
                <a:cs typeface="Arial"/>
              </a:rPr>
              <a:t>Estrato y características del hogar.</a:t>
            </a:r>
          </a:p>
        </p:txBody>
      </p:sp>
      <p:sp>
        <p:nvSpPr>
          <p:cNvPr id="5" name="Rectángulo 4">
            <a:extLst>
              <a:ext uri="{FF2B5EF4-FFF2-40B4-BE49-F238E27FC236}">
                <a16:creationId xmlns:a16="http://schemas.microsoft.com/office/drawing/2014/main" id="{31D838DE-3402-4182-965F-39CD8A611C83}"/>
              </a:ext>
            </a:extLst>
          </p:cNvPr>
          <p:cNvSpPr>
            <a:spLocks noGrp="1"/>
          </p:cNvSpPr>
          <p:nvPr/>
        </p:nvSpPr>
        <p:spPr>
          <a:xfrm>
            <a:off x="6438900" y="1524000"/>
            <a:ext cx="5048250" cy="3667125"/>
          </a:xfrm>
          <a:prstGeom prst="rect">
            <a:avLst/>
          </a:prstGeom>
          <a:noFill/>
          <a:ln w="0">
            <a:noFill/>
          </a:ln>
        </p:spPr>
        <p:txBody>
          <a:bodyPr>
            <a:noAutofit/>
          </a:bodyPr>
          <a:lstStyle/>
          <a:p>
            <a:pPr>
              <a:defRPr sz="2025" b="0">
                <a:solidFill>
                  <a:srgbClr val="172F42"/>
                </a:solidFill>
                <a:latin typeface="Arial"/>
                <a:ea typeface="Arial"/>
                <a:cs typeface="Arial"/>
              </a:defRPr>
            </a:pPr>
            <a:r>
              <a:rPr sz="2025" b="0">
                <a:solidFill>
                  <a:srgbClr val="172F42"/>
                </a:solidFill>
                <a:latin typeface="Arial"/>
                <a:ea typeface="Arial"/>
                <a:cs typeface="Arial"/>
              </a:rPr>
              <a:t>Flexibilidad controlada</a:t>
            </a:r>
          </a:p>
          <a:p>
            <a:endParaRPr sz="2025" b="0">
              <a:solidFill>
                <a:srgbClr val="172F42"/>
              </a:solidFill>
              <a:latin typeface="Arial"/>
              <a:ea typeface="Arial"/>
              <a:cs typeface="Arial"/>
            </a:endParaRPr>
          </a:p>
          <a:p>
            <a:pPr>
              <a:defRPr sz="2025" b="0">
                <a:solidFill>
                  <a:srgbClr val="172F42"/>
                </a:solidFill>
                <a:latin typeface="Arial"/>
                <a:ea typeface="Arial"/>
                <a:cs typeface="Arial"/>
              </a:defRPr>
            </a:pPr>
            <a:r>
              <a:rPr sz="2025" b="0">
                <a:solidFill>
                  <a:srgbClr val="172F42"/>
                </a:solidFill>
                <a:latin typeface="Arial"/>
                <a:ea typeface="Arial"/>
                <a:cs typeface="Arial"/>
              </a:rPr>
              <a:t>Polinomios y bases cúbicas por tramos.</a:t>
            </a:r>
          </a:p>
          <a:p>
            <a:pPr>
              <a:defRPr sz="2025" b="0">
                <a:solidFill>
                  <a:srgbClr val="172F42"/>
                </a:solidFill>
                <a:latin typeface="Arial"/>
                <a:ea typeface="Arial"/>
                <a:cs typeface="Arial"/>
              </a:defRPr>
            </a:pPr>
            <a:r>
              <a:rPr sz="2025" b="0">
                <a:solidFill>
                  <a:srgbClr val="172F42"/>
                </a:solidFill>
                <a:latin typeface="Arial"/>
                <a:ea typeface="Arial"/>
                <a:cs typeface="Arial"/>
              </a:rPr>
              <a:t>Interacciones de características personales y laborales.</a:t>
            </a:r>
          </a:p>
          <a:p>
            <a:pPr>
              <a:defRPr sz="2025" b="0">
                <a:solidFill>
                  <a:srgbClr val="172F42"/>
                </a:solidFill>
                <a:latin typeface="Arial"/>
                <a:ea typeface="Arial"/>
                <a:cs typeface="Arial"/>
              </a:defRPr>
            </a:pPr>
            <a:r>
              <a:rPr sz="2025" b="0">
                <a:solidFill>
                  <a:srgbClr val="172F42"/>
                </a:solidFill>
                <a:latin typeface="Arial"/>
                <a:ea typeface="Arial"/>
                <a:cs typeface="Arial"/>
              </a:rPr>
              <a:t>Categorías de ocupación más detalladas.</a:t>
            </a:r>
          </a:p>
        </p:txBody>
      </p:sp>
      <p:sp>
        <p:nvSpPr>
          <p:cNvPr id="6" name="Rectángulo 5">
            <a:extLst>
              <a:ext uri="{FF2B5EF4-FFF2-40B4-BE49-F238E27FC236}">
                <a16:creationId xmlns:a16="http://schemas.microsoft.com/office/drawing/2014/main" id="{C6894D46-DB9D-4063-8608-7B1D7DB37B07}"/>
              </a:ext>
            </a:extLst>
          </p:cNvPr>
          <p:cNvSpPr>
            <a:spLocks noGrp="1"/>
          </p:cNvSpPr>
          <p:nvPr/>
        </p:nvSpPr>
        <p:spPr>
          <a:xfrm>
            <a:off x="685800" y="5572125"/>
            <a:ext cx="10763250" cy="495300"/>
          </a:xfrm>
          <a:prstGeom prst="rect">
            <a:avLst/>
          </a:prstGeom>
          <a:noFill/>
          <a:ln w="0">
            <a:noFill/>
          </a:ln>
        </p:spPr>
        <p:txBody>
          <a:bodyPr>
            <a:noAutofit/>
          </a:bodyPr>
          <a:lstStyle/>
          <a:p>
            <a:pPr>
              <a:defRPr sz="1875" b="0">
                <a:solidFill>
                  <a:srgbClr val="172F42"/>
                </a:solidFill>
                <a:latin typeface="Arial"/>
                <a:ea typeface="Arial"/>
                <a:cs typeface="Arial"/>
              </a:defRPr>
            </a:pPr>
            <a:r>
              <a:rPr sz="1875" b="0">
                <a:solidFill>
                  <a:srgbClr val="172F42"/>
                </a:solidFill>
                <a:latin typeface="Arial"/>
                <a:ea typeface="Arial"/>
                <a:cs typeface="Arial"/>
              </a:rPr>
              <a:t>Se excluyen ingresos derivados, identificadores y variables que revelarían la respuesta.</a:t>
            </a:r>
          </a:p>
        </p:txBody>
      </p:sp>
    </p:spTree>
    <p:extLst>
      <p:ext uri="{BB962C8B-B14F-4D97-AF65-F5344CB8AC3E}">
        <p14:creationId xmlns:p14="http://schemas.microsoft.com/office/powerpoint/2010/main" val="1924841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DD8873C9-1763-4CC6-96D1-7BF74D4D3F0E}"/>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Ridge limita la complejidad de las interacciones</a:t>
            </a:r>
          </a:p>
        </p:txBody>
      </p:sp>
      <p:sp>
        <p:nvSpPr>
          <p:cNvPr id="2" name="Rectángulo 1">
            <a:extLst>
              <a:ext uri="{FF2B5EF4-FFF2-40B4-BE49-F238E27FC236}">
                <a16:creationId xmlns:a16="http://schemas.microsoft.com/office/drawing/2014/main" id="{06539B92-0906-4360-8E00-AFC24A10F4AF}"/>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a:solidFill>
                  <a:srgbClr val="526471"/>
                </a:solidFill>
                <a:latin typeface="Arial"/>
                <a:ea typeface="Arial"/>
                <a:cs typeface="Arial"/>
              </a:rPr>
              <a:t>Entrenamiento: 10.263 registros. Validación: 4.500 registros. Fuente: GEIH 2018, Bogotá.</a:t>
            </a:r>
          </a:p>
        </p:txBody>
      </p:sp>
      <p:sp>
        <p:nvSpPr>
          <p:cNvPr id="3" name="Rectángulo 2">
            <a:extLst>
              <a:ext uri="{FF2B5EF4-FFF2-40B4-BE49-F238E27FC236}">
                <a16:creationId xmlns:a16="http://schemas.microsoft.com/office/drawing/2014/main" id="{D2F6F1C7-8C44-4D45-8706-80F4E2287643}"/>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4</a:t>
            </a:r>
          </a:p>
        </p:txBody>
      </p:sp>
      <mc:AlternateContent xmlns:mc="http://schemas.openxmlformats.org/markup-compatibility/2006" xmlns:a14="http://schemas.microsoft.com/office/drawing/2010/main">
        <mc:Choice Requires="a14">
          <p:sp>
            <p:nvSpPr>
              <p:cNvPr id="4" name="EQ_pred_4_1">
                <a:extLst>
                  <a:ext uri="{FF2B5EF4-FFF2-40B4-BE49-F238E27FC236}">
                    <a16:creationId xmlns:a16="http://schemas.microsoft.com/office/drawing/2014/main" id="{F9A60CE3-6D37-4B8D-99C4-8B48252F134E}"/>
                  </a:ext>
                </a:extLst>
              </p:cNvPr>
              <p:cNvSpPr>
                <a:spLocks noGrp="1"/>
              </p:cNvSpPr>
              <p:nvPr/>
            </p:nvSpPr>
            <p:spPr>
              <a:xfrm>
                <a:off x="685800" y="1381125"/>
                <a:ext cx="10763250" cy="1047750"/>
              </a:xfrm>
              <a:prstGeom prst="rect">
                <a:avLst/>
              </a:prstGeom>
              <a:noFill/>
              <a:ln w="0">
                <a:noFill/>
              </a:ln>
            </p:spPr>
            <p:txBody>
              <a:bodyPr/>
              <a:lstStyle/>
              <a:p>
                <a:pPr algn="l"/>
                <a14:m>
                  <m:oMathPara xmlns:m="http://schemas.openxmlformats.org/officeDocument/2006/math">
                    <m:oMath>
                      <m:r>
                        <a:rPr>
                          <a:latin typeface="Cambria Math" panose="02040503050406030204" pitchFamily="18" charset="0"/>
                        </a:rPr>
                        <m:t>(</m:t>
                      </m:r>
                      <m:acc>
                        <m:accPr>
                          <m:chr m:val="ˆ"/>
                          <m:ctrlPr>
                            <a:rPr>
                              <a:latin typeface="Cambria Math" panose="02040503050406030204" pitchFamily="18" charset="0"/>
                            </a:rPr>
                          </m:ctrlPr>
                        </m:accPr>
                        <m:e>
                          <m:r>
                            <a:rPr>
                              <a:latin typeface="Cambria Math" panose="02040503050406030204" pitchFamily="18" charset="0"/>
                            </a:rPr>
                            <m:t>𝛼</m:t>
                          </m:r>
                        </m:e>
                      </m:acc>
                      <m:r>
                        <a:rPr>
                          <a:latin typeface="Cambria Math" panose="02040503050406030204" pitchFamily="18" charset="0"/>
                        </a:rPr>
                        <m:t>,</m:t>
                      </m:r>
                      <m:sSub>
                        <m:sSubPr>
                          <m:ctrlPr>
                            <a:rPr i="1">
                              <a:latin typeface="Cambria Math" panose="02040503050406030204" pitchFamily="18" charset="0"/>
                            </a:rPr>
                          </m:ctrlPr>
                        </m:sSubPr>
                        <m:e>
                          <m:acc>
                            <m:accPr>
                              <m:chr m:val="ˆ"/>
                              <m:ctrlPr>
                                <a:rPr>
                                  <a:latin typeface="Cambria Math" panose="02040503050406030204" pitchFamily="18" charset="0"/>
                                </a:rPr>
                              </m:ctrlPr>
                            </m:accPr>
                            <m:e>
                              <m:r>
                                <a:rPr>
                                  <a:latin typeface="Cambria Math" panose="02040503050406030204" pitchFamily="18" charset="0"/>
                                </a:rPr>
                                <m:t>𝛽</m:t>
                              </m:r>
                            </m:e>
                          </m:acc>
                        </m:e>
                        <m:sub>
                          <m:r>
                            <a:rPr>
                              <a:latin typeface="Cambria Math" panose="02040503050406030204" pitchFamily="18" charset="0"/>
                            </a:rPr>
                            <m:t>𝜆</m:t>
                          </m:r>
                        </m:sub>
                      </m:sSub>
                      <m:r>
                        <a:rPr>
                          <a:latin typeface="Cambria Math" panose="02040503050406030204" pitchFamily="18" charset="0"/>
                        </a:rPr>
                        <m:t>)=</m:t>
                      </m:r>
                      <m:r>
                        <m:rPr>
                          <m:sty m:val="p"/>
                        </m:rPr>
                        <a:rPr>
                          <a:latin typeface="Cambria Math" panose="02040503050406030204" pitchFamily="18" charset="0"/>
                        </a:rPr>
                        <m:t>arg</m:t>
                      </m:r>
                      <m:sSub>
                        <m:sSubPr>
                          <m:ctrlPr>
                            <a:rPr>
                              <a:latin typeface="Cambria Math" panose="02040503050406030204" pitchFamily="18" charset="0"/>
                            </a:rPr>
                          </m:ctrlPr>
                        </m:sSubPr>
                        <m:e>
                          <m:r>
                            <m:rPr>
                              <m:sty m:val="p"/>
                            </m:rPr>
                            <a:rPr>
                              <a:latin typeface="Cambria Math" panose="02040503050406030204" pitchFamily="18" charset="0"/>
                            </a:rPr>
                            <m:t>min</m:t>
                          </m:r>
                        </m:e>
                        <m:sub>
                          <m:r>
                            <a:rPr>
                              <a:latin typeface="Cambria Math" panose="02040503050406030204" pitchFamily="18" charset="0"/>
                            </a:rPr>
                            <m:t>𝛼</m:t>
                          </m:r>
                          <m:r>
                            <a:rPr>
                              <a:latin typeface="Cambria Math" panose="02040503050406030204" pitchFamily="18" charset="0"/>
                            </a:rPr>
                            <m:t>,</m:t>
                          </m:r>
                          <m:r>
                            <a:rPr>
                              <a:latin typeface="Cambria Math" panose="02040503050406030204" pitchFamily="18" charset="0"/>
                            </a:rPr>
                            <m:t>𝑏</m:t>
                          </m:r>
                        </m:sub>
                      </m:sSub>
                      <m:r>
                        <a:rPr>
                          <a:latin typeface="Cambria Math" panose="02040503050406030204" pitchFamily="18" charset="0"/>
                        </a:rPr>
                        <m:t>[</m:t>
                      </m:r>
                      <m:nary>
                        <m:naryPr>
                          <m:chr m:val="∑"/>
                          <m:limLoc m:val="subSup"/>
                          <m:grow m:val="on"/>
                          <m:supHide m:val="on"/>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𝑇</m:t>
                          </m:r>
                        </m:sub>
                        <m:sup/>
                        <m:e>
                          <m:r>
                            <a:rPr>
                              <a:latin typeface="Cambria Math" panose="02040503050406030204" pitchFamily="18" charset="0"/>
                            </a:rPr>
                            <m:t>(</m:t>
                          </m:r>
                        </m:e>
                      </m:nary>
                      <m:sSub>
                        <m:sSubPr>
                          <m:ctrlPr>
                            <a:rPr>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𝑖</m:t>
                          </m:r>
                        </m:sub>
                      </m:sSub>
                      <m:r>
                        <a:rPr>
                          <a:latin typeface="Cambria Math" panose="02040503050406030204" pitchFamily="18" charset="0"/>
                        </a:rPr>
                        <m:t>−</m:t>
                      </m:r>
                      <m:r>
                        <a:rPr>
                          <a:latin typeface="Cambria Math" panose="02040503050406030204" pitchFamily="18" charset="0"/>
                        </a:rPr>
                        <m:t>𝛼</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r>
                        <a:rPr>
                          <a:latin typeface="Cambria Math" panose="02040503050406030204" pitchFamily="18" charset="0"/>
                        </a:rPr>
                        <m:t>′</m:t>
                      </m:r>
                      <m:r>
                        <a:rPr>
                          <a:latin typeface="Cambria Math" panose="02040503050406030204" pitchFamily="18" charset="0"/>
                        </a:rPr>
                        <m:t>𝑏</m:t>
                      </m:r>
                      <m:sSup>
                        <m:sSupPr>
                          <m:ctrlPr>
                            <a:rPr>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2</m:t>
                          </m:r>
                        </m:sup>
                      </m:sSup>
                      <m:r>
                        <a:rPr>
                          <a:latin typeface="Cambria Math" panose="02040503050406030204" pitchFamily="18" charset="0"/>
                        </a:rPr>
                        <m:t>+</m:t>
                      </m:r>
                      <m:r>
                        <a:rPr>
                          <a:latin typeface="Cambria Math" panose="02040503050406030204" pitchFamily="18" charset="0"/>
                        </a:rPr>
                        <m:t>𝜆</m:t>
                      </m:r>
                      <m:nary>
                        <m:naryPr>
                          <m:chr m:val="∑"/>
                          <m:limLoc m:val="subSup"/>
                          <m:grow m:val="on"/>
                          <m:supHide m:val="on"/>
                          <m:ctrlPr>
                            <a:rPr>
                              <a:latin typeface="Cambria Math" panose="02040503050406030204" pitchFamily="18" charset="0"/>
                            </a:rPr>
                          </m:ctrlPr>
                        </m:naryPr>
                        <m:sub>
                          <m:r>
                            <a:rPr>
                              <a:latin typeface="Cambria Math" panose="02040503050406030204" pitchFamily="18" charset="0"/>
                            </a:rPr>
                            <m:t>𝑗</m:t>
                          </m:r>
                        </m:sub>
                        <m:sup/>
                        <m:e>
                          <m:sSubSup>
                            <m:sSubSupPr>
                              <m:ctrlPr>
                                <a:rPr>
                                  <a:latin typeface="Cambria Math" panose="02040503050406030204" pitchFamily="18" charset="0"/>
                                </a:rPr>
                              </m:ctrlPr>
                            </m:sSubSupPr>
                            <m:e>
                              <m:r>
                                <a:rPr>
                                  <a:latin typeface="Cambria Math" panose="02040503050406030204" pitchFamily="18" charset="0"/>
                                </a:rPr>
                                <m:t>𝑠</m:t>
                              </m:r>
                            </m:e>
                            <m:sub>
                              <m:r>
                                <a:rPr>
                                  <a:latin typeface="Cambria Math" panose="02040503050406030204" pitchFamily="18" charset="0"/>
                                </a:rPr>
                                <m:t>𝑗</m:t>
                              </m:r>
                            </m:sub>
                            <m:sup>
                              <m:r>
                                <a:rPr>
                                  <a:latin typeface="Cambria Math" panose="02040503050406030204" pitchFamily="18" charset="0"/>
                                </a:rPr>
                                <m:t>2</m:t>
                              </m:r>
                            </m:sup>
                          </m:sSubSup>
                        </m:e>
                      </m:nary>
                      <m:sSubSup>
                        <m:sSubSupPr>
                          <m:ctrlPr>
                            <a:rPr>
                              <a:latin typeface="Cambria Math" panose="02040503050406030204" pitchFamily="18" charset="0"/>
                            </a:rPr>
                          </m:ctrlPr>
                        </m:sSubSupPr>
                        <m:e>
                          <m:r>
                            <a:rPr>
                              <a:latin typeface="Cambria Math" panose="02040503050406030204" pitchFamily="18" charset="0"/>
                            </a:rPr>
                            <m:t>𝑏</m:t>
                          </m:r>
                        </m:e>
                        <m:sub>
                          <m:r>
                            <a:rPr>
                              <a:latin typeface="Cambria Math" panose="02040503050406030204" pitchFamily="18" charset="0"/>
                            </a:rPr>
                            <m:t>𝑗</m:t>
                          </m:r>
                        </m:sub>
                        <m:sup>
                          <m:r>
                            <a:rPr>
                              <a:latin typeface="Cambria Math" panose="02040503050406030204" pitchFamily="18" charset="0"/>
                            </a:rPr>
                            <m:t>2</m:t>
                          </m:r>
                        </m:sup>
                      </m:sSubSup>
                      <m:r>
                        <a:rPr>
                          <a:latin typeface="Cambria Math" panose="02040503050406030204" pitchFamily="18" charset="0"/>
                        </a:rPr>
                        <m:t>]</m:t>
                      </m:r>
                    </m:oMath>
                  </m:oMathPara>
                </a14:m>
                <a:endParaRPr sz="2400"/>
              </a:p>
            </p:txBody>
          </p:sp>
        </mc:Choice>
        <mc:Fallback xmlns="">
          <p:sp>
            <p:nvSpPr>
              <p:cNvPr id="4" name="EQ_pred_4_1">
                <a:extLst>
                  <a:ext uri="{FF2B5EF4-FFF2-40B4-BE49-F238E27FC236}">
                    <a16:creationId xmlns:a16="http://schemas.microsoft.com/office/drawing/2014/main" id="{F9A60CE3-6D37-4B8D-99C4-8B48252F134E}"/>
                  </a:ext>
                </a:extLst>
              </p:cNvPr>
              <p:cNvSpPr>
                <a:spLocks noGrp="1" noRot="1" noChangeAspect="1" noMove="1" noResize="1" noEditPoints="1" noAdjustHandles="1" noChangeArrowheads="1" noChangeShapeType="1" noTextEdit="1"/>
              </p:cNvSpPr>
              <p:nvPr/>
            </p:nvSpPr>
            <p:spPr>
              <a:xfrm>
                <a:off x="685800" y="1381125"/>
                <a:ext cx="10763250" cy="1047750"/>
              </a:xfrm>
              <a:prstGeom prst="rect">
                <a:avLst/>
              </a:prstGeom>
              <a:blipFill>
                <a:blip r:embed="rId3"/>
                <a:stretch>
                  <a:fillRect/>
                </a:stretch>
              </a:blipFill>
              <a:ln w="0">
                <a:noFill/>
              </a:ln>
            </p:spPr>
            <p:txBody>
              <a:bodyPr/>
              <a:lstStyle/>
              <a:p>
                <a:r>
                  <a:rPr lang="es-CO">
                    <a:noFill/>
                  </a:rPr>
                  <a:t> </a:t>
                </a:r>
              </a:p>
            </p:txBody>
          </p:sp>
        </mc:Fallback>
      </mc:AlternateContent>
      <p:sp>
        <p:nvSpPr>
          <p:cNvPr id="5" name="Rectángulo 4">
            <a:extLst>
              <a:ext uri="{FF2B5EF4-FFF2-40B4-BE49-F238E27FC236}">
                <a16:creationId xmlns:a16="http://schemas.microsoft.com/office/drawing/2014/main" id="{D9AB50FD-FBC2-4178-8475-532B14C3E0D2}"/>
              </a:ext>
            </a:extLst>
          </p:cNvPr>
          <p:cNvSpPr>
            <a:spLocks noGrp="1"/>
          </p:cNvSpPr>
          <p:nvPr/>
        </p:nvSpPr>
        <p:spPr>
          <a:xfrm>
            <a:off x="685800" y="3000375"/>
            <a:ext cx="5048250" cy="2714625"/>
          </a:xfrm>
          <a:prstGeom prst="rect">
            <a:avLst/>
          </a:prstGeom>
          <a:noFill/>
          <a:ln w="0">
            <a:noFill/>
          </a:ln>
        </p:spPr>
        <p:txBody>
          <a:bodyPr>
            <a:noAutofit/>
          </a:bodyPr>
          <a:lstStyle/>
          <a:p>
            <a:pPr>
              <a:defRPr sz="2025" b="0">
                <a:solidFill>
                  <a:srgbClr val="172F42"/>
                </a:solidFill>
                <a:latin typeface="Arial"/>
                <a:ea typeface="Arial"/>
                <a:cs typeface="Arial"/>
              </a:defRPr>
            </a:pPr>
            <a:r>
              <a:rPr sz="2025" b="0">
                <a:solidFill>
                  <a:srgbClr val="172F42"/>
                </a:solidFill>
                <a:latin typeface="Arial"/>
                <a:ea typeface="Arial"/>
                <a:cs typeface="Arial"/>
              </a:rPr>
              <a:t>Qué se penaliza</a:t>
            </a:r>
          </a:p>
          <a:p>
            <a:endParaRPr sz="2025" b="0">
              <a:solidFill>
                <a:srgbClr val="172F42"/>
              </a:solidFill>
              <a:latin typeface="Arial"/>
              <a:ea typeface="Arial"/>
              <a:cs typeface="Arial"/>
            </a:endParaRPr>
          </a:p>
          <a:p>
            <a:pPr>
              <a:defRPr sz="2025" b="0">
                <a:solidFill>
                  <a:srgbClr val="172F42"/>
                </a:solidFill>
                <a:latin typeface="Arial"/>
                <a:ea typeface="Arial"/>
                <a:cs typeface="Arial"/>
              </a:defRPr>
            </a:pPr>
            <a:r>
              <a:rPr sz="2025" b="0">
                <a:solidFill>
                  <a:srgbClr val="172F42"/>
                </a:solidFill>
                <a:latin typeface="Arial"/>
                <a:ea typeface="Arial"/>
                <a:cs typeface="Arial"/>
              </a:rPr>
              <a:t>La magnitud de los coeficientes, ajustada por la escala de cada columna.</a:t>
            </a:r>
          </a:p>
          <a:p>
            <a:endParaRPr sz="2025" b="0">
              <a:solidFill>
                <a:srgbClr val="172F42"/>
              </a:solidFill>
              <a:latin typeface="Arial"/>
              <a:ea typeface="Arial"/>
              <a:cs typeface="Arial"/>
            </a:endParaRPr>
          </a:p>
          <a:p>
            <a:pPr>
              <a:defRPr sz="2025" b="0">
                <a:solidFill>
                  <a:srgbClr val="172F42"/>
                </a:solidFill>
                <a:latin typeface="Arial"/>
                <a:ea typeface="Arial"/>
                <a:cs typeface="Arial"/>
              </a:defRPr>
            </a:pPr>
            <a:r>
              <a:rPr sz="2025" b="0">
                <a:solidFill>
                  <a:srgbClr val="172F42"/>
                </a:solidFill>
                <a:latin typeface="Arial"/>
                <a:ea typeface="Arial"/>
                <a:cs typeface="Arial"/>
              </a:rPr>
              <a:t>El intercepto queda sin penalizar.</a:t>
            </a:r>
          </a:p>
        </p:txBody>
      </p:sp>
      <p:sp>
        <p:nvSpPr>
          <p:cNvPr id="6" name="Rectángulo 5">
            <a:extLst>
              <a:ext uri="{FF2B5EF4-FFF2-40B4-BE49-F238E27FC236}">
                <a16:creationId xmlns:a16="http://schemas.microsoft.com/office/drawing/2014/main" id="{5588221B-8141-490B-BA8D-C420B78C0CAE}"/>
              </a:ext>
            </a:extLst>
          </p:cNvPr>
          <p:cNvSpPr>
            <a:spLocks noGrp="1"/>
          </p:cNvSpPr>
          <p:nvPr/>
        </p:nvSpPr>
        <p:spPr>
          <a:xfrm>
            <a:off x="6438900" y="3000375"/>
            <a:ext cx="5048250" cy="2714625"/>
          </a:xfrm>
          <a:prstGeom prst="rect">
            <a:avLst/>
          </a:prstGeom>
          <a:noFill/>
          <a:ln w="0">
            <a:noFill/>
          </a:ln>
        </p:spPr>
        <p:txBody>
          <a:bodyPr>
            <a:noAutofit/>
          </a:bodyPr>
          <a:lstStyle/>
          <a:p>
            <a:pPr>
              <a:defRPr sz="2025" b="0">
                <a:solidFill>
                  <a:srgbClr val="172F42"/>
                </a:solidFill>
                <a:latin typeface="Arial"/>
                <a:ea typeface="Arial"/>
                <a:cs typeface="Arial"/>
              </a:defRPr>
            </a:pPr>
            <a:r>
              <a:rPr sz="2025" b="0">
                <a:solidFill>
                  <a:srgbClr val="172F42"/>
                </a:solidFill>
                <a:latin typeface="Arial"/>
                <a:ea typeface="Arial"/>
                <a:cs typeface="Arial"/>
              </a:rPr>
              <a:t>Qué se selecciona</a:t>
            </a:r>
          </a:p>
          <a:p>
            <a:endParaRPr sz="2025" b="0">
              <a:solidFill>
                <a:srgbClr val="172F42"/>
              </a:solidFill>
              <a:latin typeface="Arial"/>
              <a:ea typeface="Arial"/>
              <a:cs typeface="Arial"/>
            </a:endParaRPr>
          </a:p>
          <a:p>
            <a:pPr>
              <a:defRPr sz="2025" b="0">
                <a:solidFill>
                  <a:srgbClr val="172F42"/>
                </a:solidFill>
                <a:latin typeface="Arial"/>
                <a:ea typeface="Arial"/>
                <a:cs typeface="Arial"/>
              </a:defRPr>
            </a:pPr>
            <a:r>
              <a:rPr sz="2025" b="0">
                <a:solidFill>
                  <a:srgbClr val="172F42"/>
                </a:solidFill>
                <a:latin typeface="Arial"/>
                <a:ea typeface="Arial"/>
                <a:cs typeface="Arial"/>
              </a:rPr>
              <a:t>25 valores de λ entre 0,01 y 10.000.</a:t>
            </a:r>
          </a:p>
          <a:p>
            <a:endParaRPr sz="2025" b="0">
              <a:solidFill>
                <a:srgbClr val="172F42"/>
              </a:solidFill>
              <a:latin typeface="Arial"/>
              <a:ea typeface="Arial"/>
              <a:cs typeface="Arial"/>
            </a:endParaRPr>
          </a:p>
          <a:p>
            <a:pPr>
              <a:defRPr sz="2025" b="0">
                <a:solidFill>
                  <a:srgbClr val="172F42"/>
                </a:solidFill>
                <a:latin typeface="Arial"/>
                <a:ea typeface="Arial"/>
                <a:cs typeface="Arial"/>
              </a:defRPr>
            </a:pPr>
            <a:r>
              <a:rPr sz="2025" b="0">
                <a:solidFill>
                  <a:srgbClr val="172F42"/>
                </a:solidFill>
                <a:latin typeface="Arial"/>
                <a:ea typeface="Arial"/>
                <a:cs typeface="Arial"/>
              </a:rPr>
              <a:t>El modelo elegido usa λ = 100 y 338 columnas.</a:t>
            </a:r>
          </a:p>
        </p:txBody>
      </p:sp>
    </p:spTree>
    <p:extLst>
      <p:ext uri="{BB962C8B-B14F-4D97-AF65-F5344CB8AC3E}">
        <p14:creationId xmlns:p14="http://schemas.microsoft.com/office/powerpoint/2010/main" val="74908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7E0B5463-5CD9-4F8A-B32D-70A3CAA163F2}"/>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La selección de grupos busca modelos compactos</a:t>
            </a:r>
          </a:p>
        </p:txBody>
      </p:sp>
      <p:sp>
        <p:nvSpPr>
          <p:cNvPr id="2" name="Rectángulo 1">
            <a:extLst>
              <a:ext uri="{FF2B5EF4-FFF2-40B4-BE49-F238E27FC236}">
                <a16:creationId xmlns:a16="http://schemas.microsoft.com/office/drawing/2014/main" id="{6BE8B6E4-853C-4649-A08E-44AF4BF3C0E5}"/>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a:solidFill>
                  <a:srgbClr val="526471"/>
                </a:solidFill>
                <a:latin typeface="Arial"/>
                <a:ea typeface="Arial"/>
                <a:cs typeface="Arial"/>
              </a:rPr>
              <a:t>Entrenamiento: 10.263 registros. Validación: 4.500 registros. Fuente: GEIH 2018, Bogotá.</a:t>
            </a:r>
          </a:p>
        </p:txBody>
      </p:sp>
      <p:sp>
        <p:nvSpPr>
          <p:cNvPr id="3" name="Rectángulo 2">
            <a:extLst>
              <a:ext uri="{FF2B5EF4-FFF2-40B4-BE49-F238E27FC236}">
                <a16:creationId xmlns:a16="http://schemas.microsoft.com/office/drawing/2014/main" id="{F6E02A5E-1989-4C68-A415-FDF19E9B3171}"/>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5</a:t>
            </a:r>
          </a:p>
        </p:txBody>
      </p:sp>
      <p:graphicFrame>
        <p:nvGraphicFramePr>
          <p:cNvPr id="9" name="Tabla 8"/>
          <p:cNvGraphicFramePr/>
          <p:nvPr/>
        </p:nvGraphicFramePr>
        <p:xfrm>
          <a:off x="609600" y="1476375"/>
          <a:ext cx="10972800" cy="2524124"/>
        </p:xfrm>
        <a:graphic>
          <a:graphicData uri="http://schemas.openxmlformats.org/drawingml/2006/table">
            <a:tbl>
              <a:tblPr/>
              <a:tblGrid>
                <a:gridCol w="2333625">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3143250">
                  <a:extLst>
                    <a:ext uri="{9D8B030D-6E8A-4147-A177-3AD203B41FA5}">
                      <a16:colId xmlns:a16="http://schemas.microsoft.com/office/drawing/2014/main" val="20002"/>
                    </a:ext>
                  </a:extLst>
                </a:gridCol>
                <a:gridCol w="2447925">
                  <a:extLst>
                    <a:ext uri="{9D8B030D-6E8A-4147-A177-3AD203B41FA5}">
                      <a16:colId xmlns:a16="http://schemas.microsoft.com/office/drawing/2014/main" val="20003"/>
                    </a:ext>
                  </a:extLst>
                </a:gridCol>
              </a:tblGrid>
              <a:tr h="631031">
                <a:tc>
                  <a:txBody>
                    <a:bodyPr/>
                    <a:lstStyle/>
                    <a:p>
                      <a:r>
                        <a:rPr sz="1950" b="0">
                          <a:solidFill>
                            <a:srgbClr val="172F42"/>
                          </a:solidFill>
                          <a:latin typeface="Arial"/>
                          <a:ea typeface="Arial"/>
                          <a:cs typeface="Arial"/>
                        </a:rPr>
                        <a:t>Método</a:t>
                      </a:r>
                    </a:p>
                  </a:txBody>
                  <a:tcPr marL="95250" marR="95250" marT="57150" marB="57150">
                    <a:solidFill>
                      <a:srgbClr val="EDF3F7"/>
                    </a:solidFill>
                  </a:tcPr>
                </a:tc>
                <a:tc>
                  <a:txBody>
                    <a:bodyPr/>
                    <a:lstStyle/>
                    <a:p>
                      <a:r>
                        <a:rPr sz="1950" b="0">
                          <a:solidFill>
                            <a:srgbClr val="172F42"/>
                          </a:solidFill>
                          <a:latin typeface="Arial"/>
                          <a:ea typeface="Arial"/>
                          <a:cs typeface="Arial"/>
                        </a:rPr>
                        <a:t>Punto de partida</a:t>
                      </a:r>
                    </a:p>
                  </a:txBody>
                  <a:tcPr marL="95250" marR="95250" marT="57150" marB="57150">
                    <a:solidFill>
                      <a:srgbClr val="EDF3F7"/>
                    </a:solidFill>
                  </a:tcPr>
                </a:tc>
                <a:tc>
                  <a:txBody>
                    <a:bodyPr/>
                    <a:lstStyle/>
                    <a:p>
                      <a:r>
                        <a:rPr sz="1950" b="0">
                          <a:solidFill>
                            <a:srgbClr val="172F42"/>
                          </a:solidFill>
                          <a:latin typeface="Arial"/>
                          <a:ea typeface="Arial"/>
                          <a:cs typeface="Arial"/>
                        </a:rPr>
                        <a:t>Movimiento</a:t>
                      </a:r>
                    </a:p>
                  </a:txBody>
                  <a:tcPr marL="95250" marR="95250" marT="57150" marB="57150">
                    <a:solidFill>
                      <a:srgbClr val="EDF3F7"/>
                    </a:solidFill>
                  </a:tcPr>
                </a:tc>
                <a:tc>
                  <a:txBody>
                    <a:bodyPr/>
                    <a:lstStyle/>
                    <a:p>
                      <a:r>
                        <a:rPr sz="1950" b="0">
                          <a:solidFill>
                            <a:srgbClr val="172F42"/>
                          </a:solidFill>
                          <a:latin typeface="Arial"/>
                          <a:ea typeface="Arial"/>
                          <a:cs typeface="Arial"/>
                        </a:rPr>
                        <a:t>Modelo final</a:t>
                      </a:r>
                    </a:p>
                  </a:txBody>
                  <a:tcPr marL="95250" marR="95250" marT="57150" marB="57150">
                    <a:solidFill>
                      <a:srgbClr val="EDF3F7"/>
                    </a:solidFill>
                  </a:tcPr>
                </a:tc>
                <a:extLst>
                  <a:ext uri="{0D108BD9-81ED-4DB2-BD59-A6C34878D82A}">
                    <a16:rowId xmlns:a16="http://schemas.microsoft.com/office/drawing/2014/main" val="10000"/>
                  </a:ext>
                </a:extLst>
              </a:tr>
              <a:tr h="631031">
                <a:tc>
                  <a:txBody>
                    <a:bodyPr/>
                    <a:lstStyle/>
                    <a:p>
                      <a:r>
                        <a:rPr sz="1950" b="0">
                          <a:solidFill>
                            <a:srgbClr val="172F42"/>
                          </a:solidFill>
                          <a:latin typeface="Arial"/>
                          <a:ea typeface="Arial"/>
                          <a:cs typeface="Arial"/>
                        </a:rPr>
                        <a:t>Adelante</a:t>
                      </a:r>
                    </a:p>
                  </a:txBody>
                  <a:tcPr marL="95250" marR="95250" marT="57150" marB="57150">
                    <a:solidFill>
                      <a:srgbClr val="FFFFFF"/>
                    </a:solidFill>
                  </a:tcPr>
                </a:tc>
                <a:tc>
                  <a:txBody>
                    <a:bodyPr/>
                    <a:lstStyle/>
                    <a:p>
                      <a:r>
                        <a:rPr sz="1950" b="0">
                          <a:solidFill>
                            <a:srgbClr val="172F42"/>
                          </a:solidFill>
                          <a:latin typeface="Arial"/>
                          <a:ea typeface="Arial"/>
                          <a:cs typeface="Arial"/>
                        </a:rPr>
                        <a:t>Constante</a:t>
                      </a:r>
                    </a:p>
                  </a:txBody>
                  <a:tcPr marL="95250" marR="95250" marT="57150" marB="57150">
                    <a:solidFill>
                      <a:srgbClr val="FFFFFF"/>
                    </a:solidFill>
                  </a:tcPr>
                </a:tc>
                <a:tc>
                  <a:txBody>
                    <a:bodyPr/>
                    <a:lstStyle/>
                    <a:p>
                      <a:r>
                        <a:rPr sz="1950" b="0">
                          <a:solidFill>
                            <a:srgbClr val="172F42"/>
                          </a:solidFill>
                          <a:latin typeface="Arial"/>
                          <a:ea typeface="Arial"/>
                          <a:cs typeface="Arial"/>
                        </a:rPr>
                        <a:t>Agrega grupos</a:t>
                      </a:r>
                    </a:p>
                  </a:txBody>
                  <a:tcPr marL="95250" marR="95250" marT="57150" marB="57150">
                    <a:solidFill>
                      <a:srgbClr val="FFFFFF"/>
                    </a:solidFill>
                  </a:tcPr>
                </a:tc>
                <a:tc>
                  <a:txBody>
                    <a:bodyPr/>
                    <a:lstStyle/>
                    <a:p>
                      <a:r>
                        <a:rPr sz="1950" b="0">
                          <a:solidFill>
                            <a:srgbClr val="172F42"/>
                          </a:solidFill>
                          <a:latin typeface="Arial"/>
                          <a:ea typeface="Arial"/>
                          <a:cs typeface="Arial"/>
                        </a:rPr>
                        <a:t>R5</a:t>
                      </a:r>
                    </a:p>
                  </a:txBody>
                  <a:tcPr marL="95250" marR="95250" marT="57150" marB="57150">
                    <a:solidFill>
                      <a:srgbClr val="FFFFFF"/>
                    </a:solidFill>
                  </a:tcPr>
                </a:tc>
                <a:extLst>
                  <a:ext uri="{0D108BD9-81ED-4DB2-BD59-A6C34878D82A}">
                    <a16:rowId xmlns:a16="http://schemas.microsoft.com/office/drawing/2014/main" val="10001"/>
                  </a:ext>
                </a:extLst>
              </a:tr>
              <a:tr h="631031">
                <a:tc>
                  <a:txBody>
                    <a:bodyPr/>
                    <a:lstStyle/>
                    <a:p>
                      <a:r>
                        <a:rPr sz="1950" b="0">
                          <a:solidFill>
                            <a:srgbClr val="172F42"/>
                          </a:solidFill>
                          <a:latin typeface="Arial"/>
                          <a:ea typeface="Arial"/>
                          <a:cs typeface="Arial"/>
                        </a:rPr>
                        <a:t>Atrás</a:t>
                      </a:r>
                    </a:p>
                  </a:txBody>
                  <a:tcPr marL="95250" marR="95250" marT="57150" marB="57150">
                    <a:solidFill>
                      <a:srgbClr val="FFFFFF"/>
                    </a:solidFill>
                  </a:tcPr>
                </a:tc>
                <a:tc>
                  <a:txBody>
                    <a:bodyPr/>
                    <a:lstStyle/>
                    <a:p>
                      <a:r>
                        <a:rPr sz="1950" b="0">
                          <a:solidFill>
                            <a:srgbClr val="172F42"/>
                          </a:solidFill>
                          <a:latin typeface="Arial"/>
                          <a:ea typeface="Arial"/>
                          <a:cs typeface="Arial"/>
                        </a:rPr>
                        <a:t>Diseño ampliado</a:t>
                      </a:r>
                    </a:p>
                  </a:txBody>
                  <a:tcPr marL="95250" marR="95250" marT="57150" marB="57150">
                    <a:solidFill>
                      <a:srgbClr val="FFFFFF"/>
                    </a:solidFill>
                  </a:tcPr>
                </a:tc>
                <a:tc>
                  <a:txBody>
                    <a:bodyPr/>
                    <a:lstStyle/>
                    <a:p>
                      <a:r>
                        <a:rPr sz="1950" b="0">
                          <a:solidFill>
                            <a:srgbClr val="172F42"/>
                          </a:solidFill>
                          <a:latin typeface="Arial"/>
                          <a:ea typeface="Arial"/>
                          <a:cs typeface="Arial"/>
                        </a:rPr>
                        <a:t>Retira grupos</a:t>
                      </a:r>
                    </a:p>
                  </a:txBody>
                  <a:tcPr marL="95250" marR="95250" marT="57150" marB="57150">
                    <a:solidFill>
                      <a:srgbClr val="FFFFFF"/>
                    </a:solidFill>
                  </a:tcPr>
                </a:tc>
                <a:tc>
                  <a:txBody>
                    <a:bodyPr/>
                    <a:lstStyle/>
                    <a:p>
                      <a:r>
                        <a:rPr sz="1950" b="0">
                          <a:solidFill>
                            <a:srgbClr val="172F42"/>
                          </a:solidFill>
                          <a:latin typeface="Arial"/>
                          <a:ea typeface="Arial"/>
                          <a:cs typeface="Arial"/>
                        </a:rPr>
                        <a:t>R6</a:t>
                      </a:r>
                    </a:p>
                  </a:txBody>
                  <a:tcPr marL="95250" marR="95250" marT="57150" marB="57150">
                    <a:solidFill>
                      <a:srgbClr val="FFFFFF"/>
                    </a:solidFill>
                  </a:tcPr>
                </a:tc>
                <a:extLst>
                  <a:ext uri="{0D108BD9-81ED-4DB2-BD59-A6C34878D82A}">
                    <a16:rowId xmlns:a16="http://schemas.microsoft.com/office/drawing/2014/main" val="10002"/>
                  </a:ext>
                </a:extLst>
              </a:tr>
              <a:tr h="631031">
                <a:tc>
                  <a:txBody>
                    <a:bodyPr/>
                    <a:lstStyle/>
                    <a:p>
                      <a:r>
                        <a:rPr sz="1950" b="0">
                          <a:solidFill>
                            <a:srgbClr val="172F42"/>
                          </a:solidFill>
                          <a:latin typeface="Arial"/>
                          <a:ea typeface="Arial"/>
                          <a:cs typeface="Arial"/>
                        </a:rPr>
                        <a:t>Mixto</a:t>
                      </a:r>
                    </a:p>
                  </a:txBody>
                  <a:tcPr marL="95250" marR="95250" marT="57150" marB="57150">
                    <a:solidFill>
                      <a:srgbClr val="FFFFFF"/>
                    </a:solidFill>
                  </a:tcPr>
                </a:tc>
                <a:tc>
                  <a:txBody>
                    <a:bodyPr/>
                    <a:lstStyle/>
                    <a:p>
                      <a:r>
                        <a:rPr sz="1950" b="0">
                          <a:solidFill>
                            <a:srgbClr val="172F42"/>
                          </a:solidFill>
                          <a:latin typeface="Arial"/>
                          <a:ea typeface="Arial"/>
                          <a:cs typeface="Arial"/>
                        </a:rPr>
                        <a:t>Resultado adelante</a:t>
                      </a:r>
                    </a:p>
                  </a:txBody>
                  <a:tcPr marL="95250" marR="95250" marT="57150" marB="57150">
                    <a:solidFill>
                      <a:srgbClr val="FFFFFF"/>
                    </a:solidFill>
                  </a:tcPr>
                </a:tc>
                <a:tc>
                  <a:txBody>
                    <a:bodyPr/>
                    <a:lstStyle/>
                    <a:p>
                      <a:r>
                        <a:rPr sz="1950" b="0">
                          <a:solidFill>
                            <a:srgbClr val="172F42"/>
                          </a:solidFill>
                          <a:latin typeface="Arial"/>
                          <a:ea typeface="Arial"/>
                          <a:cs typeface="Arial"/>
                        </a:rPr>
                        <a:t>Agrega o retira</a:t>
                      </a:r>
                    </a:p>
                  </a:txBody>
                  <a:tcPr marL="95250" marR="95250" marT="57150" marB="57150">
                    <a:solidFill>
                      <a:srgbClr val="FFFFFF"/>
                    </a:solidFill>
                  </a:tcPr>
                </a:tc>
                <a:tc>
                  <a:txBody>
                    <a:bodyPr/>
                    <a:lstStyle/>
                    <a:p>
                      <a:r>
                        <a:rPr sz="1950" b="0">
                          <a:solidFill>
                            <a:srgbClr val="172F42"/>
                          </a:solidFill>
                          <a:latin typeface="Arial"/>
                          <a:ea typeface="Arial"/>
                          <a:cs typeface="Arial"/>
                        </a:rPr>
                        <a:t>R7</a:t>
                      </a:r>
                    </a:p>
                  </a:txBody>
                  <a:tcPr marL="95250" marR="95250" marT="57150" marB="57150">
                    <a:solidFill>
                      <a:srgbClr val="FFFFFF"/>
                    </a:solidFill>
                  </a:tcPr>
                </a:tc>
                <a:extLst>
                  <a:ext uri="{0D108BD9-81ED-4DB2-BD59-A6C34878D82A}">
                    <a16:rowId xmlns:a16="http://schemas.microsoft.com/office/drawing/2014/main" val="10003"/>
                  </a:ext>
                </a:extLst>
              </a:tr>
            </a:tbl>
          </a:graphicData>
        </a:graphic>
      </p:graphicFrame>
      <p:sp>
        <p:nvSpPr>
          <p:cNvPr id="5" name="Rectángulo 4">
            <a:extLst>
              <a:ext uri="{FF2B5EF4-FFF2-40B4-BE49-F238E27FC236}">
                <a16:creationId xmlns:a16="http://schemas.microsoft.com/office/drawing/2014/main" id="{7488CD47-86C7-4754-B34B-54A30B1B4FC2}"/>
              </a:ext>
            </a:extLst>
          </p:cNvPr>
          <p:cNvSpPr>
            <a:spLocks noGrp="1"/>
          </p:cNvSpPr>
          <p:nvPr/>
        </p:nvSpPr>
        <p:spPr>
          <a:xfrm>
            <a:off x="685800" y="4619625"/>
            <a:ext cx="10763250" cy="952500"/>
          </a:xfrm>
          <a:prstGeom prst="rect">
            <a:avLst/>
          </a:prstGeom>
          <a:noFill/>
          <a:ln w="0">
            <a:noFill/>
          </a:ln>
        </p:spPr>
        <p:txBody>
          <a:bodyPr>
            <a:noAutofit/>
          </a:bodyPr>
          <a:lstStyle/>
          <a:p>
            <a:pPr>
              <a:defRPr sz="2175" b="0">
                <a:solidFill>
                  <a:srgbClr val="172F42"/>
                </a:solidFill>
                <a:latin typeface="Arial"/>
                <a:ea typeface="Arial"/>
                <a:cs typeface="Arial"/>
              </a:defRPr>
            </a:pPr>
            <a:r>
              <a:rPr sz="2175" b="0">
                <a:solidFill>
                  <a:srgbClr val="172F42"/>
                </a:solidFill>
                <a:latin typeface="Arial"/>
                <a:ea typeface="Arial"/>
                <a:cs typeface="Arial"/>
              </a:rPr>
              <a:t>LOOCV orienta la búsqueda en entrenamiento. El RMSE de validación elige entre las especificaciones finales.</a:t>
            </a:r>
          </a:p>
        </p:txBody>
      </p:sp>
    </p:spTree>
    <p:extLst>
      <p:ext uri="{BB962C8B-B14F-4D97-AF65-F5344CB8AC3E}">
        <p14:creationId xmlns:p14="http://schemas.microsoft.com/office/powerpoint/2010/main" val="775218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9D92BC7D-73E9-4F09-86A5-0016C203433F}"/>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Todas las referencias se reestiman en entrenamiento</a:t>
            </a:r>
          </a:p>
        </p:txBody>
      </p:sp>
      <p:sp>
        <p:nvSpPr>
          <p:cNvPr id="2" name="Rectángulo 1">
            <a:extLst>
              <a:ext uri="{FF2B5EF4-FFF2-40B4-BE49-F238E27FC236}">
                <a16:creationId xmlns:a16="http://schemas.microsoft.com/office/drawing/2014/main" id="{A5FEA6B2-9790-4FDD-AB03-16D75F5CD629}"/>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a:solidFill>
                  <a:srgbClr val="526471"/>
                </a:solidFill>
                <a:latin typeface="Arial"/>
                <a:ea typeface="Arial"/>
                <a:cs typeface="Arial"/>
              </a:rPr>
              <a:t>Modelos w: ajuste representa ≈ 2.499.677 personas. RMSE: 4.500 registros de validación.</a:t>
            </a:r>
          </a:p>
        </p:txBody>
      </p:sp>
      <p:sp>
        <p:nvSpPr>
          <p:cNvPr id="3" name="Rectángulo 2">
            <a:extLst>
              <a:ext uri="{FF2B5EF4-FFF2-40B4-BE49-F238E27FC236}">
                <a16:creationId xmlns:a16="http://schemas.microsoft.com/office/drawing/2014/main" id="{BF1D0C8E-E7EA-45DD-B9F1-B705ECE68A43}"/>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6</a:t>
            </a:r>
          </a:p>
        </p:txBody>
      </p:sp>
      <p:graphicFrame>
        <p:nvGraphicFramePr>
          <p:cNvPr id="8" name="Tabla 7"/>
          <p:cNvGraphicFramePr/>
          <p:nvPr/>
        </p:nvGraphicFramePr>
        <p:xfrm>
          <a:off x="609600" y="1285875"/>
          <a:ext cx="10972800" cy="4754880"/>
        </p:xfrm>
        <a:graphic>
          <a:graphicData uri="http://schemas.openxmlformats.org/drawingml/2006/table">
            <a:tbl>
              <a:tblPr/>
              <a:tblGrid>
                <a:gridCol w="1524000">
                  <a:extLst>
                    <a:ext uri="{9D8B030D-6E8A-4147-A177-3AD203B41FA5}">
                      <a16:colId xmlns:a16="http://schemas.microsoft.com/office/drawing/2014/main" val="20000"/>
                    </a:ext>
                  </a:extLst>
                </a:gridCol>
                <a:gridCol w="6762750">
                  <a:extLst>
                    <a:ext uri="{9D8B030D-6E8A-4147-A177-3AD203B41FA5}">
                      <a16:colId xmlns:a16="http://schemas.microsoft.com/office/drawing/2014/main" val="20001"/>
                    </a:ext>
                  </a:extLst>
                </a:gridCol>
                <a:gridCol w="2686050">
                  <a:extLst>
                    <a:ext uri="{9D8B030D-6E8A-4147-A177-3AD203B41FA5}">
                      <a16:colId xmlns:a16="http://schemas.microsoft.com/office/drawing/2014/main" val="20002"/>
                    </a:ext>
                  </a:extLst>
                </a:gridCol>
              </a:tblGrid>
              <a:tr h="362683">
                <a:tc>
                  <a:txBody>
                    <a:bodyPr/>
                    <a:lstStyle/>
                    <a:p>
                      <a:r>
                        <a:rPr sz="1650" b="0">
                          <a:solidFill>
                            <a:srgbClr val="172F42"/>
                          </a:solidFill>
                          <a:latin typeface="Arial"/>
                          <a:ea typeface="Arial"/>
                          <a:cs typeface="Arial"/>
                        </a:rPr>
                        <a:t>Modelo</a:t>
                      </a:r>
                    </a:p>
                  </a:txBody>
                  <a:tcPr marL="95250" marR="95250" marT="57150" marB="57150">
                    <a:solidFill>
                      <a:srgbClr val="EDF3F7"/>
                    </a:solidFill>
                  </a:tcPr>
                </a:tc>
                <a:tc>
                  <a:txBody>
                    <a:bodyPr/>
                    <a:lstStyle/>
                    <a:p>
                      <a:r>
                        <a:rPr sz="1650" b="0">
                          <a:solidFill>
                            <a:srgbClr val="172F42"/>
                          </a:solidFill>
                          <a:latin typeface="Arial"/>
                          <a:ea typeface="Arial"/>
                          <a:cs typeface="Arial"/>
                        </a:rPr>
                        <a:t>Especificación</a:t>
                      </a:r>
                    </a:p>
                  </a:txBody>
                  <a:tcPr marL="95250" marR="95250" marT="57150" marB="57150">
                    <a:solidFill>
                      <a:srgbClr val="EDF3F7"/>
                    </a:solidFill>
                  </a:tcPr>
                </a:tc>
                <a:tc>
                  <a:txBody>
                    <a:bodyPr/>
                    <a:lstStyle/>
                    <a:p>
                      <a:r>
                        <a:rPr sz="1650" b="0">
                          <a:solidFill>
                            <a:srgbClr val="172F42"/>
                          </a:solidFill>
                          <a:latin typeface="Arial"/>
                          <a:ea typeface="Arial"/>
                          <a:cs typeface="Arial"/>
                        </a:rPr>
                        <a:t>RMSE validación</a:t>
                      </a:r>
                    </a:p>
                  </a:txBody>
                  <a:tcPr marL="95250" marR="95250" marT="57150" marB="57150">
                    <a:solidFill>
                      <a:srgbClr val="EDF3F7"/>
                    </a:solidFill>
                  </a:tcPr>
                </a:tc>
                <a:extLst>
                  <a:ext uri="{0D108BD9-81ED-4DB2-BD59-A6C34878D82A}">
                    <a16:rowId xmlns:a16="http://schemas.microsoft.com/office/drawing/2014/main" val="10000"/>
                  </a:ext>
                </a:extLst>
              </a:tr>
              <a:tr h="362683">
                <a:tc>
                  <a:txBody>
                    <a:bodyPr/>
                    <a:lstStyle/>
                    <a:p>
                      <a:r>
                        <a:rPr sz="1650" b="0">
                          <a:solidFill>
                            <a:srgbClr val="172F42"/>
                          </a:solidFill>
                          <a:latin typeface="Arial"/>
                          <a:ea typeface="Arial"/>
                          <a:cs typeface="Arial"/>
                        </a:rPr>
                        <a:t>M0</a:t>
                      </a:r>
                    </a:p>
                  </a:txBody>
                  <a:tcPr marL="95250" marR="95250" marT="57150" marB="57150">
                    <a:solidFill>
                      <a:srgbClr val="FFFFFF"/>
                    </a:solidFill>
                  </a:tcPr>
                </a:tc>
                <a:tc>
                  <a:txBody>
                    <a:bodyPr/>
                    <a:lstStyle/>
                    <a:p>
                      <a:r>
                        <a:rPr sz="1650" b="0">
                          <a:solidFill>
                            <a:srgbClr val="172F42"/>
                          </a:solidFill>
                          <a:latin typeface="Arial"/>
                          <a:ea typeface="Arial"/>
                          <a:cs typeface="Arial"/>
                        </a:rPr>
                        <a:t>Media de entrenamiento</a:t>
                      </a:r>
                    </a:p>
                  </a:txBody>
                  <a:tcPr marL="95250" marR="95250" marT="57150" marB="57150">
                    <a:solidFill>
                      <a:srgbClr val="FFFFFF"/>
                    </a:solidFill>
                  </a:tcPr>
                </a:tc>
                <a:tc>
                  <a:txBody>
                    <a:bodyPr/>
                    <a:lstStyle/>
                    <a:p>
                      <a:r>
                        <a:rPr sz="1650" b="0">
                          <a:solidFill>
                            <a:srgbClr val="172F42"/>
                          </a:solidFill>
                          <a:latin typeface="Arial"/>
                          <a:ea typeface="Arial"/>
                          <a:cs typeface="Arial"/>
                        </a:rPr>
                        <a:t>0,9151</a:t>
                      </a:r>
                    </a:p>
                  </a:txBody>
                  <a:tcPr marL="95250" marR="95250" marT="57150" marB="57150">
                    <a:solidFill>
                      <a:srgbClr val="FFFFFF"/>
                    </a:solidFill>
                  </a:tcPr>
                </a:tc>
                <a:extLst>
                  <a:ext uri="{0D108BD9-81ED-4DB2-BD59-A6C34878D82A}">
                    <a16:rowId xmlns:a16="http://schemas.microsoft.com/office/drawing/2014/main" val="10001"/>
                  </a:ext>
                </a:extLst>
              </a:tr>
              <a:tr h="362683">
                <a:tc>
                  <a:txBody>
                    <a:bodyPr/>
                    <a:lstStyle/>
                    <a:p>
                      <a:r>
                        <a:rPr sz="1650" b="0">
                          <a:solidFill>
                            <a:srgbClr val="172F42"/>
                          </a:solidFill>
                          <a:latin typeface="Arial"/>
                          <a:ea typeface="Arial"/>
                          <a:cs typeface="Arial"/>
                        </a:rPr>
                        <a:t>M1</a:t>
                      </a:r>
                    </a:p>
                  </a:txBody>
                  <a:tcPr marL="95250" marR="95250" marT="57150" marB="57150">
                    <a:solidFill>
                      <a:srgbClr val="FFFFFF"/>
                    </a:solidFill>
                  </a:tcPr>
                </a:tc>
                <a:tc>
                  <a:txBody>
                    <a:bodyPr/>
                    <a:lstStyle/>
                    <a:p>
                      <a:r>
                        <a:rPr sz="1650" b="0">
                          <a:solidFill>
                            <a:srgbClr val="172F42"/>
                          </a:solidFill>
                          <a:latin typeface="Arial"/>
                          <a:ea typeface="Arial"/>
                          <a:cs typeface="Arial"/>
                        </a:rPr>
                        <a:t>Edad y edad²</a:t>
                      </a:r>
                    </a:p>
                  </a:txBody>
                  <a:tcPr marL="95250" marR="95250" marT="57150" marB="57150">
                    <a:solidFill>
                      <a:srgbClr val="FFFFFF"/>
                    </a:solidFill>
                  </a:tcPr>
                </a:tc>
                <a:tc>
                  <a:txBody>
                    <a:bodyPr/>
                    <a:lstStyle/>
                    <a:p>
                      <a:r>
                        <a:rPr sz="1650" b="0">
                          <a:solidFill>
                            <a:srgbClr val="172F42"/>
                          </a:solidFill>
                          <a:latin typeface="Arial"/>
                          <a:ea typeface="Arial"/>
                          <a:cs typeface="Arial"/>
                        </a:rPr>
                        <a:t>0,8919</a:t>
                      </a:r>
                    </a:p>
                  </a:txBody>
                  <a:tcPr marL="95250" marR="95250" marT="57150" marB="57150">
                    <a:solidFill>
                      <a:srgbClr val="FFFFFF"/>
                    </a:solidFill>
                  </a:tcPr>
                </a:tc>
                <a:extLst>
                  <a:ext uri="{0D108BD9-81ED-4DB2-BD59-A6C34878D82A}">
                    <a16:rowId xmlns:a16="http://schemas.microsoft.com/office/drawing/2014/main" val="10002"/>
                  </a:ext>
                </a:extLst>
              </a:tr>
              <a:tr h="362683">
                <a:tc>
                  <a:txBody>
                    <a:bodyPr/>
                    <a:lstStyle/>
                    <a:p>
                      <a:r>
                        <a:rPr sz="1650" b="0">
                          <a:solidFill>
                            <a:srgbClr val="172F42"/>
                          </a:solidFill>
                          <a:latin typeface="Arial"/>
                          <a:ea typeface="Arial"/>
                          <a:cs typeface="Arial"/>
                        </a:rPr>
                        <a:t>M2</a:t>
                      </a:r>
                    </a:p>
                  </a:txBody>
                  <a:tcPr marL="95250" marR="95250" marT="57150" marB="57150">
                    <a:solidFill>
                      <a:srgbClr val="FFFFFF"/>
                    </a:solidFill>
                  </a:tcPr>
                </a:tc>
                <a:tc>
                  <a:txBody>
                    <a:bodyPr/>
                    <a:lstStyle/>
                    <a:p>
                      <a:r>
                        <a:rPr sz="1650" b="0">
                          <a:solidFill>
                            <a:srgbClr val="172F42"/>
                          </a:solidFill>
                          <a:latin typeface="Arial"/>
                          <a:ea typeface="Arial"/>
                          <a:cs typeface="Arial"/>
                        </a:rPr>
                        <a:t>Edad, horas y vínculo</a:t>
                      </a:r>
                    </a:p>
                  </a:txBody>
                  <a:tcPr marL="95250" marR="95250" marT="57150" marB="57150">
                    <a:solidFill>
                      <a:srgbClr val="FFFFFF"/>
                    </a:solidFill>
                  </a:tcPr>
                </a:tc>
                <a:tc>
                  <a:txBody>
                    <a:bodyPr/>
                    <a:lstStyle/>
                    <a:p>
                      <a:r>
                        <a:rPr sz="1650" b="0">
                          <a:solidFill>
                            <a:srgbClr val="172F42"/>
                          </a:solidFill>
                          <a:latin typeface="Arial"/>
                          <a:ea typeface="Arial"/>
                          <a:cs typeface="Arial"/>
                        </a:rPr>
                        <a:t>0,8118</a:t>
                      </a:r>
                    </a:p>
                  </a:txBody>
                  <a:tcPr marL="95250" marR="95250" marT="57150" marB="57150">
                    <a:solidFill>
                      <a:srgbClr val="FFFFFF"/>
                    </a:solidFill>
                  </a:tcPr>
                </a:tc>
                <a:extLst>
                  <a:ext uri="{0D108BD9-81ED-4DB2-BD59-A6C34878D82A}">
                    <a16:rowId xmlns:a16="http://schemas.microsoft.com/office/drawing/2014/main" val="10003"/>
                  </a:ext>
                </a:extLst>
              </a:tr>
              <a:tr h="362683">
                <a:tc>
                  <a:txBody>
                    <a:bodyPr/>
                    <a:lstStyle/>
                    <a:p>
                      <a:r>
                        <a:rPr sz="1650" b="0">
                          <a:solidFill>
                            <a:srgbClr val="172F42"/>
                          </a:solidFill>
                          <a:latin typeface="Arial"/>
                          <a:ea typeface="Arial"/>
                          <a:cs typeface="Arial"/>
                        </a:rPr>
                        <a:t>M3</a:t>
                      </a:r>
                    </a:p>
                  </a:txBody>
                  <a:tcPr marL="95250" marR="95250" marT="57150" marB="57150">
                    <a:solidFill>
                      <a:srgbClr val="FFFFFF"/>
                    </a:solidFill>
                  </a:tcPr>
                </a:tc>
                <a:tc>
                  <a:txBody>
                    <a:bodyPr/>
                    <a:lstStyle/>
                    <a:p>
                      <a:r>
                        <a:rPr sz="1650" b="0">
                          <a:solidFill>
                            <a:srgbClr val="172F42"/>
                          </a:solidFill>
                          <a:latin typeface="Arial"/>
                          <a:ea typeface="Arial"/>
                          <a:cs typeface="Arial"/>
                        </a:rPr>
                        <a:t>Brecha sin controles</a:t>
                      </a:r>
                    </a:p>
                  </a:txBody>
                  <a:tcPr marL="95250" marR="95250" marT="57150" marB="57150">
                    <a:solidFill>
                      <a:srgbClr val="FFFFFF"/>
                    </a:solidFill>
                  </a:tcPr>
                </a:tc>
                <a:tc>
                  <a:txBody>
                    <a:bodyPr/>
                    <a:lstStyle/>
                    <a:p>
                      <a:r>
                        <a:rPr sz="1650" b="0">
                          <a:solidFill>
                            <a:srgbClr val="172F42"/>
                          </a:solidFill>
                          <a:latin typeface="Arial"/>
                          <a:ea typeface="Arial"/>
                          <a:cs typeface="Arial"/>
                        </a:rPr>
                        <a:t>0,9066</a:t>
                      </a:r>
                    </a:p>
                  </a:txBody>
                  <a:tcPr marL="95250" marR="95250" marT="57150" marB="57150">
                    <a:solidFill>
                      <a:srgbClr val="FFFFFF"/>
                    </a:solidFill>
                  </a:tcPr>
                </a:tc>
                <a:extLst>
                  <a:ext uri="{0D108BD9-81ED-4DB2-BD59-A6C34878D82A}">
                    <a16:rowId xmlns:a16="http://schemas.microsoft.com/office/drawing/2014/main" val="10004"/>
                  </a:ext>
                </a:extLst>
              </a:tr>
              <a:tr h="362683">
                <a:tc>
                  <a:txBody>
                    <a:bodyPr/>
                    <a:lstStyle/>
                    <a:p>
                      <a:r>
                        <a:rPr sz="1650" b="0">
                          <a:solidFill>
                            <a:srgbClr val="172F42"/>
                          </a:solidFill>
                          <a:latin typeface="Arial"/>
                          <a:ea typeface="Arial"/>
                          <a:cs typeface="Arial"/>
                        </a:rPr>
                        <a:t>M4</a:t>
                      </a:r>
                    </a:p>
                  </a:txBody>
                  <a:tcPr marL="95250" marR="95250" marT="57150" marB="57150">
                    <a:solidFill>
                      <a:srgbClr val="FFFFFF"/>
                    </a:solidFill>
                  </a:tcPr>
                </a:tc>
                <a:tc>
                  <a:txBody>
                    <a:bodyPr/>
                    <a:lstStyle/>
                    <a:p>
                      <a:r>
                        <a:rPr sz="1650" b="0">
                          <a:solidFill>
                            <a:srgbClr val="172F42"/>
                          </a:solidFill>
                          <a:latin typeface="Arial"/>
                          <a:ea typeface="Arial"/>
                          <a:cs typeface="Arial"/>
                        </a:rPr>
                        <a:t>Controles S5 aditivos</a:t>
                      </a:r>
                    </a:p>
                  </a:txBody>
                  <a:tcPr marL="95250" marR="95250" marT="57150" marB="57150">
                    <a:solidFill>
                      <a:srgbClr val="FFFFFF"/>
                    </a:solidFill>
                  </a:tcPr>
                </a:tc>
                <a:tc>
                  <a:txBody>
                    <a:bodyPr/>
                    <a:lstStyle/>
                    <a:p>
                      <a:r>
                        <a:rPr sz="1650" b="0">
                          <a:solidFill>
                            <a:srgbClr val="172F42"/>
                          </a:solidFill>
                          <a:latin typeface="Arial"/>
                          <a:ea typeface="Arial"/>
                          <a:cs typeface="Arial"/>
                        </a:rPr>
                        <a:t>0,6230</a:t>
                      </a:r>
                    </a:p>
                  </a:txBody>
                  <a:tcPr marL="95250" marR="95250" marT="57150" marB="57150">
                    <a:solidFill>
                      <a:srgbClr val="FFFFFF"/>
                    </a:solidFill>
                  </a:tcPr>
                </a:tc>
                <a:extLst>
                  <a:ext uri="{0D108BD9-81ED-4DB2-BD59-A6C34878D82A}">
                    <a16:rowId xmlns:a16="http://schemas.microsoft.com/office/drawing/2014/main" val="10005"/>
                  </a:ext>
                </a:extLst>
              </a:tr>
              <a:tr h="362683">
                <a:tc>
                  <a:txBody>
                    <a:bodyPr/>
                    <a:lstStyle/>
                    <a:p>
                      <a:r>
                        <a:rPr sz="1650" b="0">
                          <a:solidFill>
                            <a:srgbClr val="172F42"/>
                          </a:solidFill>
                          <a:latin typeface="Arial"/>
                          <a:ea typeface="Arial"/>
                          <a:cs typeface="Arial"/>
                        </a:rPr>
                        <a:t>M4i</a:t>
                      </a:r>
                    </a:p>
                  </a:txBody>
                  <a:tcPr marL="95250" marR="95250" marT="57150" marB="57150">
                    <a:solidFill>
                      <a:srgbClr val="FFFFFF"/>
                    </a:solidFill>
                  </a:tcPr>
                </a:tc>
                <a:tc>
                  <a:txBody>
                    <a:bodyPr/>
                    <a:lstStyle/>
                    <a:p>
                      <a:r>
                        <a:rPr sz="1650" b="0">
                          <a:solidFill>
                            <a:srgbClr val="172F42"/>
                          </a:solidFill>
                          <a:latin typeface="Arial"/>
                          <a:ea typeface="Arial"/>
                          <a:cs typeface="Arial"/>
                        </a:rPr>
                        <a:t>S5 con perfiles por sexo</a:t>
                      </a:r>
                    </a:p>
                  </a:txBody>
                  <a:tcPr marL="95250" marR="95250" marT="57150" marB="57150">
                    <a:solidFill>
                      <a:srgbClr val="FFFFFF"/>
                    </a:solidFill>
                  </a:tcPr>
                </a:tc>
                <a:tc>
                  <a:txBody>
                    <a:bodyPr/>
                    <a:lstStyle/>
                    <a:p>
                      <a:r>
                        <a:rPr sz="1650" b="0">
                          <a:solidFill>
                            <a:srgbClr val="172F42"/>
                          </a:solidFill>
                          <a:latin typeface="Arial"/>
                          <a:ea typeface="Arial"/>
                          <a:cs typeface="Arial"/>
                        </a:rPr>
                        <a:t>0,6226</a:t>
                      </a:r>
                    </a:p>
                  </a:txBody>
                  <a:tcPr marL="95250" marR="95250" marT="57150" marB="57150">
                    <a:solidFill>
                      <a:srgbClr val="FFFFFF"/>
                    </a:solidFill>
                  </a:tcPr>
                </a:tc>
                <a:extLst>
                  <a:ext uri="{0D108BD9-81ED-4DB2-BD59-A6C34878D82A}">
                    <a16:rowId xmlns:a16="http://schemas.microsoft.com/office/drawing/2014/main" val="10006"/>
                  </a:ext>
                </a:extLst>
              </a:tr>
              <a:tr h="362683">
                <a:tc>
                  <a:txBody>
                    <a:bodyPr/>
                    <a:lstStyle/>
                    <a:p>
                      <a:r>
                        <a:rPr sz="1650" b="0">
                          <a:solidFill>
                            <a:srgbClr val="172F42"/>
                          </a:solidFill>
                          <a:latin typeface="Arial"/>
                          <a:ea typeface="Arial"/>
                          <a:cs typeface="Arial"/>
                        </a:rPr>
                        <a:t>M1w</a:t>
                      </a:r>
                    </a:p>
                  </a:txBody>
                  <a:tcPr marL="95250" marR="95250" marT="57150" marB="57150">
                    <a:solidFill>
                      <a:srgbClr val="FFFFFF"/>
                    </a:solidFill>
                  </a:tcPr>
                </a:tc>
                <a:tc>
                  <a:txBody>
                    <a:bodyPr/>
                    <a:lstStyle/>
                    <a:p>
                      <a:r>
                        <a:rPr sz="1650" b="0">
                          <a:solidFill>
                            <a:srgbClr val="172F42"/>
                          </a:solidFill>
                          <a:latin typeface="Arial"/>
                          <a:ea typeface="Arial"/>
                          <a:cs typeface="Arial"/>
                        </a:rPr>
                        <a:t>Edad y edad² (fex_c)</a:t>
                      </a:r>
                    </a:p>
                  </a:txBody>
                  <a:tcPr marL="95250" marR="95250" marT="57150" marB="57150">
                    <a:solidFill>
                      <a:srgbClr val="FFFFFF"/>
                    </a:solidFill>
                  </a:tcPr>
                </a:tc>
                <a:tc>
                  <a:txBody>
                    <a:bodyPr/>
                    <a:lstStyle/>
                    <a:p>
                      <a:r>
                        <a:rPr sz="1650" b="0">
                          <a:solidFill>
                            <a:srgbClr val="172F42"/>
                          </a:solidFill>
                          <a:latin typeface="Arial"/>
                          <a:ea typeface="Arial"/>
                          <a:cs typeface="Arial"/>
                        </a:rPr>
                        <a:t>0,8919</a:t>
                      </a:r>
                    </a:p>
                  </a:txBody>
                  <a:tcPr marL="95250" marR="95250" marT="57150" marB="57150">
                    <a:solidFill>
                      <a:srgbClr val="FFFFFF"/>
                    </a:solidFill>
                  </a:tcPr>
                </a:tc>
                <a:extLst>
                  <a:ext uri="{0D108BD9-81ED-4DB2-BD59-A6C34878D82A}">
                    <a16:rowId xmlns:a16="http://schemas.microsoft.com/office/drawing/2014/main" val="10007"/>
                  </a:ext>
                </a:extLst>
              </a:tr>
              <a:tr h="362683">
                <a:tc>
                  <a:txBody>
                    <a:bodyPr/>
                    <a:lstStyle/>
                    <a:p>
                      <a:r>
                        <a:rPr sz="1650" b="0">
                          <a:solidFill>
                            <a:srgbClr val="172F42"/>
                          </a:solidFill>
                          <a:latin typeface="Arial"/>
                          <a:ea typeface="Arial"/>
                          <a:cs typeface="Arial"/>
                        </a:rPr>
                        <a:t>M2w</a:t>
                      </a:r>
                    </a:p>
                  </a:txBody>
                  <a:tcPr marL="95250" marR="95250" marT="57150" marB="57150">
                    <a:solidFill>
                      <a:srgbClr val="FFFFFF"/>
                    </a:solidFill>
                  </a:tcPr>
                </a:tc>
                <a:tc>
                  <a:txBody>
                    <a:bodyPr/>
                    <a:lstStyle/>
                    <a:p>
                      <a:r>
                        <a:rPr sz="1650" b="0">
                          <a:solidFill>
                            <a:srgbClr val="172F42"/>
                          </a:solidFill>
                          <a:latin typeface="Arial"/>
                          <a:ea typeface="Arial"/>
                          <a:cs typeface="Arial"/>
                        </a:rPr>
                        <a:t>Edad, horas y vínculo (fex_c)</a:t>
                      </a:r>
                    </a:p>
                  </a:txBody>
                  <a:tcPr marL="95250" marR="95250" marT="57150" marB="57150">
                    <a:solidFill>
                      <a:srgbClr val="FFFFFF"/>
                    </a:solidFill>
                  </a:tcPr>
                </a:tc>
                <a:tc>
                  <a:txBody>
                    <a:bodyPr/>
                    <a:lstStyle/>
                    <a:p>
                      <a:r>
                        <a:rPr sz="1650" b="0">
                          <a:solidFill>
                            <a:srgbClr val="172F42"/>
                          </a:solidFill>
                          <a:latin typeface="Arial"/>
                          <a:ea typeface="Arial"/>
                          <a:cs typeface="Arial"/>
                        </a:rPr>
                        <a:t>0,8116</a:t>
                      </a:r>
                    </a:p>
                  </a:txBody>
                  <a:tcPr marL="95250" marR="95250" marT="57150" marB="57150">
                    <a:solidFill>
                      <a:srgbClr val="FFFFFF"/>
                    </a:solidFill>
                  </a:tcPr>
                </a:tc>
                <a:extLst>
                  <a:ext uri="{0D108BD9-81ED-4DB2-BD59-A6C34878D82A}">
                    <a16:rowId xmlns:a16="http://schemas.microsoft.com/office/drawing/2014/main" val="10008"/>
                  </a:ext>
                </a:extLst>
              </a:tr>
              <a:tr h="362683">
                <a:tc>
                  <a:txBody>
                    <a:bodyPr/>
                    <a:lstStyle/>
                    <a:p>
                      <a:r>
                        <a:rPr sz="1650" b="0">
                          <a:solidFill>
                            <a:srgbClr val="172F42"/>
                          </a:solidFill>
                          <a:latin typeface="Arial"/>
                          <a:ea typeface="Arial"/>
                          <a:cs typeface="Arial"/>
                        </a:rPr>
                        <a:t>M3w</a:t>
                      </a:r>
                    </a:p>
                  </a:txBody>
                  <a:tcPr marL="95250" marR="95250" marT="57150" marB="57150">
                    <a:solidFill>
                      <a:srgbClr val="FFFFFF"/>
                    </a:solidFill>
                  </a:tcPr>
                </a:tc>
                <a:tc>
                  <a:txBody>
                    <a:bodyPr/>
                    <a:lstStyle/>
                    <a:p>
                      <a:r>
                        <a:rPr sz="1650" b="0">
                          <a:solidFill>
                            <a:srgbClr val="172F42"/>
                          </a:solidFill>
                          <a:latin typeface="Arial"/>
                          <a:ea typeface="Arial"/>
                          <a:cs typeface="Arial"/>
                        </a:rPr>
                        <a:t>Brecha sin controles (fex_c)</a:t>
                      </a:r>
                    </a:p>
                  </a:txBody>
                  <a:tcPr marL="95250" marR="95250" marT="57150" marB="57150">
                    <a:solidFill>
                      <a:srgbClr val="FFFFFF"/>
                    </a:solidFill>
                  </a:tcPr>
                </a:tc>
                <a:tc>
                  <a:txBody>
                    <a:bodyPr/>
                    <a:lstStyle/>
                    <a:p>
                      <a:r>
                        <a:rPr sz="1650" b="0">
                          <a:solidFill>
                            <a:srgbClr val="172F42"/>
                          </a:solidFill>
                          <a:latin typeface="Arial"/>
                          <a:ea typeface="Arial"/>
                          <a:cs typeface="Arial"/>
                        </a:rPr>
                        <a:t>0,9066</a:t>
                      </a:r>
                    </a:p>
                  </a:txBody>
                  <a:tcPr marL="95250" marR="95250" marT="57150" marB="57150">
                    <a:solidFill>
                      <a:srgbClr val="FFFFFF"/>
                    </a:solidFill>
                  </a:tcPr>
                </a:tc>
                <a:extLst>
                  <a:ext uri="{0D108BD9-81ED-4DB2-BD59-A6C34878D82A}">
                    <a16:rowId xmlns:a16="http://schemas.microsoft.com/office/drawing/2014/main" val="10009"/>
                  </a:ext>
                </a:extLst>
              </a:tr>
              <a:tr h="362683">
                <a:tc>
                  <a:txBody>
                    <a:bodyPr/>
                    <a:lstStyle/>
                    <a:p>
                      <a:r>
                        <a:rPr sz="1650" b="0">
                          <a:solidFill>
                            <a:srgbClr val="172F42"/>
                          </a:solidFill>
                          <a:latin typeface="Arial"/>
                          <a:ea typeface="Arial"/>
                          <a:cs typeface="Arial"/>
                        </a:rPr>
                        <a:t>M4w</a:t>
                      </a:r>
                    </a:p>
                  </a:txBody>
                  <a:tcPr marL="95250" marR="95250" marT="57150" marB="57150">
                    <a:solidFill>
                      <a:srgbClr val="FFFFFF"/>
                    </a:solidFill>
                  </a:tcPr>
                </a:tc>
                <a:tc>
                  <a:txBody>
                    <a:bodyPr/>
                    <a:lstStyle/>
                    <a:p>
                      <a:r>
                        <a:rPr sz="1650" b="0">
                          <a:solidFill>
                            <a:srgbClr val="172F42"/>
                          </a:solidFill>
                          <a:latin typeface="Arial"/>
                          <a:ea typeface="Arial"/>
                          <a:cs typeface="Arial"/>
                        </a:rPr>
                        <a:t>Controles S5 aditivos (fex_c)</a:t>
                      </a:r>
                    </a:p>
                  </a:txBody>
                  <a:tcPr marL="95250" marR="95250" marT="57150" marB="57150">
                    <a:solidFill>
                      <a:srgbClr val="FFFFFF"/>
                    </a:solidFill>
                  </a:tcPr>
                </a:tc>
                <a:tc>
                  <a:txBody>
                    <a:bodyPr/>
                    <a:lstStyle/>
                    <a:p>
                      <a:r>
                        <a:rPr sz="1650" b="0">
                          <a:solidFill>
                            <a:srgbClr val="172F42"/>
                          </a:solidFill>
                          <a:latin typeface="Arial"/>
                          <a:ea typeface="Arial"/>
                          <a:cs typeface="Arial"/>
                        </a:rPr>
                        <a:t>0,6231</a:t>
                      </a:r>
                    </a:p>
                  </a:txBody>
                  <a:tcPr marL="95250" marR="95250" marT="57150" marB="57150">
                    <a:solidFill>
                      <a:srgbClr val="FFFFFF"/>
                    </a:solidFill>
                  </a:tcPr>
                </a:tc>
                <a:extLst>
                  <a:ext uri="{0D108BD9-81ED-4DB2-BD59-A6C34878D82A}">
                    <a16:rowId xmlns:a16="http://schemas.microsoft.com/office/drawing/2014/main" val="10010"/>
                  </a:ext>
                </a:extLst>
              </a:tr>
              <a:tr h="362683">
                <a:tc>
                  <a:txBody>
                    <a:bodyPr/>
                    <a:lstStyle/>
                    <a:p>
                      <a:r>
                        <a:rPr sz="1650" b="0">
                          <a:solidFill>
                            <a:srgbClr val="172F42"/>
                          </a:solidFill>
                          <a:latin typeface="Arial"/>
                          <a:ea typeface="Arial"/>
                          <a:cs typeface="Arial"/>
                        </a:rPr>
                        <a:t>M4iw</a:t>
                      </a:r>
                    </a:p>
                  </a:txBody>
                  <a:tcPr marL="95250" marR="95250" marT="57150" marB="57150">
                    <a:solidFill>
                      <a:srgbClr val="FFFFFF"/>
                    </a:solidFill>
                  </a:tcPr>
                </a:tc>
                <a:tc>
                  <a:txBody>
                    <a:bodyPr/>
                    <a:lstStyle/>
                    <a:p>
                      <a:r>
                        <a:rPr sz="1650" b="0">
                          <a:solidFill>
                            <a:srgbClr val="172F42"/>
                          </a:solidFill>
                          <a:latin typeface="Arial"/>
                          <a:ea typeface="Arial"/>
                          <a:cs typeface="Arial"/>
                        </a:rPr>
                        <a:t>S5 con perfiles por sexo (fex_c)</a:t>
                      </a:r>
                    </a:p>
                  </a:txBody>
                  <a:tcPr marL="95250" marR="95250" marT="57150" marB="57150">
                    <a:solidFill>
                      <a:srgbClr val="FFFFFF"/>
                    </a:solidFill>
                  </a:tcPr>
                </a:tc>
                <a:tc>
                  <a:txBody>
                    <a:bodyPr/>
                    <a:lstStyle/>
                    <a:p>
                      <a:r>
                        <a:rPr sz="1650" b="0">
                          <a:solidFill>
                            <a:srgbClr val="172F42"/>
                          </a:solidFill>
                          <a:latin typeface="Arial"/>
                          <a:ea typeface="Arial"/>
                          <a:cs typeface="Arial"/>
                        </a:rPr>
                        <a:t>0,6227</a:t>
                      </a:r>
                    </a:p>
                  </a:txBody>
                  <a:tcPr marL="95250" marR="95250" marT="57150" marB="57150">
                    <a:solidFill>
                      <a:srgbClr val="FFFFFF"/>
                    </a:solidFill>
                  </a:tcPr>
                </a:tc>
                <a:extLst>
                  <a:ext uri="{0D108BD9-81ED-4DB2-BD59-A6C34878D82A}">
                    <a16:rowId xmlns:a16="http://schemas.microsoft.com/office/drawing/2014/main" val="10011"/>
                  </a:ext>
                </a:extLst>
              </a:tr>
              <a:tr h="362683">
                <a:tc>
                  <a:txBody>
                    <a:bodyPr/>
                    <a:lstStyle/>
                    <a:p>
                      <a:r>
                        <a:rPr sz="1650" b="0">
                          <a:solidFill>
                            <a:srgbClr val="172F42"/>
                          </a:solidFill>
                          <a:latin typeface="Arial"/>
                          <a:ea typeface="Arial"/>
                          <a:cs typeface="Arial"/>
                        </a:rPr>
                        <a:t>M5</a:t>
                      </a:r>
                    </a:p>
                  </a:txBody>
                  <a:tcPr marL="95250" marR="95250" marT="57150" marB="57150">
                    <a:solidFill>
                      <a:srgbClr val="FFFFFF"/>
                    </a:solidFill>
                  </a:tcPr>
                </a:tc>
                <a:tc>
                  <a:txBody>
                    <a:bodyPr/>
                    <a:lstStyle/>
                    <a:p>
                      <a:r>
                        <a:rPr sz="1650" b="0">
                          <a:solidFill>
                            <a:srgbClr val="172F42"/>
                          </a:solidFill>
                          <a:latin typeface="Arial"/>
                          <a:ea typeface="Arial"/>
                          <a:cs typeface="Arial"/>
                        </a:rPr>
                        <a:t>Recursos y antigüedad cuadrática</a:t>
                      </a:r>
                    </a:p>
                  </a:txBody>
                  <a:tcPr marL="95250" marR="95250" marT="57150" marB="57150">
                    <a:solidFill>
                      <a:srgbClr val="FFFFFF"/>
                    </a:solidFill>
                  </a:tcPr>
                </a:tc>
                <a:tc>
                  <a:txBody>
                    <a:bodyPr/>
                    <a:lstStyle/>
                    <a:p>
                      <a:r>
                        <a:rPr sz="1650" b="0">
                          <a:solidFill>
                            <a:srgbClr val="172F42"/>
                          </a:solidFill>
                          <a:latin typeface="Arial"/>
                          <a:ea typeface="Arial"/>
                          <a:cs typeface="Arial"/>
                        </a:rPr>
                        <a:t>0,5738</a:t>
                      </a:r>
                    </a:p>
                  </a:txBody>
                  <a:tcPr marL="95250" marR="95250" marT="57150" marB="57150">
                    <a:solidFill>
                      <a:srgbClr val="FFFFFF"/>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2046762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E312F359-09BB-4ACD-BD93-078344BCE049}"/>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R6 alcanza el menor error entre 24 especificaciones</a:t>
            </a:r>
          </a:p>
        </p:txBody>
      </p:sp>
      <p:sp>
        <p:nvSpPr>
          <p:cNvPr id="2" name="Rectángulo 1">
            <a:extLst>
              <a:ext uri="{FF2B5EF4-FFF2-40B4-BE49-F238E27FC236}">
                <a16:creationId xmlns:a16="http://schemas.microsoft.com/office/drawing/2014/main" id="{7C9BEFA9-497A-4BCB-9316-38F2976B1BFC}"/>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a:solidFill>
                  <a:srgbClr val="526471"/>
                </a:solidFill>
                <a:latin typeface="Arial"/>
                <a:ea typeface="Arial"/>
                <a:cs typeface="Arial"/>
              </a:rPr>
              <a:t>Entrenamiento: 10.263 registros. Validación: 4.500 registros. Fuente: GEIH 2018, Bogotá.</a:t>
            </a:r>
          </a:p>
        </p:txBody>
      </p:sp>
      <p:sp>
        <p:nvSpPr>
          <p:cNvPr id="3" name="Rectángulo 2">
            <a:extLst>
              <a:ext uri="{FF2B5EF4-FFF2-40B4-BE49-F238E27FC236}">
                <a16:creationId xmlns:a16="http://schemas.microsoft.com/office/drawing/2014/main" id="{A574861B-C3F8-432C-82BC-A665A9D816A8}"/>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7</a:t>
            </a:r>
          </a:p>
        </p:txBody>
      </p:sp>
      <p:graphicFrame>
        <p:nvGraphicFramePr>
          <p:cNvPr id="8" name="Tabla 7"/>
          <p:cNvGraphicFramePr/>
          <p:nvPr/>
        </p:nvGraphicFramePr>
        <p:xfrm>
          <a:off x="609600" y="1285875"/>
          <a:ext cx="10972800" cy="4754880"/>
        </p:xfrm>
        <a:graphic>
          <a:graphicData uri="http://schemas.openxmlformats.org/drawingml/2006/table">
            <a:tbl>
              <a:tblPr/>
              <a:tblGrid>
                <a:gridCol w="1524000">
                  <a:extLst>
                    <a:ext uri="{9D8B030D-6E8A-4147-A177-3AD203B41FA5}">
                      <a16:colId xmlns:a16="http://schemas.microsoft.com/office/drawing/2014/main" val="20000"/>
                    </a:ext>
                  </a:extLst>
                </a:gridCol>
                <a:gridCol w="6762750">
                  <a:extLst>
                    <a:ext uri="{9D8B030D-6E8A-4147-A177-3AD203B41FA5}">
                      <a16:colId xmlns:a16="http://schemas.microsoft.com/office/drawing/2014/main" val="20001"/>
                    </a:ext>
                  </a:extLst>
                </a:gridCol>
                <a:gridCol w="2686050">
                  <a:extLst>
                    <a:ext uri="{9D8B030D-6E8A-4147-A177-3AD203B41FA5}">
                      <a16:colId xmlns:a16="http://schemas.microsoft.com/office/drawing/2014/main" val="20002"/>
                    </a:ext>
                  </a:extLst>
                </a:gridCol>
              </a:tblGrid>
              <a:tr h="362683">
                <a:tc>
                  <a:txBody>
                    <a:bodyPr/>
                    <a:lstStyle/>
                    <a:p>
                      <a:r>
                        <a:rPr sz="1650" b="0">
                          <a:solidFill>
                            <a:srgbClr val="172F42"/>
                          </a:solidFill>
                          <a:latin typeface="Arial"/>
                          <a:ea typeface="Arial"/>
                          <a:cs typeface="Arial"/>
                        </a:rPr>
                        <a:t>Modelo</a:t>
                      </a:r>
                    </a:p>
                  </a:txBody>
                  <a:tcPr marL="95250" marR="95250" marT="57150" marB="57150">
                    <a:solidFill>
                      <a:srgbClr val="EDF3F7"/>
                    </a:solidFill>
                  </a:tcPr>
                </a:tc>
                <a:tc>
                  <a:txBody>
                    <a:bodyPr/>
                    <a:lstStyle/>
                    <a:p>
                      <a:r>
                        <a:rPr sz="1650" b="0">
                          <a:solidFill>
                            <a:srgbClr val="172F42"/>
                          </a:solidFill>
                          <a:latin typeface="Arial"/>
                          <a:ea typeface="Arial"/>
                          <a:cs typeface="Arial"/>
                        </a:rPr>
                        <a:t>Especificación</a:t>
                      </a:r>
                    </a:p>
                  </a:txBody>
                  <a:tcPr marL="95250" marR="95250" marT="57150" marB="57150">
                    <a:solidFill>
                      <a:srgbClr val="EDF3F7"/>
                    </a:solidFill>
                  </a:tcPr>
                </a:tc>
                <a:tc>
                  <a:txBody>
                    <a:bodyPr/>
                    <a:lstStyle/>
                    <a:p>
                      <a:r>
                        <a:rPr sz="1650" b="0">
                          <a:solidFill>
                            <a:srgbClr val="172F42"/>
                          </a:solidFill>
                          <a:latin typeface="Arial"/>
                          <a:ea typeface="Arial"/>
                          <a:cs typeface="Arial"/>
                        </a:rPr>
                        <a:t>RMSE validación</a:t>
                      </a:r>
                    </a:p>
                  </a:txBody>
                  <a:tcPr marL="95250" marR="95250" marT="57150" marB="57150">
                    <a:solidFill>
                      <a:srgbClr val="EDF3F7"/>
                    </a:solidFill>
                  </a:tcPr>
                </a:tc>
                <a:extLst>
                  <a:ext uri="{0D108BD9-81ED-4DB2-BD59-A6C34878D82A}">
                    <a16:rowId xmlns:a16="http://schemas.microsoft.com/office/drawing/2014/main" val="10000"/>
                  </a:ext>
                </a:extLst>
              </a:tr>
              <a:tr h="362683">
                <a:tc>
                  <a:txBody>
                    <a:bodyPr/>
                    <a:lstStyle/>
                    <a:p>
                      <a:r>
                        <a:rPr sz="1650" b="0">
                          <a:solidFill>
                            <a:srgbClr val="172F42"/>
                          </a:solidFill>
                          <a:latin typeface="Arial"/>
                          <a:ea typeface="Arial"/>
                          <a:cs typeface="Arial"/>
                        </a:rPr>
                        <a:t>M6</a:t>
                      </a:r>
                    </a:p>
                  </a:txBody>
                  <a:tcPr marL="95250" marR="95250" marT="57150" marB="57150">
                    <a:solidFill>
                      <a:srgbClr val="FFFFFF"/>
                    </a:solidFill>
                  </a:tcPr>
                </a:tc>
                <a:tc>
                  <a:txBody>
                    <a:bodyPr/>
                    <a:lstStyle/>
                    <a:p>
                      <a:r>
                        <a:rPr sz="1650" b="0">
                          <a:solidFill>
                            <a:srgbClr val="172F42"/>
                          </a:solidFill>
                          <a:latin typeface="Arial"/>
                          <a:ea typeface="Arial"/>
                          <a:cs typeface="Arial"/>
                        </a:rPr>
                        <a:t>Polinomios cúbicos</a:t>
                      </a:r>
                    </a:p>
                  </a:txBody>
                  <a:tcPr marL="95250" marR="95250" marT="57150" marB="57150">
                    <a:solidFill>
                      <a:srgbClr val="FFFFFF"/>
                    </a:solidFill>
                  </a:tcPr>
                </a:tc>
                <a:tc>
                  <a:txBody>
                    <a:bodyPr/>
                    <a:lstStyle/>
                    <a:p>
                      <a:r>
                        <a:rPr sz="1650" b="0">
                          <a:solidFill>
                            <a:srgbClr val="172F42"/>
                          </a:solidFill>
                          <a:latin typeface="Arial"/>
                          <a:ea typeface="Arial"/>
                          <a:cs typeface="Arial"/>
                        </a:rPr>
                        <a:t>0,568441</a:t>
                      </a:r>
                    </a:p>
                  </a:txBody>
                  <a:tcPr marL="95250" marR="95250" marT="57150" marB="57150">
                    <a:solidFill>
                      <a:srgbClr val="FFFFFF"/>
                    </a:solidFill>
                  </a:tcPr>
                </a:tc>
                <a:extLst>
                  <a:ext uri="{0D108BD9-81ED-4DB2-BD59-A6C34878D82A}">
                    <a16:rowId xmlns:a16="http://schemas.microsoft.com/office/drawing/2014/main" val="10001"/>
                  </a:ext>
                </a:extLst>
              </a:tr>
              <a:tr h="362683">
                <a:tc>
                  <a:txBody>
                    <a:bodyPr/>
                    <a:lstStyle/>
                    <a:p>
                      <a:r>
                        <a:rPr sz="1650" b="0">
                          <a:solidFill>
                            <a:srgbClr val="172F42"/>
                          </a:solidFill>
                          <a:latin typeface="Arial"/>
                          <a:ea typeface="Arial"/>
                          <a:cs typeface="Arial"/>
                        </a:rPr>
                        <a:t>M7</a:t>
                      </a:r>
                    </a:p>
                  </a:txBody>
                  <a:tcPr marL="95250" marR="95250" marT="57150" marB="57150">
                    <a:solidFill>
                      <a:srgbClr val="FFFFFF"/>
                    </a:solidFill>
                  </a:tcPr>
                </a:tc>
                <a:tc>
                  <a:txBody>
                    <a:bodyPr/>
                    <a:lstStyle/>
                    <a:p>
                      <a:r>
                        <a:rPr sz="1650" b="0">
                          <a:solidFill>
                            <a:srgbClr val="172F42"/>
                          </a:solidFill>
                          <a:latin typeface="Arial"/>
                          <a:ea typeface="Arial"/>
                          <a:cs typeface="Arial"/>
                        </a:rPr>
                        <a:t>Polinomios de grado cuatro</a:t>
                      </a:r>
                    </a:p>
                  </a:txBody>
                  <a:tcPr marL="95250" marR="95250" marT="57150" marB="57150">
                    <a:solidFill>
                      <a:srgbClr val="FFFFFF"/>
                    </a:solidFill>
                  </a:tcPr>
                </a:tc>
                <a:tc>
                  <a:txBody>
                    <a:bodyPr/>
                    <a:lstStyle/>
                    <a:p>
                      <a:r>
                        <a:rPr sz="1650" b="0">
                          <a:solidFill>
                            <a:srgbClr val="172F42"/>
                          </a:solidFill>
                          <a:latin typeface="Arial"/>
                          <a:ea typeface="Arial"/>
                          <a:cs typeface="Arial"/>
                        </a:rPr>
                        <a:t>0,567929</a:t>
                      </a:r>
                    </a:p>
                  </a:txBody>
                  <a:tcPr marL="95250" marR="95250" marT="57150" marB="57150">
                    <a:solidFill>
                      <a:srgbClr val="FFFFFF"/>
                    </a:solidFill>
                  </a:tcPr>
                </a:tc>
                <a:extLst>
                  <a:ext uri="{0D108BD9-81ED-4DB2-BD59-A6C34878D82A}">
                    <a16:rowId xmlns:a16="http://schemas.microsoft.com/office/drawing/2014/main" val="10002"/>
                  </a:ext>
                </a:extLst>
              </a:tr>
              <a:tr h="362683">
                <a:tc>
                  <a:txBody>
                    <a:bodyPr/>
                    <a:lstStyle/>
                    <a:p>
                      <a:r>
                        <a:rPr sz="1650" b="0">
                          <a:solidFill>
                            <a:srgbClr val="172F42"/>
                          </a:solidFill>
                          <a:latin typeface="Arial"/>
                          <a:ea typeface="Arial"/>
                          <a:cs typeface="Arial"/>
                        </a:rPr>
                        <a:t>M8</a:t>
                      </a:r>
                    </a:p>
                  </a:txBody>
                  <a:tcPr marL="95250" marR="95250" marT="57150" marB="57150">
                    <a:solidFill>
                      <a:srgbClr val="FFFFFF"/>
                    </a:solidFill>
                  </a:tcPr>
                </a:tc>
                <a:tc>
                  <a:txBody>
                    <a:bodyPr/>
                    <a:lstStyle/>
                    <a:p>
                      <a:r>
                        <a:rPr sz="1650" b="0">
                          <a:solidFill>
                            <a:srgbClr val="172F42"/>
                          </a:solidFill>
                          <a:latin typeface="Arial"/>
                          <a:ea typeface="Arial"/>
                          <a:cs typeface="Arial"/>
                        </a:rPr>
                        <a:t>Bases cúbicas por tramos</a:t>
                      </a:r>
                    </a:p>
                  </a:txBody>
                  <a:tcPr marL="95250" marR="95250" marT="57150" marB="57150">
                    <a:solidFill>
                      <a:srgbClr val="FFFFFF"/>
                    </a:solidFill>
                  </a:tcPr>
                </a:tc>
                <a:tc>
                  <a:txBody>
                    <a:bodyPr/>
                    <a:lstStyle/>
                    <a:p>
                      <a:r>
                        <a:rPr sz="1650" b="0">
                          <a:solidFill>
                            <a:srgbClr val="172F42"/>
                          </a:solidFill>
                          <a:latin typeface="Arial"/>
                          <a:ea typeface="Arial"/>
                          <a:cs typeface="Arial"/>
                        </a:rPr>
                        <a:t>0,567399</a:t>
                      </a:r>
                    </a:p>
                  </a:txBody>
                  <a:tcPr marL="95250" marR="95250" marT="57150" marB="57150">
                    <a:solidFill>
                      <a:srgbClr val="FFFFFF"/>
                    </a:solidFill>
                  </a:tcPr>
                </a:tc>
                <a:extLst>
                  <a:ext uri="{0D108BD9-81ED-4DB2-BD59-A6C34878D82A}">
                    <a16:rowId xmlns:a16="http://schemas.microsoft.com/office/drawing/2014/main" val="10003"/>
                  </a:ext>
                </a:extLst>
              </a:tr>
              <a:tr h="362683">
                <a:tc>
                  <a:txBody>
                    <a:bodyPr/>
                    <a:lstStyle/>
                    <a:p>
                      <a:r>
                        <a:rPr sz="1650" b="0">
                          <a:solidFill>
                            <a:srgbClr val="172F42"/>
                          </a:solidFill>
                          <a:latin typeface="Arial"/>
                          <a:ea typeface="Arial"/>
                          <a:cs typeface="Arial"/>
                        </a:rPr>
                        <a:t>M9</a:t>
                      </a:r>
                    </a:p>
                  </a:txBody>
                  <a:tcPr marL="95250" marR="95250" marT="57150" marB="57150">
                    <a:solidFill>
                      <a:srgbClr val="FFFFFF"/>
                    </a:solidFill>
                  </a:tcPr>
                </a:tc>
                <a:tc>
                  <a:txBody>
                    <a:bodyPr/>
                    <a:lstStyle/>
                    <a:p>
                      <a:r>
                        <a:rPr sz="1650" b="0">
                          <a:solidFill>
                            <a:srgbClr val="172F42"/>
                          </a:solidFill>
                          <a:latin typeface="Arial"/>
                          <a:ea typeface="Arial"/>
                          <a:cs typeface="Arial"/>
                        </a:rPr>
                        <a:t>Interacciones y ocupación detallada</a:t>
                      </a:r>
                    </a:p>
                  </a:txBody>
                  <a:tcPr marL="95250" marR="95250" marT="57150" marB="57150">
                    <a:solidFill>
                      <a:srgbClr val="FFFFFF"/>
                    </a:solidFill>
                  </a:tcPr>
                </a:tc>
                <a:tc>
                  <a:txBody>
                    <a:bodyPr/>
                    <a:lstStyle/>
                    <a:p>
                      <a:r>
                        <a:rPr sz="1650" b="0">
                          <a:solidFill>
                            <a:srgbClr val="172F42"/>
                          </a:solidFill>
                          <a:latin typeface="Arial"/>
                          <a:ea typeface="Arial"/>
                          <a:cs typeface="Arial"/>
                        </a:rPr>
                        <a:t>0,554133</a:t>
                      </a:r>
                    </a:p>
                  </a:txBody>
                  <a:tcPr marL="95250" marR="95250" marT="57150" marB="57150">
                    <a:solidFill>
                      <a:srgbClr val="FFFFFF"/>
                    </a:solidFill>
                  </a:tcPr>
                </a:tc>
                <a:extLst>
                  <a:ext uri="{0D108BD9-81ED-4DB2-BD59-A6C34878D82A}">
                    <a16:rowId xmlns:a16="http://schemas.microsoft.com/office/drawing/2014/main" val="10004"/>
                  </a:ext>
                </a:extLst>
              </a:tr>
              <a:tr h="362683">
                <a:tc>
                  <a:txBody>
                    <a:bodyPr/>
                    <a:lstStyle/>
                    <a:p>
                      <a:r>
                        <a:rPr sz="1650" b="0">
                          <a:solidFill>
                            <a:srgbClr val="172F42"/>
                          </a:solidFill>
                          <a:latin typeface="Arial"/>
                          <a:ea typeface="Arial"/>
                          <a:cs typeface="Arial"/>
                        </a:rPr>
                        <a:t>R1</a:t>
                      </a:r>
                    </a:p>
                  </a:txBody>
                  <a:tcPr marL="95250" marR="95250" marT="57150" marB="57150">
                    <a:solidFill>
                      <a:srgbClr val="FFFFFF"/>
                    </a:solidFill>
                  </a:tcPr>
                </a:tc>
                <a:tc>
                  <a:txBody>
                    <a:bodyPr/>
                    <a:lstStyle/>
                    <a:p>
                      <a:r>
                        <a:rPr sz="1650" b="0">
                          <a:solidFill>
                            <a:srgbClr val="172F42"/>
                          </a:solidFill>
                          <a:latin typeface="Arial"/>
                          <a:ea typeface="Arial"/>
                          <a:cs typeface="Arial"/>
                        </a:rPr>
                        <a:t>Ridge sobre polinomios de grado cuatro</a:t>
                      </a:r>
                    </a:p>
                  </a:txBody>
                  <a:tcPr marL="95250" marR="95250" marT="57150" marB="57150">
                    <a:solidFill>
                      <a:srgbClr val="FFFFFF"/>
                    </a:solidFill>
                  </a:tcPr>
                </a:tc>
                <a:tc>
                  <a:txBody>
                    <a:bodyPr/>
                    <a:lstStyle/>
                    <a:p>
                      <a:r>
                        <a:rPr sz="1650" b="0">
                          <a:solidFill>
                            <a:srgbClr val="172F42"/>
                          </a:solidFill>
                          <a:latin typeface="Arial"/>
                          <a:ea typeface="Arial"/>
                          <a:cs typeface="Arial"/>
                        </a:rPr>
                        <a:t>0,567907</a:t>
                      </a:r>
                    </a:p>
                  </a:txBody>
                  <a:tcPr marL="95250" marR="95250" marT="57150" marB="57150">
                    <a:solidFill>
                      <a:srgbClr val="FFFFFF"/>
                    </a:solidFill>
                  </a:tcPr>
                </a:tc>
                <a:extLst>
                  <a:ext uri="{0D108BD9-81ED-4DB2-BD59-A6C34878D82A}">
                    <a16:rowId xmlns:a16="http://schemas.microsoft.com/office/drawing/2014/main" val="10005"/>
                  </a:ext>
                </a:extLst>
              </a:tr>
              <a:tr h="362683">
                <a:tc>
                  <a:txBody>
                    <a:bodyPr/>
                    <a:lstStyle/>
                    <a:p>
                      <a:r>
                        <a:rPr sz="1650" b="0">
                          <a:solidFill>
                            <a:srgbClr val="172F42"/>
                          </a:solidFill>
                          <a:latin typeface="Arial"/>
                          <a:ea typeface="Arial"/>
                          <a:cs typeface="Arial"/>
                        </a:rPr>
                        <a:t>R2</a:t>
                      </a:r>
                    </a:p>
                  </a:txBody>
                  <a:tcPr marL="95250" marR="95250" marT="57150" marB="57150">
                    <a:solidFill>
                      <a:srgbClr val="FFFFFF"/>
                    </a:solidFill>
                  </a:tcPr>
                </a:tc>
                <a:tc>
                  <a:txBody>
                    <a:bodyPr/>
                    <a:lstStyle/>
                    <a:p>
                      <a:r>
                        <a:rPr sz="1650" b="0">
                          <a:solidFill>
                            <a:srgbClr val="172F42"/>
                          </a:solidFill>
                          <a:latin typeface="Arial"/>
                          <a:ea typeface="Arial"/>
                          <a:cs typeface="Arial"/>
                        </a:rPr>
                        <a:t>Ridge sobre interacciones y oficio</a:t>
                      </a:r>
                    </a:p>
                  </a:txBody>
                  <a:tcPr marL="95250" marR="95250" marT="57150" marB="57150">
                    <a:solidFill>
                      <a:srgbClr val="FFFFFF"/>
                    </a:solidFill>
                  </a:tcPr>
                </a:tc>
                <a:tc>
                  <a:txBody>
                    <a:bodyPr/>
                    <a:lstStyle/>
                    <a:p>
                      <a:r>
                        <a:rPr sz="1650" b="0">
                          <a:solidFill>
                            <a:srgbClr val="172F42"/>
                          </a:solidFill>
                          <a:latin typeface="Arial"/>
                          <a:ea typeface="Arial"/>
                          <a:cs typeface="Arial"/>
                        </a:rPr>
                        <a:t>0,552263</a:t>
                      </a:r>
                    </a:p>
                  </a:txBody>
                  <a:tcPr marL="95250" marR="95250" marT="57150" marB="57150">
                    <a:solidFill>
                      <a:srgbClr val="FFFFFF"/>
                    </a:solidFill>
                  </a:tcPr>
                </a:tc>
                <a:extLst>
                  <a:ext uri="{0D108BD9-81ED-4DB2-BD59-A6C34878D82A}">
                    <a16:rowId xmlns:a16="http://schemas.microsoft.com/office/drawing/2014/main" val="10006"/>
                  </a:ext>
                </a:extLst>
              </a:tr>
              <a:tr h="362683">
                <a:tc>
                  <a:txBody>
                    <a:bodyPr/>
                    <a:lstStyle/>
                    <a:p>
                      <a:r>
                        <a:rPr sz="1650" b="0">
                          <a:solidFill>
                            <a:srgbClr val="172F42"/>
                          </a:solidFill>
                          <a:latin typeface="Arial"/>
                          <a:ea typeface="Arial"/>
                          <a:cs typeface="Arial"/>
                        </a:rPr>
                        <a:t>R3</a:t>
                      </a:r>
                    </a:p>
                  </a:txBody>
                  <a:tcPr marL="95250" marR="95250" marT="57150" marB="57150">
                    <a:solidFill>
                      <a:srgbClr val="FFFFFF"/>
                    </a:solidFill>
                  </a:tcPr>
                </a:tc>
                <a:tc>
                  <a:txBody>
                    <a:bodyPr/>
                    <a:lstStyle/>
                    <a:p>
                      <a:r>
                        <a:rPr sz="1650" b="0">
                          <a:solidFill>
                            <a:srgbClr val="172F42"/>
                          </a:solidFill>
                          <a:latin typeface="Arial"/>
                          <a:ea typeface="Arial"/>
                          <a:cs typeface="Arial"/>
                        </a:rPr>
                        <a:t>Ridge con interacciones ampliadas</a:t>
                      </a:r>
                    </a:p>
                  </a:txBody>
                  <a:tcPr marL="95250" marR="95250" marT="57150" marB="57150">
                    <a:solidFill>
                      <a:srgbClr val="FFFFFF"/>
                    </a:solidFill>
                  </a:tcPr>
                </a:tc>
                <a:tc>
                  <a:txBody>
                    <a:bodyPr/>
                    <a:lstStyle/>
                    <a:p>
                      <a:r>
                        <a:rPr sz="1650" b="0">
                          <a:solidFill>
                            <a:srgbClr val="172F42"/>
                          </a:solidFill>
                          <a:latin typeface="Arial"/>
                          <a:ea typeface="Arial"/>
                          <a:cs typeface="Arial"/>
                        </a:rPr>
                        <a:t>0,546116</a:t>
                      </a:r>
                    </a:p>
                  </a:txBody>
                  <a:tcPr marL="95250" marR="95250" marT="57150" marB="57150">
                    <a:solidFill>
                      <a:srgbClr val="FFFFFF"/>
                    </a:solidFill>
                  </a:tcPr>
                </a:tc>
                <a:extLst>
                  <a:ext uri="{0D108BD9-81ED-4DB2-BD59-A6C34878D82A}">
                    <a16:rowId xmlns:a16="http://schemas.microsoft.com/office/drawing/2014/main" val="10007"/>
                  </a:ext>
                </a:extLst>
              </a:tr>
              <a:tr h="362683">
                <a:tc>
                  <a:txBody>
                    <a:bodyPr/>
                    <a:lstStyle/>
                    <a:p>
                      <a:r>
                        <a:rPr sz="1650" b="0">
                          <a:solidFill>
                            <a:srgbClr val="172F42"/>
                          </a:solidFill>
                          <a:latin typeface="Arial"/>
                          <a:ea typeface="Arial"/>
                          <a:cs typeface="Arial"/>
                        </a:rPr>
                        <a:t>R4</a:t>
                      </a:r>
                    </a:p>
                  </a:txBody>
                  <a:tcPr marL="95250" marR="95250" marT="57150" marB="57150">
                    <a:solidFill>
                      <a:srgbClr val="FFFFFF"/>
                    </a:solidFill>
                  </a:tcPr>
                </a:tc>
                <a:tc>
                  <a:txBody>
                    <a:bodyPr/>
                    <a:lstStyle/>
                    <a:p>
                      <a:r>
                        <a:rPr sz="1650" b="0">
                          <a:solidFill>
                            <a:srgbClr val="172F42"/>
                          </a:solidFill>
                          <a:latin typeface="Arial"/>
                          <a:ea typeface="Arial"/>
                          <a:cs typeface="Arial"/>
                        </a:rPr>
                        <a:t>Ridge con escolaridad y jornadas</a:t>
                      </a:r>
                    </a:p>
                  </a:txBody>
                  <a:tcPr marL="95250" marR="95250" marT="57150" marB="57150">
                    <a:solidFill>
                      <a:srgbClr val="FFFFFF"/>
                    </a:solidFill>
                  </a:tcPr>
                </a:tc>
                <a:tc>
                  <a:txBody>
                    <a:bodyPr/>
                    <a:lstStyle/>
                    <a:p>
                      <a:r>
                        <a:rPr sz="1650" b="0">
                          <a:solidFill>
                            <a:srgbClr val="172F42"/>
                          </a:solidFill>
                          <a:latin typeface="Arial"/>
                          <a:ea typeface="Arial"/>
                          <a:cs typeface="Arial"/>
                        </a:rPr>
                        <a:t>0,538877</a:t>
                      </a:r>
                    </a:p>
                  </a:txBody>
                  <a:tcPr marL="95250" marR="95250" marT="57150" marB="57150">
                    <a:solidFill>
                      <a:srgbClr val="FFFFFF"/>
                    </a:solidFill>
                  </a:tcPr>
                </a:tc>
                <a:extLst>
                  <a:ext uri="{0D108BD9-81ED-4DB2-BD59-A6C34878D82A}">
                    <a16:rowId xmlns:a16="http://schemas.microsoft.com/office/drawing/2014/main" val="10008"/>
                  </a:ext>
                </a:extLst>
              </a:tr>
              <a:tr h="362683">
                <a:tc>
                  <a:txBody>
                    <a:bodyPr/>
                    <a:lstStyle/>
                    <a:p>
                      <a:r>
                        <a:rPr sz="1650" b="0">
                          <a:solidFill>
                            <a:srgbClr val="172F42"/>
                          </a:solidFill>
                          <a:latin typeface="Arial"/>
                          <a:ea typeface="Arial"/>
                          <a:cs typeface="Arial"/>
                        </a:rPr>
                        <a:t>R5</a:t>
                      </a:r>
                    </a:p>
                  </a:txBody>
                  <a:tcPr marL="95250" marR="95250" marT="57150" marB="57150">
                    <a:solidFill>
                      <a:srgbClr val="FFFFFF"/>
                    </a:solidFill>
                  </a:tcPr>
                </a:tc>
                <a:tc>
                  <a:txBody>
                    <a:bodyPr/>
                    <a:lstStyle/>
                    <a:p>
                      <a:r>
                        <a:rPr sz="1650" b="0">
                          <a:solidFill>
                            <a:srgbClr val="172F42"/>
                          </a:solidFill>
                          <a:latin typeface="Arial"/>
                          <a:ea typeface="Arial"/>
                          <a:cs typeface="Arial"/>
                        </a:rPr>
                        <a:t>Ridge, selección adelante</a:t>
                      </a:r>
                    </a:p>
                  </a:txBody>
                  <a:tcPr marL="95250" marR="95250" marT="57150" marB="57150">
                    <a:solidFill>
                      <a:srgbClr val="FFFFFF"/>
                    </a:solidFill>
                  </a:tcPr>
                </a:tc>
                <a:tc>
                  <a:txBody>
                    <a:bodyPr/>
                    <a:lstStyle/>
                    <a:p>
                      <a:r>
                        <a:rPr sz="1650" b="0">
                          <a:solidFill>
                            <a:srgbClr val="172F42"/>
                          </a:solidFill>
                          <a:latin typeface="Arial"/>
                          <a:ea typeface="Arial"/>
                          <a:cs typeface="Arial"/>
                        </a:rPr>
                        <a:t>0,538454</a:t>
                      </a:r>
                    </a:p>
                  </a:txBody>
                  <a:tcPr marL="95250" marR="95250" marT="57150" marB="57150">
                    <a:solidFill>
                      <a:srgbClr val="FFFFFF"/>
                    </a:solidFill>
                  </a:tcPr>
                </a:tc>
                <a:extLst>
                  <a:ext uri="{0D108BD9-81ED-4DB2-BD59-A6C34878D82A}">
                    <a16:rowId xmlns:a16="http://schemas.microsoft.com/office/drawing/2014/main" val="10009"/>
                  </a:ext>
                </a:extLst>
              </a:tr>
              <a:tr h="362683">
                <a:tc>
                  <a:txBody>
                    <a:bodyPr/>
                    <a:lstStyle/>
                    <a:p>
                      <a:r>
                        <a:rPr sz="1650" b="0">
                          <a:solidFill>
                            <a:srgbClr val="172F42"/>
                          </a:solidFill>
                          <a:latin typeface="Arial"/>
                          <a:ea typeface="Arial"/>
                          <a:cs typeface="Arial"/>
                        </a:rPr>
                        <a:t>R6</a:t>
                      </a:r>
                    </a:p>
                  </a:txBody>
                  <a:tcPr marL="95250" marR="95250" marT="57150" marB="57150">
                    <a:solidFill>
                      <a:srgbClr val="FFFFFF"/>
                    </a:solidFill>
                  </a:tcPr>
                </a:tc>
                <a:tc>
                  <a:txBody>
                    <a:bodyPr/>
                    <a:lstStyle/>
                    <a:p>
                      <a:r>
                        <a:rPr sz="1650" b="0">
                          <a:solidFill>
                            <a:srgbClr val="172F42"/>
                          </a:solidFill>
                          <a:latin typeface="Arial"/>
                          <a:ea typeface="Arial"/>
                          <a:cs typeface="Arial"/>
                        </a:rPr>
                        <a:t>Ridge, selección atras</a:t>
                      </a:r>
                    </a:p>
                  </a:txBody>
                  <a:tcPr marL="95250" marR="95250" marT="57150" marB="57150">
                    <a:solidFill>
                      <a:srgbClr val="FFFFFF"/>
                    </a:solidFill>
                  </a:tcPr>
                </a:tc>
                <a:tc>
                  <a:txBody>
                    <a:bodyPr/>
                    <a:lstStyle/>
                    <a:p>
                      <a:r>
                        <a:rPr sz="1650" b="0">
                          <a:solidFill>
                            <a:srgbClr val="172F42"/>
                          </a:solidFill>
                          <a:latin typeface="Arial"/>
                          <a:ea typeface="Arial"/>
                          <a:cs typeface="Arial"/>
                        </a:rPr>
                        <a:t>0,538444</a:t>
                      </a:r>
                    </a:p>
                  </a:txBody>
                  <a:tcPr marL="95250" marR="95250" marT="57150" marB="57150">
                    <a:solidFill>
                      <a:srgbClr val="FFFFFF"/>
                    </a:solidFill>
                  </a:tcPr>
                </a:tc>
                <a:extLst>
                  <a:ext uri="{0D108BD9-81ED-4DB2-BD59-A6C34878D82A}">
                    <a16:rowId xmlns:a16="http://schemas.microsoft.com/office/drawing/2014/main" val="10010"/>
                  </a:ext>
                </a:extLst>
              </a:tr>
              <a:tr h="362683">
                <a:tc>
                  <a:txBody>
                    <a:bodyPr/>
                    <a:lstStyle/>
                    <a:p>
                      <a:r>
                        <a:rPr sz="1650" b="0">
                          <a:solidFill>
                            <a:srgbClr val="172F42"/>
                          </a:solidFill>
                          <a:latin typeface="Arial"/>
                          <a:ea typeface="Arial"/>
                          <a:cs typeface="Arial"/>
                        </a:rPr>
                        <a:t>R7</a:t>
                      </a:r>
                    </a:p>
                  </a:txBody>
                  <a:tcPr marL="95250" marR="95250" marT="57150" marB="57150">
                    <a:solidFill>
                      <a:srgbClr val="FFFFFF"/>
                    </a:solidFill>
                  </a:tcPr>
                </a:tc>
                <a:tc>
                  <a:txBody>
                    <a:bodyPr/>
                    <a:lstStyle/>
                    <a:p>
                      <a:r>
                        <a:rPr sz="1650" b="0">
                          <a:solidFill>
                            <a:srgbClr val="172F42"/>
                          </a:solidFill>
                          <a:latin typeface="Arial"/>
                          <a:ea typeface="Arial"/>
                          <a:cs typeface="Arial"/>
                        </a:rPr>
                        <a:t>Ridge, selección mixto</a:t>
                      </a:r>
                    </a:p>
                  </a:txBody>
                  <a:tcPr marL="95250" marR="95250" marT="57150" marB="57150">
                    <a:solidFill>
                      <a:srgbClr val="FFFFFF"/>
                    </a:solidFill>
                  </a:tcPr>
                </a:tc>
                <a:tc>
                  <a:txBody>
                    <a:bodyPr/>
                    <a:lstStyle/>
                    <a:p>
                      <a:r>
                        <a:rPr sz="1650" b="0">
                          <a:solidFill>
                            <a:srgbClr val="172F42"/>
                          </a:solidFill>
                          <a:latin typeface="Arial"/>
                          <a:ea typeface="Arial"/>
                          <a:cs typeface="Arial"/>
                        </a:rPr>
                        <a:t>0,538454</a:t>
                      </a:r>
                    </a:p>
                  </a:txBody>
                  <a:tcPr marL="95250" marR="95250" marT="57150" marB="57150">
                    <a:solidFill>
                      <a:srgbClr val="FFFFFF"/>
                    </a:solidFill>
                  </a:tcPr>
                </a:tc>
                <a:extLst>
                  <a:ext uri="{0D108BD9-81ED-4DB2-BD59-A6C34878D82A}">
                    <a16:rowId xmlns:a16="http://schemas.microsoft.com/office/drawing/2014/main" val="10011"/>
                  </a:ext>
                </a:extLst>
              </a:tr>
              <a:tr h="362683">
                <a:tc>
                  <a:txBody>
                    <a:bodyPr/>
                    <a:lstStyle/>
                    <a:p>
                      <a:r>
                        <a:rPr sz="1650" b="0">
                          <a:solidFill>
                            <a:srgbClr val="172F42"/>
                          </a:solidFill>
                          <a:latin typeface="Arial"/>
                          <a:ea typeface="Arial"/>
                          <a:cs typeface="Arial"/>
                        </a:rPr>
                        <a:t>M10</a:t>
                      </a:r>
                    </a:p>
                  </a:txBody>
                  <a:tcPr marL="95250" marR="95250" marT="57150" marB="57150">
                    <a:solidFill>
                      <a:srgbClr val="FFFFFF"/>
                    </a:solidFill>
                  </a:tcPr>
                </a:tc>
                <a:tc>
                  <a:txBody>
                    <a:bodyPr/>
                    <a:lstStyle/>
                    <a:p>
                      <a:r>
                        <a:rPr sz="1650" b="0">
                          <a:solidFill>
                            <a:srgbClr val="172F42"/>
                          </a:solidFill>
                          <a:latin typeface="Arial"/>
                          <a:ea typeface="Arial"/>
                          <a:cs typeface="Arial"/>
                        </a:rPr>
                        <a:t>MCO, grupos elegidos hacia adelante</a:t>
                      </a:r>
                    </a:p>
                  </a:txBody>
                  <a:tcPr marL="95250" marR="95250" marT="57150" marB="57150">
                    <a:solidFill>
                      <a:srgbClr val="FFFFFF"/>
                    </a:solidFill>
                  </a:tcPr>
                </a:tc>
                <a:tc>
                  <a:txBody>
                    <a:bodyPr/>
                    <a:lstStyle/>
                    <a:p>
                      <a:r>
                        <a:rPr sz="1650" b="0">
                          <a:solidFill>
                            <a:srgbClr val="172F42"/>
                          </a:solidFill>
                          <a:latin typeface="Arial"/>
                          <a:ea typeface="Arial"/>
                          <a:cs typeface="Arial"/>
                        </a:rPr>
                        <a:t>0,543175</a:t>
                      </a:r>
                    </a:p>
                  </a:txBody>
                  <a:tcPr marL="95250" marR="95250" marT="57150" marB="57150">
                    <a:solidFill>
                      <a:srgbClr val="FFFFFF"/>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696502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29FDE977-D9BB-A760-782B-8BABB7E6FD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78" y="1091931"/>
            <a:ext cx="11989243" cy="4674137"/>
          </a:xfrm>
          <a:prstGeom prst="rect">
            <a:avLst/>
          </a:prstGeom>
        </p:spPr>
      </p:pic>
    </p:spTree>
    <p:extLst>
      <p:ext uri="{BB962C8B-B14F-4D97-AF65-F5344CB8AC3E}">
        <p14:creationId xmlns:p14="http://schemas.microsoft.com/office/powerpoint/2010/main" val="2456706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33AA9561-1631-4F49-8265-1706F97A3A4F}"/>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LOOCV y validación responden a ejercicios distintos</a:t>
            </a:r>
          </a:p>
        </p:txBody>
      </p:sp>
      <p:sp>
        <p:nvSpPr>
          <p:cNvPr id="2" name="Rectángulo 1">
            <a:extLst>
              <a:ext uri="{FF2B5EF4-FFF2-40B4-BE49-F238E27FC236}">
                <a16:creationId xmlns:a16="http://schemas.microsoft.com/office/drawing/2014/main" id="{193E0252-3135-4900-9569-67207F3E45BF}"/>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a:solidFill>
                  <a:srgbClr val="526471"/>
                </a:solidFill>
                <a:latin typeface="Arial"/>
                <a:ea typeface="Arial"/>
                <a:cs typeface="Arial"/>
              </a:rPr>
              <a:t>Entrenamiento: 10.263 registros. Validación: 4.500 registros. Fuente: GEIH 2018, Bogotá.</a:t>
            </a:r>
          </a:p>
        </p:txBody>
      </p:sp>
      <p:sp>
        <p:nvSpPr>
          <p:cNvPr id="3" name="Rectángulo 2">
            <a:extLst>
              <a:ext uri="{FF2B5EF4-FFF2-40B4-BE49-F238E27FC236}">
                <a16:creationId xmlns:a16="http://schemas.microsoft.com/office/drawing/2014/main" id="{44D4C674-5A79-493B-83A4-5810DBE3ECFF}"/>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8</a:t>
            </a:r>
          </a:p>
        </p:txBody>
      </p:sp>
      <mc:AlternateContent xmlns:mc="http://schemas.openxmlformats.org/markup-compatibility/2006" xmlns:a14="http://schemas.microsoft.com/office/drawing/2010/main">
        <mc:Choice Requires="a14">
          <p:sp>
            <p:nvSpPr>
              <p:cNvPr id="4" name="EQ_pred_8_2">
                <a:extLst>
                  <a:ext uri="{FF2B5EF4-FFF2-40B4-BE49-F238E27FC236}">
                    <a16:creationId xmlns:a16="http://schemas.microsoft.com/office/drawing/2014/main" id="{08A4E6E1-649A-4529-9EA1-6B1838B82492}"/>
                  </a:ext>
                </a:extLst>
              </p:cNvPr>
              <p:cNvSpPr>
                <a:spLocks noGrp="1"/>
              </p:cNvSpPr>
              <p:nvPr/>
            </p:nvSpPr>
            <p:spPr>
              <a:xfrm>
                <a:off x="685800" y="1190625"/>
                <a:ext cx="10763250" cy="952500"/>
              </a:xfrm>
              <a:prstGeom prst="rect">
                <a:avLst/>
              </a:prstGeom>
              <a:noFill/>
              <a:ln w="0">
                <a:noFill/>
              </a:ln>
            </p:spPr>
            <p:txBody>
              <a:bodyPr/>
              <a:lstStyle/>
              <a:p>
                <a:pPr algn="l"/>
                <a14:m>
                  <m:oMathPara xmlns:m="http://schemas.openxmlformats.org/officeDocument/2006/math">
                    <m:oMath>
                      <m:sSub>
                        <m:sSubPr>
                          <m:ctrlPr>
                            <a:rPr>
                              <a:latin typeface="Cambria Math" panose="02040503050406030204" pitchFamily="18" charset="0"/>
                            </a:rPr>
                          </m:ctrlPr>
                        </m:sSubPr>
                        <m:e>
                          <m:r>
                            <m:rPr>
                              <m:sty m:val="p"/>
                            </m:rPr>
                            <a:rPr>
                              <a:latin typeface="Cambria Math" panose="02040503050406030204" pitchFamily="18" charset="0"/>
                            </a:rPr>
                            <m:t>RMSE</m:t>
                          </m:r>
                        </m:e>
                        <m:sub>
                          <m:r>
                            <m:rPr>
                              <m:sty m:val="p"/>
                            </m:rPr>
                            <a:rPr>
                              <a:latin typeface="Cambria Math" panose="02040503050406030204" pitchFamily="18" charset="0"/>
                            </a:rPr>
                            <m:t>LOO</m:t>
                          </m:r>
                        </m:sub>
                      </m:sSub>
                      <m:r>
                        <a:rPr>
                          <a:latin typeface="Cambria Math" panose="02040503050406030204" pitchFamily="18" charset="0"/>
                        </a:rPr>
                        <m:t>=</m:t>
                      </m:r>
                      <m:rad>
                        <m:radPr>
                          <m:degHide m:val="on"/>
                          <m:ctrlPr>
                            <a:rPr i="1">
                              <a:latin typeface="Cambria Math" panose="02040503050406030204" pitchFamily="18" charset="0"/>
                            </a:rPr>
                          </m:ctrlPr>
                        </m:radPr>
                        <m:deg/>
                        <m:e>
                          <m:f>
                            <m:fPr>
                              <m:ctrlPr>
                                <a:rPr>
                                  <a:latin typeface="Cambria Math" panose="02040503050406030204" pitchFamily="18" charset="0"/>
                                </a:rPr>
                              </m:ctrlPr>
                            </m:fPr>
                            <m:num>
                              <m:r>
                                <a:rPr>
                                  <a:latin typeface="Cambria Math" panose="02040503050406030204" pitchFamily="18" charset="0"/>
                                </a:rPr>
                                <m:t>1</m:t>
                              </m:r>
                            </m:num>
                            <m:den>
                              <m:sSub>
                                <m:sSubPr>
                                  <m:ctrlPr>
                                    <a:rPr>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𝑇</m:t>
                                  </m:r>
                                </m:sub>
                              </m:sSub>
                            </m:den>
                          </m:f>
                          <m:nary>
                            <m:naryPr>
                              <m:chr m:val="∑"/>
                              <m:limLoc m:val="subSup"/>
                              <m:grow m:val="on"/>
                              <m:supHide m:val="on"/>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𝑇</m:t>
                              </m:r>
                            </m:sub>
                            <m:sup/>
                            <m:e>
                              <m:r>
                                <a:rPr>
                                  <a:latin typeface="Cambria Math" panose="02040503050406030204" pitchFamily="18" charset="0"/>
                                </a:rPr>
                                <m:t>(</m:t>
                              </m:r>
                            </m:e>
                          </m:nary>
                          <m:f>
                            <m:fPr>
                              <m:ctrlPr>
                                <a:rPr i="1">
                                  <a:latin typeface="Cambria Math" panose="02040503050406030204" pitchFamily="18" charset="0"/>
                                </a:rPr>
                              </m:ctrlPr>
                            </m:fPr>
                            <m:num>
                              <m:sSub>
                                <m:sSubPr>
                                  <m:ctrlPr>
                                    <a:rPr>
                                      <a:latin typeface="Cambria Math" panose="02040503050406030204" pitchFamily="18" charset="0"/>
                                    </a:rPr>
                                  </m:ctrlPr>
                                </m:sSubPr>
                                <m:e>
                                  <m:r>
                                    <a:rPr>
                                      <a:latin typeface="Cambria Math" panose="02040503050406030204" pitchFamily="18" charset="0"/>
                                    </a:rPr>
                                    <m:t>𝑒</m:t>
                                  </m:r>
                                </m:e>
                                <m:sub>
                                  <m:r>
                                    <a:rPr>
                                      <a:latin typeface="Cambria Math" panose="02040503050406030204" pitchFamily="18" charset="0"/>
                                    </a:rPr>
                                    <m:t>𝑖</m:t>
                                  </m:r>
                                </m:sub>
                              </m:sSub>
                            </m:num>
                            <m:den>
                              <m:r>
                                <a:rPr>
                                  <a:latin typeface="Cambria Math" panose="02040503050406030204" pitchFamily="18" charset="0"/>
                                </a:rPr>
                                <m:t>1−</m:t>
                              </m:r>
                              <m:sSub>
                                <m:sSubPr>
                                  <m:ctrlPr>
                                    <a:rPr>
                                      <a:latin typeface="Cambria Math" panose="02040503050406030204" pitchFamily="18" charset="0"/>
                                    </a:rPr>
                                  </m:ctrlPr>
                                </m:sSubPr>
                                <m:e>
                                  <m:r>
                                    <a:rPr>
                                      <a:latin typeface="Cambria Math" panose="02040503050406030204" pitchFamily="18" charset="0"/>
                                    </a:rPr>
                                    <m:t>ℎ</m:t>
                                  </m:r>
                                </m:e>
                                <m:sub>
                                  <m:r>
                                    <a:rPr>
                                      <a:latin typeface="Cambria Math" panose="02040503050406030204" pitchFamily="18" charset="0"/>
                                    </a:rPr>
                                    <m:t>𝑖𝑖</m:t>
                                  </m:r>
                                </m:sub>
                              </m:sSub>
                            </m:den>
                          </m:f>
                          <m:sSup>
                            <m:sSupPr>
                              <m:ctrlPr>
                                <a:rPr>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2</m:t>
                              </m:r>
                            </m:sup>
                          </m:sSup>
                        </m:e>
                      </m:rad>
                    </m:oMath>
                  </m:oMathPara>
                </a14:m>
                <a:endParaRPr sz="2800"/>
              </a:p>
            </p:txBody>
          </p:sp>
        </mc:Choice>
        <mc:Fallback xmlns="">
          <p:sp>
            <p:nvSpPr>
              <p:cNvPr id="4" name="EQ_pred_8_2">
                <a:extLst>
                  <a:ext uri="{FF2B5EF4-FFF2-40B4-BE49-F238E27FC236}">
                    <a16:creationId xmlns:a16="http://schemas.microsoft.com/office/drawing/2014/main" id="{08A4E6E1-649A-4529-9EA1-6B1838B82492}"/>
                  </a:ext>
                </a:extLst>
              </p:cNvPr>
              <p:cNvSpPr>
                <a:spLocks noGrp="1" noRot="1" noChangeAspect="1" noMove="1" noResize="1" noEditPoints="1" noAdjustHandles="1" noChangeArrowheads="1" noChangeShapeType="1" noTextEdit="1"/>
              </p:cNvSpPr>
              <p:nvPr/>
            </p:nvSpPr>
            <p:spPr>
              <a:xfrm>
                <a:off x="685800" y="1190625"/>
                <a:ext cx="10763250" cy="952500"/>
              </a:xfrm>
              <a:prstGeom prst="rect">
                <a:avLst/>
              </a:prstGeom>
              <a:blipFill>
                <a:blip r:embed="rId3"/>
                <a:stretch>
                  <a:fillRect/>
                </a:stretch>
              </a:blipFill>
              <a:ln w="0">
                <a:noFill/>
              </a:ln>
            </p:spPr>
            <p:txBody>
              <a:bodyPr/>
              <a:lstStyle/>
              <a:p>
                <a:r>
                  <a:rPr lang="es-CO">
                    <a:noFill/>
                  </a:rPr>
                  <a:t> </a:t>
                </a:r>
              </a:p>
            </p:txBody>
          </p:sp>
        </mc:Fallback>
      </mc:AlternateContent>
      <p:graphicFrame>
        <p:nvGraphicFramePr>
          <p:cNvPr id="11" name="Tabla 10"/>
          <p:cNvGraphicFramePr/>
          <p:nvPr/>
        </p:nvGraphicFramePr>
        <p:xfrm>
          <a:off x="609600" y="2667000"/>
          <a:ext cx="10972800" cy="2743200"/>
        </p:xfrm>
        <a:graphic>
          <a:graphicData uri="http://schemas.openxmlformats.org/drawingml/2006/table">
            <a:tbl>
              <a:tblPr/>
              <a:tblGrid>
                <a:gridCol w="79248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548640">
                <a:tc>
                  <a:txBody>
                    <a:bodyPr/>
                    <a:lstStyle/>
                    <a:p>
                      <a:r>
                        <a:rPr sz="1875" b="0">
                          <a:solidFill>
                            <a:srgbClr val="172F42"/>
                          </a:solidFill>
                          <a:latin typeface="Arial"/>
                          <a:ea typeface="Arial"/>
                          <a:cs typeface="Arial"/>
                        </a:rPr>
                        <a:t>Evaluación de R6</a:t>
                      </a:r>
                    </a:p>
                  </a:txBody>
                  <a:tcPr marL="95250" marR="95250" marT="57150" marB="57150">
                    <a:solidFill>
                      <a:srgbClr val="EDF3F7"/>
                    </a:solidFill>
                  </a:tcPr>
                </a:tc>
                <a:tc>
                  <a:txBody>
                    <a:bodyPr/>
                    <a:lstStyle/>
                    <a:p>
                      <a:r>
                        <a:rPr sz="1875" b="0">
                          <a:solidFill>
                            <a:srgbClr val="172F42"/>
                          </a:solidFill>
                          <a:latin typeface="Arial"/>
                          <a:ea typeface="Arial"/>
                          <a:cs typeface="Arial"/>
                        </a:rPr>
                        <a:t>RMSE</a:t>
                      </a:r>
                    </a:p>
                  </a:txBody>
                  <a:tcPr marL="95250" marR="95250" marT="57150" marB="57150">
                    <a:solidFill>
                      <a:srgbClr val="EDF3F7"/>
                    </a:solidFill>
                  </a:tcPr>
                </a:tc>
                <a:extLst>
                  <a:ext uri="{0D108BD9-81ED-4DB2-BD59-A6C34878D82A}">
                    <a16:rowId xmlns:a16="http://schemas.microsoft.com/office/drawing/2014/main" val="10000"/>
                  </a:ext>
                </a:extLst>
              </a:tr>
              <a:tr h="548640">
                <a:tc>
                  <a:txBody>
                    <a:bodyPr/>
                    <a:lstStyle/>
                    <a:p>
                      <a:r>
                        <a:rPr sz="1875" b="0">
                          <a:solidFill>
                            <a:srgbClr val="172F42"/>
                          </a:solidFill>
                          <a:latin typeface="Arial"/>
                          <a:ea typeface="Arial"/>
                          <a:cs typeface="Arial"/>
                        </a:rPr>
                        <a:t>LOOCV con diseño y λ fijos</a:t>
                      </a:r>
                    </a:p>
                  </a:txBody>
                  <a:tcPr marL="95250" marR="95250" marT="57150" marB="57150">
                    <a:solidFill>
                      <a:srgbClr val="FFFFFF"/>
                    </a:solidFill>
                  </a:tcPr>
                </a:tc>
                <a:tc>
                  <a:txBody>
                    <a:bodyPr/>
                    <a:lstStyle/>
                    <a:p>
                      <a:r>
                        <a:rPr sz="1875" b="0">
                          <a:solidFill>
                            <a:srgbClr val="172F42"/>
                          </a:solidFill>
                          <a:latin typeface="Arial"/>
                          <a:ea typeface="Arial"/>
                          <a:cs typeface="Arial"/>
                        </a:rPr>
                        <a:t>0,5054</a:t>
                      </a:r>
                    </a:p>
                  </a:txBody>
                  <a:tcPr marL="95250" marR="95250" marT="57150" marB="57150">
                    <a:solidFill>
                      <a:srgbClr val="FFFFFF"/>
                    </a:solidFill>
                  </a:tcPr>
                </a:tc>
                <a:extLst>
                  <a:ext uri="{0D108BD9-81ED-4DB2-BD59-A6C34878D82A}">
                    <a16:rowId xmlns:a16="http://schemas.microsoft.com/office/drawing/2014/main" val="10001"/>
                  </a:ext>
                </a:extLst>
              </a:tr>
              <a:tr h="548640">
                <a:tc>
                  <a:txBody>
                    <a:bodyPr/>
                    <a:lstStyle/>
                    <a:p>
                      <a:r>
                        <a:rPr sz="1875" b="0">
                          <a:solidFill>
                            <a:srgbClr val="172F42"/>
                          </a:solidFill>
                          <a:latin typeface="Arial"/>
                          <a:ea typeface="Arial"/>
                          <a:cs typeface="Arial"/>
                        </a:rPr>
                        <a:t>CV de 5 particiones, reaprende transformaciones</a:t>
                      </a:r>
                    </a:p>
                  </a:txBody>
                  <a:tcPr marL="95250" marR="95250" marT="57150" marB="57150">
                    <a:solidFill>
                      <a:srgbClr val="FFFFFF"/>
                    </a:solidFill>
                  </a:tcPr>
                </a:tc>
                <a:tc>
                  <a:txBody>
                    <a:bodyPr/>
                    <a:lstStyle/>
                    <a:p>
                      <a:r>
                        <a:rPr sz="1875" b="0">
                          <a:solidFill>
                            <a:srgbClr val="172F42"/>
                          </a:solidFill>
                          <a:latin typeface="Arial"/>
                          <a:ea typeface="Arial"/>
                          <a:cs typeface="Arial"/>
                        </a:rPr>
                        <a:t>0,5501</a:t>
                      </a:r>
                    </a:p>
                  </a:txBody>
                  <a:tcPr marL="95250" marR="95250" marT="57150" marB="57150">
                    <a:solidFill>
                      <a:srgbClr val="FFFFFF"/>
                    </a:solidFill>
                  </a:tcPr>
                </a:tc>
                <a:extLst>
                  <a:ext uri="{0D108BD9-81ED-4DB2-BD59-A6C34878D82A}">
                    <a16:rowId xmlns:a16="http://schemas.microsoft.com/office/drawing/2014/main" val="10002"/>
                  </a:ext>
                </a:extLst>
              </a:tr>
              <a:tr h="548640">
                <a:tc>
                  <a:txBody>
                    <a:bodyPr/>
                    <a:lstStyle/>
                    <a:p>
                      <a:r>
                        <a:rPr sz="1875" b="0">
                          <a:solidFill>
                            <a:srgbClr val="172F42"/>
                          </a:solidFill>
                          <a:latin typeface="Arial"/>
                          <a:ea typeface="Arial"/>
                          <a:cs typeface="Arial"/>
                        </a:rPr>
                        <a:t>Validación, sin ponderar</a:t>
                      </a:r>
                    </a:p>
                  </a:txBody>
                  <a:tcPr marL="95250" marR="95250" marT="57150" marB="57150">
                    <a:solidFill>
                      <a:srgbClr val="FFFFFF"/>
                    </a:solidFill>
                  </a:tcPr>
                </a:tc>
                <a:tc>
                  <a:txBody>
                    <a:bodyPr/>
                    <a:lstStyle/>
                    <a:p>
                      <a:r>
                        <a:rPr sz="1875" b="0">
                          <a:solidFill>
                            <a:srgbClr val="172F42"/>
                          </a:solidFill>
                          <a:latin typeface="Arial"/>
                          <a:ea typeface="Arial"/>
                          <a:cs typeface="Arial"/>
                        </a:rPr>
                        <a:t>0,5384</a:t>
                      </a:r>
                    </a:p>
                  </a:txBody>
                  <a:tcPr marL="95250" marR="95250" marT="57150" marB="57150">
                    <a:solidFill>
                      <a:srgbClr val="FFFFFF"/>
                    </a:solidFill>
                  </a:tcPr>
                </a:tc>
                <a:extLst>
                  <a:ext uri="{0D108BD9-81ED-4DB2-BD59-A6C34878D82A}">
                    <a16:rowId xmlns:a16="http://schemas.microsoft.com/office/drawing/2014/main" val="10003"/>
                  </a:ext>
                </a:extLst>
              </a:tr>
              <a:tr h="548640">
                <a:tc>
                  <a:txBody>
                    <a:bodyPr/>
                    <a:lstStyle/>
                    <a:p>
                      <a:r>
                        <a:rPr sz="1875" b="0">
                          <a:solidFill>
                            <a:srgbClr val="172F42"/>
                          </a:solidFill>
                          <a:latin typeface="Arial"/>
                          <a:ea typeface="Arial"/>
                          <a:cs typeface="Arial"/>
                        </a:rPr>
                        <a:t>Validación, con fex_c</a:t>
                      </a:r>
                    </a:p>
                  </a:txBody>
                  <a:tcPr marL="95250" marR="95250" marT="57150" marB="57150">
                    <a:solidFill>
                      <a:srgbClr val="FFFFFF"/>
                    </a:solidFill>
                  </a:tcPr>
                </a:tc>
                <a:tc>
                  <a:txBody>
                    <a:bodyPr/>
                    <a:lstStyle/>
                    <a:p>
                      <a:r>
                        <a:rPr sz="1875" b="0">
                          <a:solidFill>
                            <a:srgbClr val="172F42"/>
                          </a:solidFill>
                          <a:latin typeface="Arial"/>
                          <a:ea typeface="Arial"/>
                          <a:cs typeface="Arial"/>
                        </a:rPr>
                        <a:t>0,5342</a:t>
                      </a:r>
                    </a:p>
                  </a:txBody>
                  <a:tcPr marL="95250" marR="95250" marT="57150" marB="57150">
                    <a:solidFill>
                      <a:srgbClr val="FFFFFF"/>
                    </a:solidFill>
                  </a:tcPr>
                </a:tc>
                <a:extLst>
                  <a:ext uri="{0D108BD9-81ED-4DB2-BD59-A6C34878D82A}">
                    <a16:rowId xmlns:a16="http://schemas.microsoft.com/office/drawing/2014/main" val="10004"/>
                  </a:ext>
                </a:extLst>
              </a:tr>
            </a:tbl>
          </a:graphicData>
        </a:graphic>
      </p:graphicFrame>
      <p:sp>
        <p:nvSpPr>
          <p:cNvPr id="6" name="Rectángulo 5">
            <a:extLst>
              <a:ext uri="{FF2B5EF4-FFF2-40B4-BE49-F238E27FC236}">
                <a16:creationId xmlns:a16="http://schemas.microsoft.com/office/drawing/2014/main" id="{6CD2E396-4EDB-4DC1-A07A-7B62470FED08}"/>
              </a:ext>
            </a:extLst>
          </p:cNvPr>
          <p:cNvSpPr>
            <a:spLocks noGrp="1"/>
          </p:cNvSpPr>
          <p:nvPr/>
        </p:nvSpPr>
        <p:spPr>
          <a:xfrm>
            <a:off x="685800" y="5629275"/>
            <a:ext cx="10763250" cy="400050"/>
          </a:xfrm>
          <a:prstGeom prst="rect">
            <a:avLst/>
          </a:prstGeom>
          <a:noFill/>
          <a:ln w="0">
            <a:noFill/>
          </a:ln>
        </p:spPr>
        <p:txBody>
          <a:bodyPr>
            <a:noAutofit/>
          </a:bodyPr>
          <a:lstStyle/>
          <a:p>
            <a:pPr>
              <a:defRPr sz="1800" b="0">
                <a:solidFill>
                  <a:srgbClr val="172F42"/>
                </a:solidFill>
                <a:latin typeface="Arial"/>
                <a:ea typeface="Arial"/>
                <a:cs typeface="Arial"/>
              </a:defRPr>
            </a:pPr>
            <a:r>
              <a:rPr sz="1800" b="0">
                <a:solidFill>
                  <a:srgbClr val="172F42"/>
                </a:solidFill>
                <a:latin typeface="Arial"/>
                <a:ea typeface="Arial"/>
                <a:cs typeface="Arial"/>
              </a:rPr>
              <a:t>El RMSE ponderado de validación representa ≈ 1.186.729 personas.</a:t>
            </a:r>
          </a:p>
        </p:txBody>
      </p:sp>
    </p:spTree>
    <p:extLst>
      <p:ext uri="{BB962C8B-B14F-4D97-AF65-F5344CB8AC3E}">
        <p14:creationId xmlns:p14="http://schemas.microsoft.com/office/powerpoint/2010/main" val="766159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F7BA3750-9544-48FA-808C-6B486E036609}"/>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Las horas aportan más a la precisión predictiva</a:t>
            </a:r>
          </a:p>
        </p:txBody>
      </p:sp>
      <p:sp>
        <p:nvSpPr>
          <p:cNvPr id="2" name="Rectángulo 1">
            <a:extLst>
              <a:ext uri="{FF2B5EF4-FFF2-40B4-BE49-F238E27FC236}">
                <a16:creationId xmlns:a16="http://schemas.microsoft.com/office/drawing/2014/main" id="{46857B1A-F8BC-4895-9C42-5283134E179C}"/>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a:solidFill>
                  <a:srgbClr val="526471"/>
                </a:solidFill>
                <a:latin typeface="Arial"/>
                <a:ea typeface="Arial"/>
                <a:cs typeface="Arial"/>
              </a:rPr>
              <a:t>Entrenamiento: 10.263 registros. Validación: 4.500 registros. Fuente: GEIH 2018, Bogotá.</a:t>
            </a:r>
          </a:p>
        </p:txBody>
      </p:sp>
      <p:sp>
        <p:nvSpPr>
          <p:cNvPr id="3" name="Rectángulo 2">
            <a:extLst>
              <a:ext uri="{FF2B5EF4-FFF2-40B4-BE49-F238E27FC236}">
                <a16:creationId xmlns:a16="http://schemas.microsoft.com/office/drawing/2014/main" id="{E8798189-08AD-491C-A21C-C34D8C2151F2}"/>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9</a:t>
            </a:r>
          </a:p>
        </p:txBody>
      </p:sp>
      <p:graphicFrame>
        <p:nvGraphicFramePr>
          <p:cNvPr id="9" name="Chart"/>
          <p:cNvGraphicFramePr/>
          <p:nvPr>
            <p:extLst>
              <p:ext uri="{D42A27DB-BD31-4B8C-83A1-F6EECF244321}">
                <p14:modId xmlns:p14="http://schemas.microsoft.com/office/powerpoint/2010/main" val="2089993305"/>
              </p:ext>
            </p:extLst>
          </p:nvPr>
        </p:nvGraphicFramePr>
        <p:xfrm>
          <a:off x="666750" y="1428750"/>
          <a:ext cx="10839450" cy="390525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ángulo 4">
            <a:extLst>
              <a:ext uri="{FF2B5EF4-FFF2-40B4-BE49-F238E27FC236}">
                <a16:creationId xmlns:a16="http://schemas.microsoft.com/office/drawing/2014/main" id="{F11D7C3E-DDB8-4C9B-8583-29CC8A08388A}"/>
              </a:ext>
            </a:extLst>
          </p:cNvPr>
          <p:cNvSpPr>
            <a:spLocks noGrp="1"/>
          </p:cNvSpPr>
          <p:nvPr/>
        </p:nvSpPr>
        <p:spPr>
          <a:xfrm>
            <a:off x="685800" y="5524500"/>
            <a:ext cx="10763250" cy="581025"/>
          </a:xfrm>
          <a:prstGeom prst="rect">
            <a:avLst/>
          </a:prstGeom>
          <a:noFill/>
          <a:ln w="0">
            <a:noFill/>
          </a:ln>
        </p:spPr>
        <p:txBody>
          <a:bodyPr>
            <a:noAutofit/>
          </a:bodyPr>
          <a:lstStyle/>
          <a:p>
            <a:pPr>
              <a:defRPr sz="1875" b="0">
                <a:solidFill>
                  <a:srgbClr val="172F42"/>
                </a:solidFill>
                <a:latin typeface="Arial"/>
                <a:ea typeface="Arial"/>
                <a:cs typeface="Arial"/>
              </a:defRPr>
            </a:pPr>
            <a:r>
              <a:rPr sz="1875" b="0">
                <a:solidFill>
                  <a:srgbClr val="172F42"/>
                </a:solidFill>
                <a:latin typeface="Arial"/>
                <a:ea typeface="Arial"/>
                <a:cs typeface="Arial"/>
              </a:rPr>
              <a:t>Horas totales: aumento medio de 0,1072 en RMSE. La importancia es predictiva, sin interpretación causal.</a:t>
            </a:r>
          </a:p>
        </p:txBody>
      </p:sp>
    </p:spTree>
    <p:extLst>
      <p:ext uri="{BB962C8B-B14F-4D97-AF65-F5344CB8AC3E}">
        <p14:creationId xmlns:p14="http://schemas.microsoft.com/office/powerpoint/2010/main" val="12255440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07383988-436E-487F-BD84-32002DE3F287}"/>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Más horas se asocian con mayor ingreso predicho</a:t>
            </a:r>
          </a:p>
        </p:txBody>
      </p:sp>
      <p:sp>
        <p:nvSpPr>
          <p:cNvPr id="2" name="Rectángulo 1">
            <a:extLst>
              <a:ext uri="{FF2B5EF4-FFF2-40B4-BE49-F238E27FC236}">
                <a16:creationId xmlns:a16="http://schemas.microsoft.com/office/drawing/2014/main" id="{5F489BFE-2797-427F-8A74-42F59207072D}"/>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a:solidFill>
                  <a:srgbClr val="526471"/>
                </a:solidFill>
                <a:latin typeface="Arial"/>
                <a:ea typeface="Arial"/>
                <a:cs typeface="Arial"/>
              </a:rPr>
              <a:t>Entrenamiento: 10.263 registros. Validación: 4.500 registros. Fuente: GEIH 2018, Bogotá.</a:t>
            </a:r>
          </a:p>
        </p:txBody>
      </p:sp>
      <p:sp>
        <p:nvSpPr>
          <p:cNvPr id="3" name="Rectángulo 2">
            <a:extLst>
              <a:ext uri="{FF2B5EF4-FFF2-40B4-BE49-F238E27FC236}">
                <a16:creationId xmlns:a16="http://schemas.microsoft.com/office/drawing/2014/main" id="{598739A0-7ED4-44DC-942F-FA416D763997}"/>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10</a:t>
            </a:r>
          </a:p>
        </p:txBody>
      </p:sp>
      <p:graphicFrame>
        <p:nvGraphicFramePr>
          <p:cNvPr id="9" name="Chart"/>
          <p:cNvGraphicFramePr/>
          <p:nvPr/>
        </p:nvGraphicFramePr>
        <p:xfrm>
          <a:off x="666750" y="1381125"/>
          <a:ext cx="10839450" cy="400050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ángulo 4">
            <a:extLst>
              <a:ext uri="{FF2B5EF4-FFF2-40B4-BE49-F238E27FC236}">
                <a16:creationId xmlns:a16="http://schemas.microsoft.com/office/drawing/2014/main" id="{12F0733E-C3D9-4048-B12E-7023AA80B1F1}"/>
              </a:ext>
            </a:extLst>
          </p:cNvPr>
          <p:cNvSpPr>
            <a:spLocks noGrp="1"/>
          </p:cNvSpPr>
          <p:nvPr/>
        </p:nvSpPr>
        <p:spPr>
          <a:xfrm>
            <a:off x="685800" y="5619750"/>
            <a:ext cx="10763250" cy="590550"/>
          </a:xfrm>
          <a:prstGeom prst="rect">
            <a:avLst/>
          </a:prstGeom>
          <a:noFill/>
          <a:ln w="0">
            <a:noFill/>
          </a:ln>
        </p:spPr>
        <p:txBody>
          <a:bodyPr>
            <a:noAutofit/>
          </a:bodyPr>
          <a:lstStyle/>
          <a:p>
            <a:pPr>
              <a:defRPr sz="1800" b="0">
                <a:solidFill>
                  <a:srgbClr val="172F42"/>
                </a:solidFill>
                <a:latin typeface="Arial"/>
                <a:ea typeface="Arial"/>
                <a:cs typeface="Arial"/>
              </a:defRPr>
            </a:pPr>
            <a:r>
              <a:rPr sz="1800" b="0">
                <a:solidFill>
                  <a:srgbClr val="172F42"/>
                </a:solidFill>
                <a:latin typeface="Arial"/>
                <a:ea typeface="Arial"/>
                <a:cs typeface="Arial"/>
              </a:rPr>
              <a:t>Promedio sobre los demás atributos observados. La curva describe log-ingreso, sin convertirlo a ingreso medio en pesos.</a:t>
            </a:r>
          </a:p>
        </p:txBody>
      </p:sp>
    </p:spTree>
    <p:extLst>
      <p:ext uri="{BB962C8B-B14F-4D97-AF65-F5344CB8AC3E}">
        <p14:creationId xmlns:p14="http://schemas.microsoft.com/office/powerpoint/2010/main" val="21139569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73998A8D-A899-4112-879D-60283EE23C42}"/>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lang="es-CO" sz="3150" b="1" dirty="0">
                <a:solidFill>
                  <a:srgbClr val="172F42"/>
                </a:solidFill>
                <a:latin typeface="Arial"/>
                <a:ea typeface="Arial"/>
                <a:cs typeface="Arial"/>
              </a:rPr>
              <a:t>Resultados y perfil DIAN</a:t>
            </a:r>
            <a:endParaRPr sz="3150" b="1" dirty="0">
              <a:solidFill>
                <a:srgbClr val="172F42"/>
              </a:solidFill>
              <a:latin typeface="Arial"/>
              <a:ea typeface="Arial"/>
              <a:cs typeface="Arial"/>
            </a:endParaRPr>
          </a:p>
        </p:txBody>
      </p:sp>
      <p:sp>
        <p:nvSpPr>
          <p:cNvPr id="2" name="Rectángulo 1">
            <a:extLst>
              <a:ext uri="{FF2B5EF4-FFF2-40B4-BE49-F238E27FC236}">
                <a16:creationId xmlns:a16="http://schemas.microsoft.com/office/drawing/2014/main" id="{DE1ECF18-7AEC-40F7-AEF9-9F2A836129E5}"/>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a:solidFill>
                  <a:srgbClr val="526471"/>
                </a:solidFill>
                <a:latin typeface="Arial"/>
                <a:ea typeface="Arial"/>
                <a:cs typeface="Arial"/>
              </a:rPr>
              <a:t>Entrenamiento: 10.263 registros. Validación: 4.500 registros. Fuente: GEIH 2018, Bogotá.</a:t>
            </a:r>
          </a:p>
        </p:txBody>
      </p:sp>
      <p:sp>
        <p:nvSpPr>
          <p:cNvPr id="3" name="Rectángulo 2">
            <a:extLst>
              <a:ext uri="{FF2B5EF4-FFF2-40B4-BE49-F238E27FC236}">
                <a16:creationId xmlns:a16="http://schemas.microsoft.com/office/drawing/2014/main" id="{08FC9A32-84EE-47E0-908F-0FD71CB0AD16}"/>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11</a:t>
            </a:r>
          </a:p>
        </p:txBody>
      </p:sp>
      <p:sp>
        <p:nvSpPr>
          <p:cNvPr id="4" name="Rectángulo 3">
            <a:extLst>
              <a:ext uri="{FF2B5EF4-FFF2-40B4-BE49-F238E27FC236}">
                <a16:creationId xmlns:a16="http://schemas.microsoft.com/office/drawing/2014/main" id="{D9DFA558-C0F0-4EDE-8EDF-8876C63DA48E}"/>
              </a:ext>
            </a:extLst>
          </p:cNvPr>
          <p:cNvSpPr>
            <a:spLocks noGrp="1"/>
          </p:cNvSpPr>
          <p:nvPr/>
        </p:nvSpPr>
        <p:spPr>
          <a:xfrm>
            <a:off x="685800" y="1476375"/>
            <a:ext cx="10877550" cy="4580296"/>
          </a:xfrm>
          <a:prstGeom prst="rect">
            <a:avLst/>
          </a:prstGeom>
          <a:noFill/>
          <a:ln w="0">
            <a:noFill/>
          </a:ln>
        </p:spPr>
        <p:txBody>
          <a:bodyPr>
            <a:noAutofit/>
          </a:bodyPr>
          <a:lstStyle/>
          <a:p>
            <a:pPr>
              <a:defRPr sz="2025" b="0">
                <a:solidFill>
                  <a:srgbClr val="172F42"/>
                </a:solidFill>
                <a:latin typeface="Arial"/>
                <a:ea typeface="Arial"/>
                <a:cs typeface="Arial"/>
              </a:defRPr>
            </a:pPr>
            <a:r>
              <a:rPr sz="2025" b="0" dirty="0" err="1">
                <a:solidFill>
                  <a:srgbClr val="172F42"/>
                </a:solidFill>
                <a:latin typeface="Arial"/>
                <a:ea typeface="Arial"/>
                <a:cs typeface="Arial"/>
              </a:rPr>
              <a:t>Resultados</a:t>
            </a:r>
            <a:endParaRPr sz="2025" b="0" dirty="0">
              <a:solidFill>
                <a:srgbClr val="172F42"/>
              </a:solidFill>
              <a:latin typeface="Arial"/>
              <a:ea typeface="Arial"/>
              <a:cs typeface="Arial"/>
            </a:endParaRPr>
          </a:p>
          <a:p>
            <a:endParaRPr sz="2025" b="0" dirty="0">
              <a:solidFill>
                <a:srgbClr val="172F42"/>
              </a:solidFill>
              <a:latin typeface="Arial"/>
              <a:ea typeface="Arial"/>
              <a:cs typeface="Arial"/>
            </a:endParaRPr>
          </a:p>
          <a:p>
            <a:pPr>
              <a:defRPr sz="2025" b="0">
                <a:solidFill>
                  <a:srgbClr val="172F42"/>
                </a:solidFill>
                <a:latin typeface="Arial"/>
                <a:ea typeface="Arial"/>
                <a:cs typeface="Arial"/>
              </a:defRPr>
            </a:pPr>
            <a:r>
              <a:rPr sz="2025" b="0" dirty="0">
                <a:solidFill>
                  <a:srgbClr val="172F42"/>
                </a:solidFill>
                <a:latin typeface="Arial"/>
                <a:ea typeface="Arial"/>
                <a:cs typeface="Arial"/>
              </a:rPr>
              <a:t>Ridge R6 reduce el error </a:t>
            </a:r>
            <a:r>
              <a:rPr sz="2025" b="0" dirty="0" err="1">
                <a:solidFill>
                  <a:srgbClr val="172F42"/>
                </a:solidFill>
                <a:latin typeface="Arial"/>
                <a:ea typeface="Arial"/>
                <a:cs typeface="Arial"/>
              </a:rPr>
              <a:t>frente</a:t>
            </a:r>
            <a:r>
              <a:rPr sz="2025" b="0" dirty="0">
                <a:solidFill>
                  <a:srgbClr val="172F42"/>
                </a:solidFill>
                <a:latin typeface="Arial"/>
                <a:ea typeface="Arial"/>
                <a:cs typeface="Arial"/>
              </a:rPr>
              <a:t> a las </a:t>
            </a:r>
            <a:r>
              <a:rPr sz="2025" b="0" dirty="0" err="1">
                <a:solidFill>
                  <a:srgbClr val="172F42"/>
                </a:solidFill>
                <a:latin typeface="Arial"/>
                <a:ea typeface="Arial"/>
                <a:cs typeface="Arial"/>
              </a:rPr>
              <a:t>referencias</a:t>
            </a:r>
            <a:r>
              <a:rPr sz="2025" b="0" dirty="0">
                <a:solidFill>
                  <a:srgbClr val="172F42"/>
                </a:solidFill>
                <a:latin typeface="Arial"/>
                <a:ea typeface="Arial"/>
                <a:cs typeface="Arial"/>
              </a:rPr>
              <a:t>.</a:t>
            </a:r>
          </a:p>
          <a:p>
            <a:endParaRPr sz="2025" b="0" dirty="0">
              <a:solidFill>
                <a:srgbClr val="172F42"/>
              </a:solidFill>
              <a:latin typeface="Arial"/>
              <a:ea typeface="Arial"/>
              <a:cs typeface="Arial"/>
            </a:endParaRPr>
          </a:p>
          <a:p>
            <a:pPr>
              <a:defRPr sz="2025" b="0">
                <a:solidFill>
                  <a:srgbClr val="172F42"/>
                </a:solidFill>
                <a:latin typeface="Arial"/>
                <a:ea typeface="Arial"/>
                <a:cs typeface="Arial"/>
              </a:defRPr>
            </a:pPr>
            <a:r>
              <a:rPr sz="2025" b="0" dirty="0">
                <a:solidFill>
                  <a:srgbClr val="172F42"/>
                </a:solidFill>
                <a:latin typeface="Arial"/>
                <a:ea typeface="Arial"/>
                <a:cs typeface="Arial"/>
              </a:rPr>
              <a:t>Horas y </a:t>
            </a:r>
            <a:r>
              <a:rPr sz="2025" b="0" dirty="0" err="1">
                <a:solidFill>
                  <a:srgbClr val="172F42"/>
                </a:solidFill>
                <a:latin typeface="Arial"/>
                <a:ea typeface="Arial"/>
                <a:cs typeface="Arial"/>
              </a:rPr>
              <a:t>educación</a:t>
            </a:r>
            <a:r>
              <a:rPr sz="2025" b="0" dirty="0">
                <a:solidFill>
                  <a:srgbClr val="172F42"/>
                </a:solidFill>
                <a:latin typeface="Arial"/>
                <a:ea typeface="Arial"/>
                <a:cs typeface="Arial"/>
              </a:rPr>
              <a:t> </a:t>
            </a:r>
            <a:r>
              <a:rPr sz="2025" b="0" dirty="0" err="1">
                <a:solidFill>
                  <a:srgbClr val="172F42"/>
                </a:solidFill>
                <a:latin typeface="Arial"/>
                <a:ea typeface="Arial"/>
                <a:cs typeface="Arial"/>
              </a:rPr>
              <a:t>concentran</a:t>
            </a:r>
            <a:r>
              <a:rPr sz="2025" b="0" dirty="0">
                <a:solidFill>
                  <a:srgbClr val="172F42"/>
                </a:solidFill>
                <a:latin typeface="Arial"/>
                <a:ea typeface="Arial"/>
                <a:cs typeface="Arial"/>
              </a:rPr>
              <a:t> </a:t>
            </a:r>
            <a:r>
              <a:rPr sz="2025" b="0" dirty="0" err="1">
                <a:solidFill>
                  <a:srgbClr val="172F42"/>
                </a:solidFill>
                <a:latin typeface="Arial"/>
                <a:ea typeface="Arial"/>
                <a:cs typeface="Arial"/>
              </a:rPr>
              <a:t>buena</a:t>
            </a:r>
            <a:r>
              <a:rPr sz="2025" b="0" dirty="0">
                <a:solidFill>
                  <a:srgbClr val="172F42"/>
                </a:solidFill>
                <a:latin typeface="Arial"/>
                <a:ea typeface="Arial"/>
                <a:cs typeface="Arial"/>
              </a:rPr>
              <a:t> </a:t>
            </a:r>
            <a:r>
              <a:rPr sz="2025" b="0" dirty="0" err="1">
                <a:solidFill>
                  <a:srgbClr val="172F42"/>
                </a:solidFill>
                <a:latin typeface="Arial"/>
                <a:ea typeface="Arial"/>
                <a:cs typeface="Arial"/>
              </a:rPr>
              <a:t>parte</a:t>
            </a:r>
            <a:r>
              <a:rPr sz="2025" b="0" dirty="0">
                <a:solidFill>
                  <a:srgbClr val="172F42"/>
                </a:solidFill>
                <a:latin typeface="Arial"/>
                <a:ea typeface="Arial"/>
                <a:cs typeface="Arial"/>
              </a:rPr>
              <a:t> de la </a:t>
            </a:r>
            <a:r>
              <a:rPr sz="2025" b="0" dirty="0" err="1">
                <a:solidFill>
                  <a:srgbClr val="172F42"/>
                </a:solidFill>
                <a:latin typeface="Arial"/>
                <a:ea typeface="Arial"/>
                <a:cs typeface="Arial"/>
              </a:rPr>
              <a:t>información</a:t>
            </a:r>
            <a:r>
              <a:rPr sz="2025" b="0" dirty="0">
                <a:solidFill>
                  <a:srgbClr val="172F42"/>
                </a:solidFill>
                <a:latin typeface="Arial"/>
                <a:ea typeface="Arial"/>
                <a:cs typeface="Arial"/>
              </a:rPr>
              <a:t> </a:t>
            </a:r>
            <a:r>
              <a:rPr sz="2025" b="0" dirty="0" err="1">
                <a:solidFill>
                  <a:srgbClr val="172F42"/>
                </a:solidFill>
                <a:latin typeface="Arial"/>
                <a:ea typeface="Arial"/>
                <a:cs typeface="Arial"/>
              </a:rPr>
              <a:t>predictiva</a:t>
            </a:r>
            <a:r>
              <a:rPr sz="2025" b="0" dirty="0">
                <a:solidFill>
                  <a:srgbClr val="172F42"/>
                </a:solidFill>
                <a:latin typeface="Arial"/>
                <a:ea typeface="Arial"/>
                <a:cs typeface="Arial"/>
              </a:rPr>
              <a:t>.</a:t>
            </a:r>
          </a:p>
          <a:p>
            <a:endParaRPr sz="2025" b="0" dirty="0">
              <a:solidFill>
                <a:srgbClr val="172F42"/>
              </a:solidFill>
              <a:latin typeface="Arial"/>
              <a:ea typeface="Arial"/>
              <a:cs typeface="Arial"/>
            </a:endParaRPr>
          </a:p>
          <a:p>
            <a:pPr>
              <a:defRPr sz="2025" b="0">
                <a:solidFill>
                  <a:srgbClr val="172F42"/>
                </a:solidFill>
                <a:latin typeface="Arial"/>
                <a:ea typeface="Arial"/>
                <a:cs typeface="Arial"/>
              </a:defRPr>
            </a:pPr>
            <a:r>
              <a:rPr sz="2025" b="0" dirty="0">
                <a:solidFill>
                  <a:srgbClr val="172F42"/>
                </a:solidFill>
                <a:latin typeface="Arial"/>
                <a:ea typeface="Arial"/>
                <a:cs typeface="Arial"/>
              </a:rPr>
              <a:t>R5, R6 y R7 </a:t>
            </a:r>
            <a:r>
              <a:rPr sz="2025" b="0" dirty="0" err="1">
                <a:solidFill>
                  <a:srgbClr val="172F42"/>
                </a:solidFill>
                <a:latin typeface="Arial"/>
                <a:ea typeface="Arial"/>
                <a:cs typeface="Arial"/>
              </a:rPr>
              <a:t>casi</a:t>
            </a:r>
            <a:r>
              <a:rPr sz="2025" b="0" dirty="0">
                <a:solidFill>
                  <a:srgbClr val="172F42"/>
                </a:solidFill>
                <a:latin typeface="Arial"/>
                <a:ea typeface="Arial"/>
                <a:cs typeface="Arial"/>
              </a:rPr>
              <a:t> </a:t>
            </a:r>
            <a:r>
              <a:rPr sz="2025" b="0" dirty="0" err="1">
                <a:solidFill>
                  <a:srgbClr val="172F42"/>
                </a:solidFill>
                <a:latin typeface="Arial"/>
                <a:ea typeface="Arial"/>
                <a:cs typeface="Arial"/>
              </a:rPr>
              <a:t>empatan</a:t>
            </a:r>
            <a:r>
              <a:rPr sz="2025" b="0" dirty="0">
                <a:solidFill>
                  <a:srgbClr val="172F42"/>
                </a:solidFill>
                <a:latin typeface="Arial"/>
                <a:ea typeface="Arial"/>
                <a:cs typeface="Arial"/>
              </a:rPr>
              <a:t>.</a:t>
            </a:r>
            <a:endParaRPr lang="es-CO" sz="2025" b="0" dirty="0">
              <a:solidFill>
                <a:srgbClr val="172F42"/>
              </a:solidFill>
              <a:latin typeface="Arial"/>
              <a:ea typeface="Arial"/>
              <a:cs typeface="Arial"/>
            </a:endParaRPr>
          </a:p>
          <a:p>
            <a:pPr>
              <a:defRPr sz="2025" b="0">
                <a:solidFill>
                  <a:srgbClr val="172F42"/>
                </a:solidFill>
                <a:latin typeface="Arial"/>
                <a:ea typeface="Arial"/>
                <a:cs typeface="Arial"/>
              </a:defRPr>
            </a:pPr>
            <a:endParaRPr lang="es-CO" sz="2025" dirty="0">
              <a:solidFill>
                <a:srgbClr val="172F42"/>
              </a:solidFill>
              <a:latin typeface="Arial"/>
              <a:ea typeface="Arial"/>
              <a:cs typeface="Arial"/>
            </a:endParaRPr>
          </a:p>
          <a:p>
            <a:pPr>
              <a:defRPr sz="2025" b="0">
                <a:solidFill>
                  <a:srgbClr val="172F42"/>
                </a:solidFill>
                <a:latin typeface="Arial"/>
                <a:ea typeface="Arial"/>
                <a:cs typeface="Arial"/>
              </a:defRPr>
            </a:pPr>
            <a:r>
              <a:rPr lang="es-ES" sz="2025" dirty="0">
                <a:solidFill>
                  <a:srgbClr val="172F42"/>
                </a:solidFill>
                <a:latin typeface="Arial"/>
                <a:ea typeface="Arial"/>
                <a:cs typeface="Arial"/>
              </a:rPr>
              <a:t>Los resultados obtenidos para Bogotá muestran que las horas trabajadas y los años de educación aportan información importante para predecir el ingreso laboral. La DIAN podría utilizar un modelo de este tipo para identificar personas cuyo ingreso declarado sea considerablemente menor al predicho según sus características y priorizar la revisión de posibles casos de </a:t>
            </a:r>
            <a:r>
              <a:rPr lang="es-ES" sz="2025" dirty="0" err="1">
                <a:solidFill>
                  <a:srgbClr val="172F42"/>
                </a:solidFill>
                <a:latin typeface="Arial"/>
                <a:ea typeface="Arial"/>
                <a:cs typeface="Arial"/>
              </a:rPr>
              <a:t>subreporte</a:t>
            </a:r>
            <a:r>
              <a:rPr lang="es-ES" sz="2025" dirty="0">
                <a:solidFill>
                  <a:srgbClr val="172F42"/>
                </a:solidFill>
                <a:latin typeface="Arial"/>
                <a:ea typeface="Arial"/>
                <a:cs typeface="Arial"/>
              </a:rPr>
              <a:t>. Esta sería una aplicación potencial: el ejercicio predice ingresos, pero no demuestra quién declara incorrectamente.</a:t>
            </a:r>
            <a:r>
              <a:rPr lang="es-CO" sz="2025" dirty="0">
                <a:solidFill>
                  <a:srgbClr val="172F42"/>
                </a:solidFill>
                <a:latin typeface="Arial"/>
                <a:ea typeface="Arial"/>
                <a:cs typeface="Arial"/>
              </a:rPr>
              <a:t> </a:t>
            </a:r>
            <a:endParaRPr sz="2025" b="0" dirty="0">
              <a:solidFill>
                <a:srgbClr val="172F42"/>
              </a:solidFill>
              <a:latin typeface="Arial"/>
              <a:ea typeface="Arial"/>
              <a:cs typeface="Arial"/>
            </a:endParaRPr>
          </a:p>
        </p:txBody>
      </p:sp>
    </p:spTree>
    <p:extLst>
      <p:ext uri="{BB962C8B-B14F-4D97-AF65-F5344CB8AC3E}">
        <p14:creationId xmlns:p14="http://schemas.microsoft.com/office/powerpoint/2010/main" val="19802351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83AA2-D3D1-6A8B-2BA1-30757D5ACAA2}"/>
            </a:ext>
          </a:extLst>
        </p:cNvPr>
        <p:cNvGrpSpPr/>
        <p:nvPr/>
      </p:nvGrpSpPr>
      <p:grpSpPr>
        <a:xfrm>
          <a:off x="0" y="0"/>
          <a:ext cx="0" cy="0"/>
          <a:chOff x="0" y="0"/>
          <a:chExt cx="0" cy="0"/>
        </a:xfrm>
      </p:grpSpPr>
      <p:sp>
        <p:nvSpPr>
          <p:cNvPr id="6" name="Rectángulo 5">
            <a:extLst>
              <a:ext uri="{FF2B5EF4-FFF2-40B4-BE49-F238E27FC236}">
                <a16:creationId xmlns:a16="http://schemas.microsoft.com/office/drawing/2014/main" id="{BD26E228-0F7C-2B86-0013-8528E0B7D0FD}"/>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lang="es-CO" sz="3150" b="1" dirty="0">
                <a:solidFill>
                  <a:srgbClr val="172F42"/>
                </a:solidFill>
                <a:latin typeface="Arial"/>
                <a:ea typeface="Arial"/>
                <a:cs typeface="Arial"/>
              </a:rPr>
              <a:t>Perfil de interés DIAN</a:t>
            </a:r>
            <a:endParaRPr sz="3150" b="1" dirty="0">
              <a:solidFill>
                <a:srgbClr val="172F42"/>
              </a:solidFill>
              <a:latin typeface="Arial"/>
              <a:ea typeface="Arial"/>
              <a:cs typeface="Arial"/>
            </a:endParaRPr>
          </a:p>
        </p:txBody>
      </p:sp>
      <p:sp>
        <p:nvSpPr>
          <p:cNvPr id="2" name="Rectángulo 1">
            <a:extLst>
              <a:ext uri="{FF2B5EF4-FFF2-40B4-BE49-F238E27FC236}">
                <a16:creationId xmlns:a16="http://schemas.microsoft.com/office/drawing/2014/main" id="{96B43C55-35EC-4EC7-A8B0-647FD1A681A5}"/>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a:solidFill>
                  <a:srgbClr val="526471"/>
                </a:solidFill>
                <a:latin typeface="Arial"/>
                <a:ea typeface="Arial"/>
                <a:cs typeface="Arial"/>
              </a:rPr>
              <a:t>Entrenamiento: 10.263 registros. Validación: 4.500 registros. Fuente: GEIH 2018, Bogotá.</a:t>
            </a:r>
          </a:p>
        </p:txBody>
      </p:sp>
      <p:sp>
        <p:nvSpPr>
          <p:cNvPr id="3" name="Rectángulo 2">
            <a:extLst>
              <a:ext uri="{FF2B5EF4-FFF2-40B4-BE49-F238E27FC236}">
                <a16:creationId xmlns:a16="http://schemas.microsoft.com/office/drawing/2014/main" id="{7FB81DE4-21F0-EE05-A243-D54ED11C0455}"/>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11</a:t>
            </a:r>
          </a:p>
        </p:txBody>
      </p:sp>
      <p:sp>
        <p:nvSpPr>
          <p:cNvPr id="4" name="Rectángulo 3">
            <a:extLst>
              <a:ext uri="{FF2B5EF4-FFF2-40B4-BE49-F238E27FC236}">
                <a16:creationId xmlns:a16="http://schemas.microsoft.com/office/drawing/2014/main" id="{FFCC8E15-E4DA-96C7-292B-74929E99BF14}"/>
              </a:ext>
            </a:extLst>
          </p:cNvPr>
          <p:cNvSpPr>
            <a:spLocks noGrp="1"/>
          </p:cNvSpPr>
          <p:nvPr/>
        </p:nvSpPr>
        <p:spPr>
          <a:xfrm>
            <a:off x="685800" y="1476375"/>
            <a:ext cx="5048250" cy="4191000"/>
          </a:xfrm>
          <a:prstGeom prst="rect">
            <a:avLst/>
          </a:prstGeom>
          <a:noFill/>
          <a:ln w="0">
            <a:noFill/>
          </a:ln>
        </p:spPr>
        <p:txBody>
          <a:bodyPr>
            <a:noAutofit/>
          </a:bodyPr>
          <a:lstStyle/>
          <a:p>
            <a:pPr>
              <a:defRPr sz="2025" b="0">
                <a:solidFill>
                  <a:srgbClr val="172F42"/>
                </a:solidFill>
                <a:latin typeface="Arial"/>
                <a:ea typeface="Arial"/>
                <a:cs typeface="Arial"/>
              </a:defRPr>
            </a:pPr>
            <a:endParaRPr sz="2025" b="0" dirty="0">
              <a:solidFill>
                <a:srgbClr val="172F42"/>
              </a:solidFill>
              <a:latin typeface="Arial"/>
              <a:ea typeface="Arial"/>
              <a:cs typeface="Arial"/>
            </a:endParaRPr>
          </a:p>
        </p:txBody>
      </p:sp>
    </p:spTree>
    <p:extLst>
      <p:ext uri="{BB962C8B-B14F-4D97-AF65-F5344CB8AC3E}">
        <p14:creationId xmlns:p14="http://schemas.microsoft.com/office/powerpoint/2010/main" val="788192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01795DD2-C8DA-46CB-8DE3-D787868DD46A}"/>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Anexo: dos medidas de importancia</a:t>
            </a:r>
          </a:p>
        </p:txBody>
      </p:sp>
      <p:sp>
        <p:nvSpPr>
          <p:cNvPr id="2" name="Rectángulo 1">
            <a:extLst>
              <a:ext uri="{FF2B5EF4-FFF2-40B4-BE49-F238E27FC236}">
                <a16:creationId xmlns:a16="http://schemas.microsoft.com/office/drawing/2014/main" id="{6D4D248C-0DC9-44B9-A5C8-9EBF90D90E13}"/>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a:solidFill>
                  <a:srgbClr val="526471"/>
                </a:solidFill>
                <a:latin typeface="Arial"/>
                <a:ea typeface="Arial"/>
                <a:cs typeface="Arial"/>
              </a:rPr>
              <a:t>Entrenamiento: 10.263 registros. Validación: 4.500 registros. Fuente: GEIH 2018, Bogotá.</a:t>
            </a:r>
          </a:p>
        </p:txBody>
      </p:sp>
      <p:sp>
        <p:nvSpPr>
          <p:cNvPr id="3" name="Rectángulo 2">
            <a:extLst>
              <a:ext uri="{FF2B5EF4-FFF2-40B4-BE49-F238E27FC236}">
                <a16:creationId xmlns:a16="http://schemas.microsoft.com/office/drawing/2014/main" id="{3CC4EF9E-88FC-4ACC-B24A-2BFE1FDF1C65}"/>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12</a:t>
            </a:r>
          </a:p>
        </p:txBody>
      </p:sp>
      <mc:AlternateContent xmlns:mc="http://schemas.openxmlformats.org/markup-compatibility/2006" xmlns:a14="http://schemas.microsoft.com/office/drawing/2010/main">
        <mc:Choice Requires="a14">
          <p:sp>
            <p:nvSpPr>
              <p:cNvPr id="4" name="EQ_pred_12_3">
                <a:extLst>
                  <a:ext uri="{FF2B5EF4-FFF2-40B4-BE49-F238E27FC236}">
                    <a16:creationId xmlns:a16="http://schemas.microsoft.com/office/drawing/2014/main" id="{69753A4C-C4C4-4308-8084-2FC817398C95}"/>
                  </a:ext>
                </a:extLst>
              </p:cNvPr>
              <p:cNvSpPr>
                <a:spLocks noGrp="1"/>
              </p:cNvSpPr>
              <p:nvPr/>
            </p:nvSpPr>
            <p:spPr>
              <a:xfrm>
                <a:off x="685800" y="1190625"/>
                <a:ext cx="10763250" cy="1095375"/>
              </a:xfrm>
              <a:prstGeom prst="rect">
                <a:avLst/>
              </a:prstGeom>
              <a:noFill/>
              <a:ln w="0">
                <a:noFill/>
              </a:ln>
            </p:spPr>
            <p:txBody>
              <a:bodyPr/>
              <a:lstStyle/>
              <a:p>
                <a:pPr algn="l"/>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𝐼</m:t>
                          </m:r>
                        </m:e>
                        <m:sub>
                          <m:r>
                            <a:rPr>
                              <a:latin typeface="Cambria Math" panose="02040503050406030204" pitchFamily="18" charset="0"/>
                            </a:rPr>
                            <m:t>𝑗</m:t>
                          </m:r>
                        </m:sub>
                      </m:sSub>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1</m:t>
                          </m:r>
                        </m:num>
                        <m:den>
                          <m:r>
                            <a:rPr>
                              <a:latin typeface="Cambria Math" panose="02040503050406030204" pitchFamily="18" charset="0"/>
                            </a:rPr>
                            <m:t>𝐵</m:t>
                          </m:r>
                        </m:den>
                      </m:f>
                      <m:nary>
                        <m:naryPr>
                          <m:chr m:val="∑"/>
                          <m:limLoc m:val="subSup"/>
                          <m:grow m:val="on"/>
                          <m:ctrlPr>
                            <a:rPr>
                              <a:latin typeface="Cambria Math" panose="02040503050406030204" pitchFamily="18" charset="0"/>
                            </a:rPr>
                          </m:ctrlPr>
                        </m:naryPr>
                        <m:sub>
                          <m:r>
                            <a:rPr>
                              <a:latin typeface="Cambria Math" panose="02040503050406030204" pitchFamily="18" charset="0"/>
                            </a:rPr>
                            <m:t>𝑏</m:t>
                          </m:r>
                          <m:r>
                            <a:rPr>
                              <a:latin typeface="Cambria Math" panose="02040503050406030204" pitchFamily="18" charset="0"/>
                            </a:rPr>
                            <m:t>=1</m:t>
                          </m:r>
                        </m:sub>
                        <m:sup>
                          <m:r>
                            <a:rPr>
                              <a:latin typeface="Cambria Math" panose="02040503050406030204" pitchFamily="18" charset="0"/>
                            </a:rPr>
                            <m:t>𝐵</m:t>
                          </m:r>
                        </m:sup>
                        <m:e>
                          <m:r>
                            <a:rPr>
                              <a:latin typeface="Cambria Math" panose="02040503050406030204" pitchFamily="18" charset="0"/>
                            </a:rPr>
                            <m:t>[</m:t>
                          </m:r>
                        </m:e>
                      </m:nary>
                      <m:sSub>
                        <m:sSubPr>
                          <m:ctrlPr>
                            <a:rPr>
                              <a:latin typeface="Cambria Math" panose="02040503050406030204" pitchFamily="18" charset="0"/>
                            </a:rPr>
                          </m:ctrlPr>
                        </m:sSubPr>
                        <m:e>
                          <m:r>
                            <m:rPr>
                              <m:sty m:val="p"/>
                            </m:rPr>
                            <a:rPr>
                              <a:latin typeface="Cambria Math" panose="02040503050406030204" pitchFamily="18" charset="0"/>
                            </a:rPr>
                            <m:t>RMSE</m:t>
                          </m:r>
                        </m:e>
                        <m:sub>
                          <m:r>
                            <a:rPr>
                              <a:latin typeface="Cambria Math" panose="02040503050406030204" pitchFamily="18" charset="0"/>
                            </a:rPr>
                            <m:t>𝑉</m:t>
                          </m:r>
                        </m:sub>
                      </m:sSub>
                      <m:r>
                        <a:rPr>
                          <a:latin typeface="Cambria Math" panose="02040503050406030204" pitchFamily="18" charset="0"/>
                        </a:rPr>
                        <m:t>(</m:t>
                      </m:r>
                      <m:acc>
                        <m:accPr>
                          <m:chr m:val="ˆ"/>
                          <m:ctrlPr>
                            <a:rPr>
                              <a:latin typeface="Cambria Math" panose="02040503050406030204" pitchFamily="18" charset="0"/>
                            </a:rPr>
                          </m:ctrlPr>
                        </m:accPr>
                        <m:e>
                          <m:r>
                            <a:rPr>
                              <a:latin typeface="Cambria Math" panose="02040503050406030204" pitchFamily="18" charset="0"/>
                            </a:rPr>
                            <m:t>𝑓</m:t>
                          </m:r>
                        </m:e>
                      </m:acc>
                      <m:r>
                        <a:rPr>
                          <a:latin typeface="Cambria Math" panose="02040503050406030204" pitchFamily="18" charset="0"/>
                        </a:rPr>
                        <m:t>,</m:t>
                      </m:r>
                      <m:sSubSup>
                        <m:sSubSupPr>
                          <m:ctrlPr>
                            <a:rPr>
                              <a:latin typeface="Cambria Math" panose="02040503050406030204" pitchFamily="18" charset="0"/>
                            </a:rPr>
                          </m:ctrlPr>
                        </m:sSubSupPr>
                        <m:e>
                          <m:r>
                            <a:rPr>
                              <a:latin typeface="Cambria Math" panose="02040503050406030204" pitchFamily="18" charset="0"/>
                            </a:rPr>
                            <m:t>𝑋</m:t>
                          </m:r>
                        </m:e>
                        <m:sub>
                          <m:r>
                            <a:rPr>
                              <a:latin typeface="Cambria Math" panose="02040503050406030204" pitchFamily="18" charset="0"/>
                            </a:rPr>
                            <m:t>𝑗</m:t>
                          </m:r>
                        </m:sub>
                        <m:sup>
                          <m:sSub>
                            <m:sSubPr>
                              <m:ctrlPr>
                                <a:rPr>
                                  <a:latin typeface="Cambria Math" panose="02040503050406030204" pitchFamily="18" charset="0"/>
                                </a:rPr>
                              </m:ctrlPr>
                            </m:sSubPr>
                            <m:e>
                              <m:r>
                                <a:rPr>
                                  <a:latin typeface="Cambria Math" panose="02040503050406030204" pitchFamily="18" charset="0"/>
                                </a:rPr>
                                <m:t>𝜋</m:t>
                              </m:r>
                            </m:e>
                            <m:sub>
                              <m:r>
                                <a:rPr>
                                  <a:latin typeface="Cambria Math" panose="02040503050406030204" pitchFamily="18" charset="0"/>
                                </a:rPr>
                                <m:t>𝑏</m:t>
                              </m:r>
                            </m:sub>
                          </m:sSub>
                        </m:sup>
                      </m:sSubSup>
                      <m:r>
                        <a:rPr>
                          <a:latin typeface="Cambria Math" panose="02040503050406030204" pitchFamily="18" charset="0"/>
                        </a:rPr>
                        <m:t>)−</m:t>
                      </m:r>
                      <m:sSub>
                        <m:sSubPr>
                          <m:ctrlPr>
                            <a:rPr>
                              <a:latin typeface="Cambria Math" panose="02040503050406030204" pitchFamily="18" charset="0"/>
                            </a:rPr>
                          </m:ctrlPr>
                        </m:sSubPr>
                        <m:e>
                          <m:r>
                            <m:rPr>
                              <m:sty m:val="p"/>
                            </m:rPr>
                            <a:rPr>
                              <a:latin typeface="Cambria Math" panose="02040503050406030204" pitchFamily="18" charset="0"/>
                            </a:rPr>
                            <m:t>RMSE</m:t>
                          </m:r>
                        </m:e>
                        <m:sub>
                          <m:r>
                            <a:rPr>
                              <a:latin typeface="Cambria Math" panose="02040503050406030204" pitchFamily="18" charset="0"/>
                            </a:rPr>
                            <m:t>𝑉</m:t>
                          </m:r>
                        </m:sub>
                      </m:sSub>
                      <m:r>
                        <a:rPr>
                          <a:latin typeface="Cambria Math" panose="02040503050406030204" pitchFamily="18" charset="0"/>
                        </a:rPr>
                        <m:t>(</m:t>
                      </m:r>
                      <m:acc>
                        <m:accPr>
                          <m:chr m:val="ˆ"/>
                          <m:ctrlPr>
                            <a:rPr>
                              <a:latin typeface="Cambria Math" panose="02040503050406030204" pitchFamily="18" charset="0"/>
                            </a:rPr>
                          </m:ctrlPr>
                        </m:accPr>
                        <m:e>
                          <m:r>
                            <a:rPr>
                              <a:latin typeface="Cambria Math" panose="02040503050406030204" pitchFamily="18" charset="0"/>
                            </a:rPr>
                            <m:t>𝑓</m:t>
                          </m:r>
                        </m:e>
                      </m:acc>
                      <m:r>
                        <a:rPr>
                          <a:latin typeface="Cambria Math" panose="02040503050406030204" pitchFamily="18" charset="0"/>
                        </a:rPr>
                        <m:t>,</m:t>
                      </m:r>
                      <m:r>
                        <a:rPr>
                          <a:latin typeface="Cambria Math" panose="02040503050406030204" pitchFamily="18" charset="0"/>
                        </a:rPr>
                        <m:t>𝑋</m:t>
                      </m:r>
                      <m:r>
                        <a:rPr>
                          <a:latin typeface="Cambria Math" panose="02040503050406030204" pitchFamily="18" charset="0"/>
                        </a:rPr>
                        <m:t>)]</m:t>
                      </m:r>
                    </m:oMath>
                  </m:oMathPara>
                </a14:m>
                <a:endParaRPr sz="2400"/>
              </a:p>
            </p:txBody>
          </p:sp>
        </mc:Choice>
        <mc:Fallback xmlns="">
          <p:sp>
            <p:nvSpPr>
              <p:cNvPr id="4" name="EQ_pred_12_3">
                <a:extLst>
                  <a:ext uri="{FF2B5EF4-FFF2-40B4-BE49-F238E27FC236}">
                    <a16:creationId xmlns:a16="http://schemas.microsoft.com/office/drawing/2014/main" id="{69753A4C-C4C4-4308-8084-2FC817398C95}"/>
                  </a:ext>
                </a:extLst>
              </p:cNvPr>
              <p:cNvSpPr>
                <a:spLocks noGrp="1" noRot="1" noChangeAspect="1" noMove="1" noResize="1" noEditPoints="1" noAdjustHandles="1" noChangeArrowheads="1" noChangeShapeType="1" noTextEdit="1"/>
              </p:cNvSpPr>
              <p:nvPr/>
            </p:nvSpPr>
            <p:spPr>
              <a:xfrm>
                <a:off x="685800" y="1190625"/>
                <a:ext cx="10763250" cy="1095375"/>
              </a:xfrm>
              <a:prstGeom prst="rect">
                <a:avLst/>
              </a:prstGeom>
              <a:blipFill>
                <a:blip r:embed="rId3"/>
                <a:stretch>
                  <a:fillRect/>
                </a:stretch>
              </a:blipFill>
              <a:ln w="0">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5" name="EQ_pred_12_4">
                <a:extLst>
                  <a:ext uri="{FF2B5EF4-FFF2-40B4-BE49-F238E27FC236}">
                    <a16:creationId xmlns:a16="http://schemas.microsoft.com/office/drawing/2014/main" id="{5F7002DC-7A7A-4361-9BCC-60796FDBAD18}"/>
                  </a:ext>
                </a:extLst>
              </p:cNvPr>
              <p:cNvSpPr>
                <a:spLocks noGrp="1"/>
              </p:cNvSpPr>
              <p:nvPr/>
            </p:nvSpPr>
            <p:spPr>
              <a:xfrm>
                <a:off x="685800" y="2762250"/>
                <a:ext cx="10763250" cy="857250"/>
              </a:xfrm>
              <a:prstGeom prst="rect">
                <a:avLst/>
              </a:prstGeom>
              <a:noFill/>
              <a:ln w="0">
                <a:noFill/>
              </a:ln>
            </p:spPr>
            <p:txBody>
              <a:bodyPr/>
              <a:lstStyle/>
              <a:p>
                <a:pPr algn="l"/>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𝐽</m:t>
                          </m:r>
                        </m:e>
                        <m:sub>
                          <m:r>
                            <a:rPr>
                              <a:latin typeface="Cambria Math" panose="02040503050406030204" pitchFamily="18" charset="0"/>
                            </a:rPr>
                            <m:t>𝑗</m:t>
                          </m:r>
                        </m:sub>
                      </m:sSub>
                      <m:r>
                        <a:rPr>
                          <a:latin typeface="Cambria Math" panose="02040503050406030204" pitchFamily="18" charset="0"/>
                        </a:rPr>
                        <m:t>=</m:t>
                      </m:r>
                      <m:sSub>
                        <m:sSubPr>
                          <m:ctrlPr>
                            <a:rPr>
                              <a:latin typeface="Cambria Math" panose="02040503050406030204" pitchFamily="18" charset="0"/>
                            </a:rPr>
                          </m:ctrlPr>
                        </m:sSubPr>
                        <m:e>
                          <m:r>
                            <m:rPr>
                              <m:sty m:val="p"/>
                            </m:rPr>
                            <a:rPr>
                              <a:latin typeface="Cambria Math" panose="02040503050406030204" pitchFamily="18" charset="0"/>
                            </a:rPr>
                            <m:t>RMSE</m:t>
                          </m:r>
                        </m:e>
                        <m:sub>
                          <m:r>
                            <a:rPr>
                              <a:latin typeface="Cambria Math" panose="02040503050406030204" pitchFamily="18" charset="0"/>
                            </a:rPr>
                            <m:t>𝑉</m:t>
                          </m:r>
                        </m:sub>
                      </m:sSub>
                      <m:r>
                        <a:rPr>
                          <a:latin typeface="Cambria Math" panose="02040503050406030204" pitchFamily="18" charset="0"/>
                        </a:rPr>
                        <m:t>(</m:t>
                      </m:r>
                      <m:sSub>
                        <m:sSubPr>
                          <m:ctrlPr>
                            <a:rPr i="1">
                              <a:latin typeface="Cambria Math" panose="02040503050406030204" pitchFamily="18" charset="0"/>
                            </a:rPr>
                          </m:ctrlPr>
                        </m:sSubPr>
                        <m:e>
                          <m:acc>
                            <m:accPr>
                              <m:chr m:val="ˆ"/>
                              <m:ctrlPr>
                                <a:rPr>
                                  <a:latin typeface="Cambria Math" panose="02040503050406030204" pitchFamily="18" charset="0"/>
                                </a:rPr>
                              </m:ctrlPr>
                            </m:accPr>
                            <m:e>
                              <m:r>
                                <a:rPr>
                                  <a:latin typeface="Cambria Math" panose="02040503050406030204" pitchFamily="18" charset="0"/>
                                </a:rPr>
                                <m:t>𝑓</m:t>
                              </m:r>
                            </m:e>
                          </m:acc>
                        </m:e>
                        <m:sub>
                          <m:r>
                            <a:rPr>
                              <a:latin typeface="Cambria Math" panose="02040503050406030204" pitchFamily="18" charset="0"/>
                            </a:rPr>
                            <m:t>−</m:t>
                          </m:r>
                          <m:r>
                            <a:rPr>
                              <a:latin typeface="Cambria Math" panose="02040503050406030204" pitchFamily="18" charset="0"/>
                            </a:rPr>
                            <m:t>𝑗</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𝑋</m:t>
                          </m:r>
                        </m:e>
                        <m:sub>
                          <m:r>
                            <a:rPr>
                              <a:latin typeface="Cambria Math" panose="02040503050406030204" pitchFamily="18" charset="0"/>
                            </a:rPr>
                            <m:t>−</m:t>
                          </m:r>
                          <m:r>
                            <a:rPr>
                              <a:latin typeface="Cambria Math" panose="02040503050406030204" pitchFamily="18" charset="0"/>
                            </a:rPr>
                            <m:t>𝑗</m:t>
                          </m:r>
                        </m:sub>
                      </m:sSub>
                      <m:r>
                        <a:rPr>
                          <a:latin typeface="Cambria Math" panose="02040503050406030204" pitchFamily="18" charset="0"/>
                        </a:rPr>
                        <m:t>)−</m:t>
                      </m:r>
                      <m:sSub>
                        <m:sSubPr>
                          <m:ctrlPr>
                            <a:rPr>
                              <a:latin typeface="Cambria Math" panose="02040503050406030204" pitchFamily="18" charset="0"/>
                            </a:rPr>
                          </m:ctrlPr>
                        </m:sSubPr>
                        <m:e>
                          <m:r>
                            <m:rPr>
                              <m:sty m:val="p"/>
                            </m:rPr>
                            <a:rPr>
                              <a:latin typeface="Cambria Math" panose="02040503050406030204" pitchFamily="18" charset="0"/>
                            </a:rPr>
                            <m:t>RMSE</m:t>
                          </m:r>
                        </m:e>
                        <m:sub>
                          <m:r>
                            <a:rPr>
                              <a:latin typeface="Cambria Math" panose="02040503050406030204" pitchFamily="18" charset="0"/>
                            </a:rPr>
                            <m:t>𝑉</m:t>
                          </m:r>
                        </m:sub>
                      </m:sSub>
                      <m:r>
                        <a:rPr>
                          <a:latin typeface="Cambria Math" panose="02040503050406030204" pitchFamily="18" charset="0"/>
                        </a:rPr>
                        <m:t>(</m:t>
                      </m:r>
                      <m:acc>
                        <m:accPr>
                          <m:chr m:val="ˆ"/>
                          <m:ctrlPr>
                            <a:rPr>
                              <a:latin typeface="Cambria Math" panose="02040503050406030204" pitchFamily="18" charset="0"/>
                            </a:rPr>
                          </m:ctrlPr>
                        </m:accPr>
                        <m:e>
                          <m:r>
                            <a:rPr>
                              <a:latin typeface="Cambria Math" panose="02040503050406030204" pitchFamily="18" charset="0"/>
                            </a:rPr>
                            <m:t>𝑓</m:t>
                          </m:r>
                        </m:e>
                      </m:acc>
                      <m:r>
                        <a:rPr>
                          <a:latin typeface="Cambria Math" panose="02040503050406030204" pitchFamily="18" charset="0"/>
                        </a:rPr>
                        <m:t>,</m:t>
                      </m:r>
                      <m:r>
                        <a:rPr>
                          <a:latin typeface="Cambria Math" panose="02040503050406030204" pitchFamily="18" charset="0"/>
                        </a:rPr>
                        <m:t>𝑋</m:t>
                      </m:r>
                      <m:r>
                        <a:rPr>
                          <a:latin typeface="Cambria Math" panose="02040503050406030204" pitchFamily="18" charset="0"/>
                        </a:rPr>
                        <m:t>)</m:t>
                      </m:r>
                    </m:oMath>
                  </m:oMathPara>
                </a14:m>
                <a:endParaRPr sz="2600"/>
              </a:p>
            </p:txBody>
          </p:sp>
        </mc:Choice>
        <mc:Fallback xmlns="">
          <p:sp>
            <p:nvSpPr>
              <p:cNvPr id="5" name="EQ_pred_12_4">
                <a:extLst>
                  <a:ext uri="{FF2B5EF4-FFF2-40B4-BE49-F238E27FC236}">
                    <a16:creationId xmlns:a16="http://schemas.microsoft.com/office/drawing/2014/main" id="{5F7002DC-7A7A-4361-9BCC-60796FDBAD18}"/>
                  </a:ext>
                </a:extLst>
              </p:cNvPr>
              <p:cNvSpPr>
                <a:spLocks noGrp="1" noRot="1" noChangeAspect="1" noMove="1" noResize="1" noEditPoints="1" noAdjustHandles="1" noChangeArrowheads="1" noChangeShapeType="1" noTextEdit="1"/>
              </p:cNvSpPr>
              <p:nvPr/>
            </p:nvSpPr>
            <p:spPr>
              <a:xfrm>
                <a:off x="685800" y="2762250"/>
                <a:ext cx="10763250" cy="857250"/>
              </a:xfrm>
              <a:prstGeom prst="rect">
                <a:avLst/>
              </a:prstGeom>
              <a:blipFill>
                <a:blip r:embed="rId4"/>
                <a:stretch>
                  <a:fillRect t="-4255"/>
                </a:stretch>
              </a:blipFill>
              <a:ln w="0">
                <a:noFill/>
              </a:ln>
            </p:spPr>
            <p:txBody>
              <a:bodyPr/>
              <a:lstStyle/>
              <a:p>
                <a:r>
                  <a:rPr lang="es-CO">
                    <a:noFill/>
                  </a:rPr>
                  <a:t> </a:t>
                </a:r>
              </a:p>
            </p:txBody>
          </p:sp>
        </mc:Fallback>
      </mc:AlternateContent>
      <p:graphicFrame>
        <p:nvGraphicFramePr>
          <p:cNvPr id="12" name="Tabla 11"/>
          <p:cNvGraphicFramePr/>
          <p:nvPr/>
        </p:nvGraphicFramePr>
        <p:xfrm>
          <a:off x="609600" y="4095750"/>
          <a:ext cx="10972800" cy="1619250"/>
        </p:xfrm>
        <a:graphic>
          <a:graphicData uri="http://schemas.openxmlformats.org/drawingml/2006/table">
            <a:tbl>
              <a:tblPr/>
              <a:tblGrid>
                <a:gridCol w="7829550">
                  <a:extLst>
                    <a:ext uri="{9D8B030D-6E8A-4147-A177-3AD203B41FA5}">
                      <a16:colId xmlns:a16="http://schemas.microsoft.com/office/drawing/2014/main" val="20000"/>
                    </a:ext>
                  </a:extLst>
                </a:gridCol>
                <a:gridCol w="3143250">
                  <a:extLst>
                    <a:ext uri="{9D8B030D-6E8A-4147-A177-3AD203B41FA5}">
                      <a16:colId xmlns:a16="http://schemas.microsoft.com/office/drawing/2014/main" val="20001"/>
                    </a:ext>
                  </a:extLst>
                </a:gridCol>
              </a:tblGrid>
              <a:tr h="539750">
                <a:tc>
                  <a:txBody>
                    <a:bodyPr/>
                    <a:lstStyle/>
                    <a:p>
                      <a:r>
                        <a:rPr sz="1875" b="0">
                          <a:solidFill>
                            <a:srgbClr val="172F42"/>
                          </a:solidFill>
                          <a:latin typeface="Arial"/>
                          <a:ea typeface="Arial"/>
                          <a:cs typeface="Arial"/>
                        </a:rPr>
                        <a:t>Horas totales</a:t>
                      </a:r>
                    </a:p>
                  </a:txBody>
                  <a:tcPr marL="95250" marR="95250" marT="57150" marB="57150">
                    <a:solidFill>
                      <a:srgbClr val="EDF3F7"/>
                    </a:solidFill>
                  </a:tcPr>
                </a:tc>
                <a:tc>
                  <a:txBody>
                    <a:bodyPr/>
                    <a:lstStyle/>
                    <a:p>
                      <a:r>
                        <a:rPr sz="1875" b="0">
                          <a:solidFill>
                            <a:srgbClr val="172F42"/>
                          </a:solidFill>
                          <a:latin typeface="Arial"/>
                          <a:ea typeface="Arial"/>
                          <a:cs typeface="Arial"/>
                        </a:rPr>
                        <a:t>Aumento del RMSE</a:t>
                      </a:r>
                    </a:p>
                  </a:txBody>
                  <a:tcPr marL="95250" marR="95250" marT="57150" marB="57150">
                    <a:solidFill>
                      <a:srgbClr val="EDF3F7"/>
                    </a:solidFill>
                  </a:tcPr>
                </a:tc>
                <a:extLst>
                  <a:ext uri="{0D108BD9-81ED-4DB2-BD59-A6C34878D82A}">
                    <a16:rowId xmlns:a16="http://schemas.microsoft.com/office/drawing/2014/main" val="10000"/>
                  </a:ext>
                </a:extLst>
              </a:tr>
              <a:tr h="539750">
                <a:tc>
                  <a:txBody>
                    <a:bodyPr/>
                    <a:lstStyle/>
                    <a:p>
                      <a:r>
                        <a:rPr sz="1875" b="0">
                          <a:solidFill>
                            <a:srgbClr val="172F42"/>
                          </a:solidFill>
                          <a:latin typeface="Arial"/>
                          <a:ea typeface="Arial"/>
                          <a:cs typeface="Arial"/>
                        </a:rPr>
                        <a:t>Permutar y mantener el modelo</a:t>
                      </a:r>
                    </a:p>
                  </a:txBody>
                  <a:tcPr marL="95250" marR="95250" marT="57150" marB="57150">
                    <a:solidFill>
                      <a:srgbClr val="FFFFFF"/>
                    </a:solidFill>
                  </a:tcPr>
                </a:tc>
                <a:tc>
                  <a:txBody>
                    <a:bodyPr/>
                    <a:lstStyle/>
                    <a:p>
                      <a:r>
                        <a:rPr sz="1875" b="0">
                          <a:solidFill>
                            <a:srgbClr val="172F42"/>
                          </a:solidFill>
                          <a:latin typeface="Arial"/>
                          <a:ea typeface="Arial"/>
                          <a:cs typeface="Arial"/>
                        </a:rPr>
                        <a:t>0,1072</a:t>
                      </a:r>
                    </a:p>
                  </a:txBody>
                  <a:tcPr marL="95250" marR="95250" marT="57150" marB="57150">
                    <a:solidFill>
                      <a:srgbClr val="FFFFFF"/>
                    </a:solidFill>
                  </a:tcPr>
                </a:tc>
                <a:extLst>
                  <a:ext uri="{0D108BD9-81ED-4DB2-BD59-A6C34878D82A}">
                    <a16:rowId xmlns:a16="http://schemas.microsoft.com/office/drawing/2014/main" val="10001"/>
                  </a:ext>
                </a:extLst>
              </a:tr>
              <a:tr h="539750">
                <a:tc>
                  <a:txBody>
                    <a:bodyPr/>
                    <a:lstStyle/>
                    <a:p>
                      <a:r>
                        <a:rPr sz="1875" b="0">
                          <a:solidFill>
                            <a:srgbClr val="172F42"/>
                          </a:solidFill>
                          <a:latin typeface="Arial"/>
                          <a:ea typeface="Arial"/>
                          <a:cs typeface="Arial"/>
                        </a:rPr>
                        <a:t>Eliminar y reajustar</a:t>
                      </a:r>
                    </a:p>
                  </a:txBody>
                  <a:tcPr marL="95250" marR="95250" marT="57150" marB="57150">
                    <a:solidFill>
                      <a:srgbClr val="FFFFFF"/>
                    </a:solidFill>
                  </a:tcPr>
                </a:tc>
                <a:tc>
                  <a:txBody>
                    <a:bodyPr/>
                    <a:lstStyle/>
                    <a:p>
                      <a:r>
                        <a:rPr sz="1875" b="0">
                          <a:solidFill>
                            <a:srgbClr val="172F42"/>
                          </a:solidFill>
                          <a:latin typeface="Arial"/>
                          <a:ea typeface="Arial"/>
                          <a:cs typeface="Arial"/>
                        </a:rPr>
                        <a:t>0,0405</a:t>
                      </a:r>
                    </a:p>
                  </a:txBody>
                  <a:tcPr marL="95250" marR="95250" marT="57150" marB="57150">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980964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460F4B81-0DE2-483E-859C-A8C00E1B7A33}"/>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Anexo: elección de la penalización de R6</a:t>
            </a:r>
          </a:p>
        </p:txBody>
      </p:sp>
      <p:sp>
        <p:nvSpPr>
          <p:cNvPr id="2" name="Rectángulo 1">
            <a:extLst>
              <a:ext uri="{FF2B5EF4-FFF2-40B4-BE49-F238E27FC236}">
                <a16:creationId xmlns:a16="http://schemas.microsoft.com/office/drawing/2014/main" id="{09BA581E-A31D-4961-9636-19A5FBF0CF19}"/>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a:solidFill>
                  <a:srgbClr val="526471"/>
                </a:solidFill>
                <a:latin typeface="Arial"/>
                <a:ea typeface="Arial"/>
                <a:cs typeface="Arial"/>
              </a:rPr>
              <a:t>Entrenamiento: 10.263 registros. Validación: 4.500 registros. Fuente: GEIH 2018, Bogotá.</a:t>
            </a:r>
          </a:p>
        </p:txBody>
      </p:sp>
      <p:sp>
        <p:nvSpPr>
          <p:cNvPr id="3" name="Rectángulo 2">
            <a:extLst>
              <a:ext uri="{FF2B5EF4-FFF2-40B4-BE49-F238E27FC236}">
                <a16:creationId xmlns:a16="http://schemas.microsoft.com/office/drawing/2014/main" id="{CF6B9DFE-9D62-4C14-927F-9069C6E3B47E}"/>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13</a:t>
            </a:r>
          </a:p>
        </p:txBody>
      </p:sp>
      <p:graphicFrame>
        <p:nvGraphicFramePr>
          <p:cNvPr id="9" name="Chart"/>
          <p:cNvGraphicFramePr/>
          <p:nvPr/>
        </p:nvGraphicFramePr>
        <p:xfrm>
          <a:off x="666750" y="1333500"/>
          <a:ext cx="10839450" cy="400050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ángulo 4">
            <a:extLst>
              <a:ext uri="{FF2B5EF4-FFF2-40B4-BE49-F238E27FC236}">
                <a16:creationId xmlns:a16="http://schemas.microsoft.com/office/drawing/2014/main" id="{5696F4F1-6682-4305-AE33-22C532FC4236}"/>
              </a:ext>
            </a:extLst>
          </p:cNvPr>
          <p:cNvSpPr>
            <a:spLocks noGrp="1"/>
          </p:cNvSpPr>
          <p:nvPr/>
        </p:nvSpPr>
        <p:spPr>
          <a:xfrm>
            <a:off x="685800" y="5619750"/>
            <a:ext cx="10763250" cy="476250"/>
          </a:xfrm>
          <a:prstGeom prst="rect">
            <a:avLst/>
          </a:prstGeom>
          <a:noFill/>
          <a:ln w="0">
            <a:noFill/>
          </a:ln>
        </p:spPr>
        <p:txBody>
          <a:bodyPr>
            <a:noAutofit/>
          </a:bodyPr>
          <a:lstStyle/>
          <a:p>
            <a:pPr>
              <a:defRPr sz="1950" b="0">
                <a:solidFill>
                  <a:srgbClr val="172F42"/>
                </a:solidFill>
                <a:latin typeface="Arial"/>
                <a:ea typeface="Arial"/>
                <a:cs typeface="Arial"/>
              </a:defRPr>
            </a:pPr>
            <a:r>
              <a:rPr sz="1950" b="0">
                <a:solidFill>
                  <a:srgbClr val="172F42"/>
                </a:solidFill>
                <a:latin typeface="Arial"/>
                <a:ea typeface="Arial"/>
                <a:cs typeface="Arial"/>
              </a:rPr>
              <a:t>λ = 100. Diseño de 338 columnas y 263,91 grados de libertad efectivos.</a:t>
            </a:r>
          </a:p>
        </p:txBody>
      </p:sp>
    </p:spTree>
    <p:extLst>
      <p:ext uri="{BB962C8B-B14F-4D97-AF65-F5344CB8AC3E}">
        <p14:creationId xmlns:p14="http://schemas.microsoft.com/office/powerpoint/2010/main" val="5812004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1979CE6B-6576-4146-9E38-A4570F68CE03}"/>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Anexo: evaluación poblacional con fex_c</a:t>
            </a:r>
          </a:p>
        </p:txBody>
      </p:sp>
      <p:sp>
        <p:nvSpPr>
          <p:cNvPr id="2" name="Rectángulo 1">
            <a:extLst>
              <a:ext uri="{FF2B5EF4-FFF2-40B4-BE49-F238E27FC236}">
                <a16:creationId xmlns:a16="http://schemas.microsoft.com/office/drawing/2014/main" id="{5F43FFC5-5A7E-45E2-87F3-2CF693208455}"/>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a:solidFill>
                  <a:srgbClr val="526471"/>
                </a:solidFill>
                <a:latin typeface="Arial"/>
                <a:ea typeface="Arial"/>
                <a:cs typeface="Arial"/>
              </a:rPr>
              <a:t>Predicción del ingreso laboral en Bogotá. Equipo 02.</a:t>
            </a:r>
          </a:p>
        </p:txBody>
      </p:sp>
      <p:sp>
        <p:nvSpPr>
          <p:cNvPr id="3" name="Rectángulo 2">
            <a:extLst>
              <a:ext uri="{FF2B5EF4-FFF2-40B4-BE49-F238E27FC236}">
                <a16:creationId xmlns:a16="http://schemas.microsoft.com/office/drawing/2014/main" id="{DEB52985-86B2-4765-A818-C94B0DE736A6}"/>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14</a:t>
            </a:r>
          </a:p>
        </p:txBody>
      </p:sp>
      <mc:AlternateContent xmlns:mc="http://schemas.openxmlformats.org/markup-compatibility/2006" xmlns:a14="http://schemas.microsoft.com/office/drawing/2010/main">
        <mc:Choice Requires="a14">
          <p:sp>
            <p:nvSpPr>
              <p:cNvPr id="4" name="EQ_pred_14_5">
                <a:extLst>
                  <a:ext uri="{FF2B5EF4-FFF2-40B4-BE49-F238E27FC236}">
                    <a16:creationId xmlns:a16="http://schemas.microsoft.com/office/drawing/2014/main" id="{F5A5F47D-59CD-479B-B339-8DEB55C178F6}"/>
                  </a:ext>
                </a:extLst>
              </p:cNvPr>
              <p:cNvSpPr>
                <a:spLocks noGrp="1"/>
              </p:cNvSpPr>
              <p:nvPr/>
            </p:nvSpPr>
            <p:spPr>
              <a:xfrm>
                <a:off x="685800" y="1285875"/>
                <a:ext cx="10763250" cy="1047750"/>
              </a:xfrm>
              <a:prstGeom prst="rect">
                <a:avLst/>
              </a:prstGeom>
              <a:noFill/>
              <a:ln w="0">
                <a:noFill/>
              </a:ln>
            </p:spPr>
            <p:txBody>
              <a:bodyPr/>
              <a:lstStyle/>
              <a:p>
                <a:pPr algn="l"/>
                <a14:m>
                  <m:oMathPara xmlns:m="http://schemas.openxmlformats.org/officeDocument/2006/math">
                    <m:oMath>
                      <m:sSub>
                        <m:sSubPr>
                          <m:ctrlPr>
                            <a:rPr>
                              <a:latin typeface="Cambria Math" panose="02040503050406030204" pitchFamily="18" charset="0"/>
                            </a:rPr>
                          </m:ctrlPr>
                        </m:sSubPr>
                        <m:e>
                          <m:r>
                            <m:rPr>
                              <m:sty m:val="p"/>
                            </m:rPr>
                            <a:rPr>
                              <a:latin typeface="Cambria Math" panose="02040503050406030204" pitchFamily="18" charset="0"/>
                            </a:rPr>
                            <m:t>RMSE</m:t>
                          </m:r>
                        </m:e>
                        <m:sub>
                          <m:r>
                            <a:rPr>
                              <a:latin typeface="Cambria Math" panose="02040503050406030204" pitchFamily="18" charset="0"/>
                            </a:rPr>
                            <m:t>𝑉</m:t>
                          </m:r>
                          <m:r>
                            <a:rPr>
                              <a:latin typeface="Cambria Math" panose="02040503050406030204" pitchFamily="18" charset="0"/>
                            </a:rPr>
                            <m:t>,</m:t>
                          </m:r>
                          <m:r>
                            <a:rPr>
                              <a:latin typeface="Cambria Math" panose="02040503050406030204" pitchFamily="18" charset="0"/>
                            </a:rPr>
                            <m:t>𝑤</m:t>
                          </m:r>
                        </m:sub>
                      </m:sSub>
                      <m:r>
                        <a:rPr>
                          <a:latin typeface="Cambria Math" panose="02040503050406030204" pitchFamily="18" charset="0"/>
                        </a:rPr>
                        <m:t>=</m:t>
                      </m:r>
                      <m:rad>
                        <m:radPr>
                          <m:degHide m:val="on"/>
                          <m:ctrlPr>
                            <a:rPr i="1">
                              <a:latin typeface="Cambria Math" panose="02040503050406030204" pitchFamily="18" charset="0"/>
                            </a:rPr>
                          </m:ctrlPr>
                        </m:radPr>
                        <m:deg/>
                        <m:e>
                          <m:f>
                            <m:fPr>
                              <m:ctrlPr>
                                <a:rPr i="1">
                                  <a:latin typeface="Cambria Math" panose="02040503050406030204" pitchFamily="18" charset="0"/>
                                </a:rPr>
                              </m:ctrlPr>
                            </m:fPr>
                            <m:num>
                              <m:nary>
                                <m:naryPr>
                                  <m:chr m:val="∑"/>
                                  <m:limLoc m:val="subSup"/>
                                  <m:grow m:val="on"/>
                                  <m:supHide m:val="on"/>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𝑉</m:t>
                                  </m:r>
                                </m:sub>
                                <m:sup/>
                                <m:e>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𝑖</m:t>
                                      </m:r>
                                    </m:sub>
                                  </m:sSub>
                                </m:e>
                              </m:nary>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𝑖</m:t>
                                  </m:r>
                                </m:sub>
                              </m:sSub>
                              <m:r>
                                <a:rPr>
                                  <a:latin typeface="Cambria Math" panose="02040503050406030204" pitchFamily="18" charset="0"/>
                                </a:rPr>
                                <m:t>−</m:t>
                              </m:r>
                              <m:sSub>
                                <m:sSubPr>
                                  <m:ctrlPr>
                                    <a:rPr i="1">
                                      <a:latin typeface="Cambria Math" panose="02040503050406030204" pitchFamily="18" charset="0"/>
                                    </a:rPr>
                                  </m:ctrlPr>
                                </m:sSubPr>
                                <m:e>
                                  <m:acc>
                                    <m:accPr>
                                      <m:chr m:val="ˆ"/>
                                      <m:ctrlPr>
                                        <a:rPr>
                                          <a:latin typeface="Cambria Math" panose="02040503050406030204" pitchFamily="18" charset="0"/>
                                        </a:rPr>
                                      </m:ctrlPr>
                                    </m:accPr>
                                    <m:e>
                                      <m:r>
                                        <a:rPr>
                                          <a:latin typeface="Cambria Math" panose="02040503050406030204" pitchFamily="18" charset="0"/>
                                        </a:rPr>
                                        <m:t>𝑦</m:t>
                                      </m:r>
                                    </m:e>
                                  </m:acc>
                                </m:e>
                                <m:sub>
                                  <m:r>
                                    <a:rPr>
                                      <a:latin typeface="Cambria Math" panose="02040503050406030204" pitchFamily="18" charset="0"/>
                                    </a:rPr>
                                    <m:t>𝑖</m:t>
                                  </m:r>
                                </m:sub>
                              </m:sSub>
                              <m:sSup>
                                <m:sSupPr>
                                  <m:ctrlPr>
                                    <a:rPr>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2</m:t>
                                  </m:r>
                                </m:sup>
                              </m:sSup>
                            </m:num>
                            <m:den>
                              <m:nary>
                                <m:naryPr>
                                  <m:chr m:val="∑"/>
                                  <m:limLoc m:val="subSup"/>
                                  <m:grow m:val="on"/>
                                  <m:supHide m:val="on"/>
                                  <m:ctrlPr>
                                    <a:rPr>
                                      <a:latin typeface="Cambria Math" panose="02040503050406030204" pitchFamily="18" charset="0"/>
                                    </a:rPr>
                                  </m:ctrlPr>
                                </m:naryPr>
                                <m:sub>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𝑉</m:t>
                                  </m:r>
                                </m:sub>
                                <m:sup/>
                                <m:e>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𝑖</m:t>
                                      </m:r>
                                    </m:sub>
                                  </m:sSub>
                                </m:e>
                              </m:nary>
                            </m:den>
                          </m:f>
                        </m:e>
                      </m:rad>
                      <m:r>
                        <a:rPr>
                          <a:latin typeface="Cambria Math" panose="02040503050406030204" pitchFamily="18" charset="0"/>
                        </a:rPr>
                        <m:t>=0.5342</m:t>
                      </m:r>
                    </m:oMath>
                  </m:oMathPara>
                </a14:m>
                <a:endParaRPr sz="2700"/>
              </a:p>
            </p:txBody>
          </p:sp>
        </mc:Choice>
        <mc:Fallback xmlns="">
          <p:sp>
            <p:nvSpPr>
              <p:cNvPr id="4" name="EQ_pred_14_5">
                <a:extLst>
                  <a:ext uri="{FF2B5EF4-FFF2-40B4-BE49-F238E27FC236}">
                    <a16:creationId xmlns:a16="http://schemas.microsoft.com/office/drawing/2014/main" id="{F5A5F47D-59CD-479B-B339-8DEB55C178F6}"/>
                  </a:ext>
                </a:extLst>
              </p:cNvPr>
              <p:cNvSpPr>
                <a:spLocks noGrp="1" noRot="1" noChangeAspect="1" noMove="1" noResize="1" noEditPoints="1" noAdjustHandles="1" noChangeArrowheads="1" noChangeShapeType="1" noTextEdit="1"/>
              </p:cNvSpPr>
              <p:nvPr/>
            </p:nvSpPr>
            <p:spPr>
              <a:xfrm>
                <a:off x="685800" y="1285875"/>
                <a:ext cx="10763250" cy="1047750"/>
              </a:xfrm>
              <a:prstGeom prst="rect">
                <a:avLst/>
              </a:prstGeom>
              <a:blipFill>
                <a:blip r:embed="rId3"/>
                <a:stretch>
                  <a:fillRect/>
                </a:stretch>
              </a:blipFill>
              <a:ln w="0">
                <a:noFill/>
              </a:ln>
            </p:spPr>
            <p:txBody>
              <a:bodyPr/>
              <a:lstStyle/>
              <a:p>
                <a:r>
                  <a:rPr lang="es-CO">
                    <a:noFill/>
                  </a:rPr>
                  <a:t> </a:t>
                </a:r>
              </a:p>
            </p:txBody>
          </p:sp>
        </mc:Fallback>
      </mc:AlternateContent>
      <p:graphicFrame>
        <p:nvGraphicFramePr>
          <p:cNvPr id="11" name="Tabla 10"/>
          <p:cNvGraphicFramePr/>
          <p:nvPr/>
        </p:nvGraphicFramePr>
        <p:xfrm>
          <a:off x="609600" y="2952750"/>
          <a:ext cx="10972800" cy="2000250"/>
        </p:xfrm>
        <a:graphic>
          <a:graphicData uri="http://schemas.openxmlformats.org/drawingml/2006/table">
            <a:tbl>
              <a:tblPr/>
              <a:tblGrid>
                <a:gridCol w="495300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3543300">
                  <a:extLst>
                    <a:ext uri="{9D8B030D-6E8A-4147-A177-3AD203B41FA5}">
                      <a16:colId xmlns:a16="http://schemas.microsoft.com/office/drawing/2014/main" val="20002"/>
                    </a:ext>
                  </a:extLst>
                </a:gridCol>
              </a:tblGrid>
              <a:tr h="666750">
                <a:tc>
                  <a:txBody>
                    <a:bodyPr/>
                    <a:lstStyle/>
                    <a:p>
                      <a:r>
                        <a:rPr sz="1950" b="0">
                          <a:solidFill>
                            <a:srgbClr val="172F42"/>
                          </a:solidFill>
                          <a:latin typeface="Arial"/>
                          <a:ea typeface="Arial"/>
                          <a:cs typeface="Arial"/>
                        </a:rPr>
                        <a:t>Partición</a:t>
                      </a:r>
                    </a:p>
                  </a:txBody>
                  <a:tcPr marL="95250" marR="95250" marT="57150" marB="57150">
                    <a:solidFill>
                      <a:srgbClr val="EDF3F7"/>
                    </a:solidFill>
                  </a:tcPr>
                </a:tc>
                <a:tc>
                  <a:txBody>
                    <a:bodyPr/>
                    <a:lstStyle/>
                    <a:p>
                      <a:r>
                        <a:rPr sz="1950" b="0">
                          <a:solidFill>
                            <a:srgbClr val="172F42"/>
                          </a:solidFill>
                          <a:latin typeface="Arial"/>
                          <a:ea typeface="Arial"/>
                          <a:cs typeface="Arial"/>
                        </a:rPr>
                        <a:t>Registros</a:t>
                      </a:r>
                    </a:p>
                  </a:txBody>
                  <a:tcPr marL="95250" marR="95250" marT="57150" marB="57150">
                    <a:solidFill>
                      <a:srgbClr val="EDF3F7"/>
                    </a:solidFill>
                  </a:tcPr>
                </a:tc>
                <a:tc>
                  <a:txBody>
                    <a:bodyPr/>
                    <a:lstStyle/>
                    <a:p>
                      <a:r>
                        <a:rPr sz="1950" b="0">
                          <a:solidFill>
                            <a:srgbClr val="172F42"/>
                          </a:solidFill>
                          <a:latin typeface="Arial"/>
                          <a:ea typeface="Arial"/>
                          <a:cs typeface="Arial"/>
                        </a:rPr>
                        <a:t>Personas representadas</a:t>
                      </a:r>
                    </a:p>
                  </a:txBody>
                  <a:tcPr marL="95250" marR="95250" marT="57150" marB="57150">
                    <a:solidFill>
                      <a:srgbClr val="EDF3F7"/>
                    </a:solidFill>
                  </a:tcPr>
                </a:tc>
                <a:extLst>
                  <a:ext uri="{0D108BD9-81ED-4DB2-BD59-A6C34878D82A}">
                    <a16:rowId xmlns:a16="http://schemas.microsoft.com/office/drawing/2014/main" val="10000"/>
                  </a:ext>
                </a:extLst>
              </a:tr>
              <a:tr h="666750">
                <a:tc>
                  <a:txBody>
                    <a:bodyPr/>
                    <a:lstStyle/>
                    <a:p>
                      <a:r>
                        <a:rPr sz="1950" b="0">
                          <a:solidFill>
                            <a:srgbClr val="172F42"/>
                          </a:solidFill>
                          <a:latin typeface="Arial"/>
                          <a:ea typeface="Arial"/>
                          <a:cs typeface="Arial"/>
                        </a:rPr>
                        <a:t>Entrenamiento</a:t>
                      </a:r>
                    </a:p>
                  </a:txBody>
                  <a:tcPr marL="95250" marR="95250" marT="57150" marB="57150">
                    <a:solidFill>
                      <a:srgbClr val="FFFFFF"/>
                    </a:solidFill>
                  </a:tcPr>
                </a:tc>
                <a:tc>
                  <a:txBody>
                    <a:bodyPr/>
                    <a:lstStyle/>
                    <a:p>
                      <a:r>
                        <a:rPr sz="1950" b="0">
                          <a:solidFill>
                            <a:srgbClr val="172F42"/>
                          </a:solidFill>
                          <a:latin typeface="Arial"/>
                          <a:ea typeface="Arial"/>
                          <a:cs typeface="Arial"/>
                        </a:rPr>
                        <a:t>10.263</a:t>
                      </a:r>
                    </a:p>
                  </a:txBody>
                  <a:tcPr marL="95250" marR="95250" marT="57150" marB="57150">
                    <a:solidFill>
                      <a:srgbClr val="FFFFFF"/>
                    </a:solidFill>
                  </a:tcPr>
                </a:tc>
                <a:tc>
                  <a:txBody>
                    <a:bodyPr/>
                    <a:lstStyle/>
                    <a:p>
                      <a:r>
                        <a:rPr sz="1950" b="0">
                          <a:solidFill>
                            <a:srgbClr val="172F42"/>
                          </a:solidFill>
                          <a:latin typeface="Arial"/>
                          <a:ea typeface="Arial"/>
                          <a:cs typeface="Arial"/>
                        </a:rPr>
                        <a:t>2.499.677</a:t>
                      </a:r>
                    </a:p>
                  </a:txBody>
                  <a:tcPr marL="95250" marR="95250" marT="57150" marB="57150">
                    <a:solidFill>
                      <a:srgbClr val="FFFFFF"/>
                    </a:solidFill>
                  </a:tcPr>
                </a:tc>
                <a:extLst>
                  <a:ext uri="{0D108BD9-81ED-4DB2-BD59-A6C34878D82A}">
                    <a16:rowId xmlns:a16="http://schemas.microsoft.com/office/drawing/2014/main" val="10001"/>
                  </a:ext>
                </a:extLst>
              </a:tr>
              <a:tr h="666750">
                <a:tc>
                  <a:txBody>
                    <a:bodyPr/>
                    <a:lstStyle/>
                    <a:p>
                      <a:r>
                        <a:rPr sz="1950" b="0">
                          <a:solidFill>
                            <a:srgbClr val="172F42"/>
                          </a:solidFill>
                          <a:latin typeface="Arial"/>
                          <a:ea typeface="Arial"/>
                          <a:cs typeface="Arial"/>
                        </a:rPr>
                        <a:t>Validación</a:t>
                      </a:r>
                    </a:p>
                  </a:txBody>
                  <a:tcPr marL="95250" marR="95250" marT="57150" marB="57150">
                    <a:solidFill>
                      <a:srgbClr val="FFFFFF"/>
                    </a:solidFill>
                  </a:tcPr>
                </a:tc>
                <a:tc>
                  <a:txBody>
                    <a:bodyPr/>
                    <a:lstStyle/>
                    <a:p>
                      <a:r>
                        <a:rPr sz="1950" b="0">
                          <a:solidFill>
                            <a:srgbClr val="172F42"/>
                          </a:solidFill>
                          <a:latin typeface="Arial"/>
                          <a:ea typeface="Arial"/>
                          <a:cs typeface="Arial"/>
                        </a:rPr>
                        <a:t>4.500</a:t>
                      </a:r>
                    </a:p>
                  </a:txBody>
                  <a:tcPr marL="95250" marR="95250" marT="57150" marB="57150">
                    <a:solidFill>
                      <a:srgbClr val="FFFFFF"/>
                    </a:solidFill>
                  </a:tcPr>
                </a:tc>
                <a:tc>
                  <a:txBody>
                    <a:bodyPr/>
                    <a:lstStyle/>
                    <a:p>
                      <a:r>
                        <a:rPr sz="1950" b="0">
                          <a:solidFill>
                            <a:srgbClr val="172F42"/>
                          </a:solidFill>
                          <a:latin typeface="Arial"/>
                          <a:ea typeface="Arial"/>
                          <a:cs typeface="Arial"/>
                        </a:rPr>
                        <a:t>1.186.729</a:t>
                      </a:r>
                    </a:p>
                  </a:txBody>
                  <a:tcPr marL="95250" marR="95250" marT="57150" marB="57150">
                    <a:solidFill>
                      <a:srgbClr val="FFFFFF"/>
                    </a:solidFill>
                  </a:tcPr>
                </a:tc>
                <a:extLst>
                  <a:ext uri="{0D108BD9-81ED-4DB2-BD59-A6C34878D82A}">
                    <a16:rowId xmlns:a16="http://schemas.microsoft.com/office/drawing/2014/main" val="10002"/>
                  </a:ext>
                </a:extLst>
              </a:tr>
            </a:tbl>
          </a:graphicData>
        </a:graphic>
      </p:graphicFrame>
      <p:sp>
        <p:nvSpPr>
          <p:cNvPr id="6" name="Rectángulo 5">
            <a:extLst>
              <a:ext uri="{FF2B5EF4-FFF2-40B4-BE49-F238E27FC236}">
                <a16:creationId xmlns:a16="http://schemas.microsoft.com/office/drawing/2014/main" id="{4851B3D7-9B76-47A2-BD0C-E30B550A37AF}"/>
              </a:ext>
            </a:extLst>
          </p:cNvPr>
          <p:cNvSpPr>
            <a:spLocks noGrp="1"/>
          </p:cNvSpPr>
          <p:nvPr/>
        </p:nvSpPr>
        <p:spPr>
          <a:xfrm>
            <a:off x="685800" y="5429250"/>
            <a:ext cx="10763250" cy="523875"/>
          </a:xfrm>
          <a:prstGeom prst="rect">
            <a:avLst/>
          </a:prstGeom>
          <a:noFill/>
          <a:ln w="0">
            <a:noFill/>
          </a:ln>
        </p:spPr>
        <p:txBody>
          <a:bodyPr>
            <a:noAutofit/>
          </a:bodyPr>
          <a:lstStyle/>
          <a:p>
            <a:pPr>
              <a:defRPr sz="1875" b="0">
                <a:solidFill>
                  <a:srgbClr val="172F42"/>
                </a:solidFill>
                <a:latin typeface="Arial"/>
                <a:ea typeface="Arial"/>
                <a:cs typeface="Arial"/>
              </a:defRPr>
            </a:pPr>
            <a:r>
              <a:rPr sz="1875" b="0">
                <a:solidFill>
                  <a:srgbClr val="172F42"/>
                </a:solidFill>
                <a:latin typeface="Arial"/>
                <a:ea typeface="Arial"/>
                <a:cs typeface="Arial"/>
              </a:rPr>
              <a:t>El archivo no permite estimar un IC de diseño para estos totales de personas.</a:t>
            </a:r>
          </a:p>
        </p:txBody>
      </p:sp>
    </p:spTree>
    <p:extLst>
      <p:ext uri="{BB962C8B-B14F-4D97-AF65-F5344CB8AC3E}">
        <p14:creationId xmlns:p14="http://schemas.microsoft.com/office/powerpoint/2010/main" val="18949100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A419DDD3-FA97-4BE2-A074-096CDA3C3309}"/>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Anexo: fuentes y equipo</a:t>
            </a:r>
          </a:p>
        </p:txBody>
      </p:sp>
      <p:sp>
        <p:nvSpPr>
          <p:cNvPr id="2" name="Rectángulo 1">
            <a:extLst>
              <a:ext uri="{FF2B5EF4-FFF2-40B4-BE49-F238E27FC236}">
                <a16:creationId xmlns:a16="http://schemas.microsoft.com/office/drawing/2014/main" id="{F08DD965-01A0-4EAD-B1AD-150B83BBC4A2}"/>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dirty="0" err="1">
                <a:solidFill>
                  <a:srgbClr val="526471"/>
                </a:solidFill>
                <a:latin typeface="Arial"/>
                <a:ea typeface="Arial"/>
                <a:cs typeface="Arial"/>
              </a:rPr>
              <a:t>Predicción</a:t>
            </a:r>
            <a:r>
              <a:rPr sz="1125" b="0" dirty="0">
                <a:solidFill>
                  <a:srgbClr val="526471"/>
                </a:solidFill>
                <a:latin typeface="Arial"/>
                <a:ea typeface="Arial"/>
                <a:cs typeface="Arial"/>
              </a:rPr>
              <a:t> del </a:t>
            </a:r>
            <a:r>
              <a:rPr sz="1125" b="0" dirty="0" err="1">
                <a:solidFill>
                  <a:srgbClr val="526471"/>
                </a:solidFill>
                <a:latin typeface="Arial"/>
                <a:ea typeface="Arial"/>
                <a:cs typeface="Arial"/>
              </a:rPr>
              <a:t>ingreso</a:t>
            </a:r>
            <a:r>
              <a:rPr sz="1125" b="0" dirty="0">
                <a:solidFill>
                  <a:srgbClr val="526471"/>
                </a:solidFill>
                <a:latin typeface="Arial"/>
                <a:ea typeface="Arial"/>
                <a:cs typeface="Arial"/>
              </a:rPr>
              <a:t> </a:t>
            </a:r>
            <a:r>
              <a:rPr sz="1125" b="0" dirty="0" err="1">
                <a:solidFill>
                  <a:srgbClr val="526471"/>
                </a:solidFill>
                <a:latin typeface="Arial"/>
                <a:ea typeface="Arial"/>
                <a:cs typeface="Arial"/>
              </a:rPr>
              <a:t>laboral</a:t>
            </a:r>
            <a:r>
              <a:rPr sz="1125" b="0" dirty="0">
                <a:solidFill>
                  <a:srgbClr val="526471"/>
                </a:solidFill>
                <a:latin typeface="Arial"/>
                <a:ea typeface="Arial"/>
                <a:cs typeface="Arial"/>
              </a:rPr>
              <a:t> </a:t>
            </a:r>
            <a:r>
              <a:rPr sz="1125" b="0" dirty="0" err="1">
                <a:solidFill>
                  <a:srgbClr val="526471"/>
                </a:solidFill>
                <a:latin typeface="Arial"/>
                <a:ea typeface="Arial"/>
                <a:cs typeface="Arial"/>
              </a:rPr>
              <a:t>en</a:t>
            </a:r>
            <a:r>
              <a:rPr sz="1125" b="0" dirty="0">
                <a:solidFill>
                  <a:srgbClr val="526471"/>
                </a:solidFill>
                <a:latin typeface="Arial"/>
                <a:ea typeface="Arial"/>
                <a:cs typeface="Arial"/>
              </a:rPr>
              <a:t> Bogotá. Equipo 0</a:t>
            </a:r>
            <a:r>
              <a:rPr lang="es-CO" sz="1125" b="0" dirty="0">
                <a:solidFill>
                  <a:srgbClr val="526471"/>
                </a:solidFill>
                <a:latin typeface="Arial"/>
                <a:ea typeface="Arial"/>
                <a:cs typeface="Arial"/>
              </a:rPr>
              <a:t>1</a:t>
            </a:r>
            <a:r>
              <a:rPr sz="1125" b="0" dirty="0">
                <a:solidFill>
                  <a:srgbClr val="526471"/>
                </a:solidFill>
                <a:latin typeface="Arial"/>
                <a:ea typeface="Arial"/>
                <a:cs typeface="Arial"/>
              </a:rPr>
              <a:t>.</a:t>
            </a:r>
          </a:p>
        </p:txBody>
      </p:sp>
      <p:sp>
        <p:nvSpPr>
          <p:cNvPr id="3" name="Rectángulo 2">
            <a:extLst>
              <a:ext uri="{FF2B5EF4-FFF2-40B4-BE49-F238E27FC236}">
                <a16:creationId xmlns:a16="http://schemas.microsoft.com/office/drawing/2014/main" id="{559C3651-ED60-463B-9D05-5FF5CC5260E2}"/>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15</a:t>
            </a:r>
          </a:p>
        </p:txBody>
      </p:sp>
      <p:sp>
        <p:nvSpPr>
          <p:cNvPr id="4" name="Rectángulo 3">
            <a:extLst>
              <a:ext uri="{FF2B5EF4-FFF2-40B4-BE49-F238E27FC236}">
                <a16:creationId xmlns:a16="http://schemas.microsoft.com/office/drawing/2014/main" id="{073D3BF3-DFB8-4393-A65E-FCF155A7509A}"/>
              </a:ext>
            </a:extLst>
          </p:cNvPr>
          <p:cNvSpPr>
            <a:spLocks noGrp="1"/>
          </p:cNvSpPr>
          <p:nvPr/>
        </p:nvSpPr>
        <p:spPr>
          <a:xfrm>
            <a:off x="685800" y="1428750"/>
            <a:ext cx="10763250" cy="1285875"/>
          </a:xfrm>
          <a:prstGeom prst="rect">
            <a:avLst/>
          </a:prstGeom>
          <a:noFill/>
          <a:ln w="0">
            <a:noFill/>
          </a:ln>
        </p:spPr>
        <p:txBody>
          <a:bodyPr>
            <a:noAutofit/>
          </a:bodyPr>
          <a:lstStyle/>
          <a:p>
            <a:pPr>
              <a:defRPr sz="2025" b="0">
                <a:solidFill>
                  <a:srgbClr val="172F42"/>
                </a:solidFill>
                <a:latin typeface="Arial"/>
                <a:ea typeface="Arial"/>
                <a:cs typeface="Arial"/>
              </a:defRPr>
            </a:pPr>
            <a:r>
              <a:rPr sz="2025" b="0" dirty="0">
                <a:solidFill>
                  <a:srgbClr val="172F42"/>
                </a:solidFill>
                <a:latin typeface="Arial"/>
                <a:ea typeface="Arial"/>
                <a:cs typeface="Arial"/>
              </a:rPr>
              <a:t>GEIH 2018, Bogotá. </a:t>
            </a:r>
            <a:r>
              <a:rPr sz="2025" b="0" dirty="0" err="1">
                <a:solidFill>
                  <a:srgbClr val="172F42"/>
                </a:solidFill>
                <a:latin typeface="Arial"/>
                <a:ea typeface="Arial"/>
                <a:cs typeface="Arial"/>
              </a:rPr>
              <a:t>Microdatos</a:t>
            </a:r>
            <a:r>
              <a:rPr sz="2025" b="0" dirty="0">
                <a:solidFill>
                  <a:srgbClr val="172F42"/>
                </a:solidFill>
                <a:latin typeface="Arial"/>
                <a:ea typeface="Arial"/>
                <a:cs typeface="Arial"/>
              </a:rPr>
              <a:t> y </a:t>
            </a:r>
            <a:r>
              <a:rPr sz="2025" b="0" dirty="0" err="1">
                <a:solidFill>
                  <a:srgbClr val="172F42"/>
                </a:solidFill>
                <a:latin typeface="Arial"/>
                <a:ea typeface="Arial"/>
                <a:cs typeface="Arial"/>
              </a:rPr>
              <a:t>materiales</a:t>
            </a:r>
            <a:r>
              <a:rPr sz="2025" b="0" dirty="0">
                <a:solidFill>
                  <a:srgbClr val="172F42"/>
                </a:solidFill>
                <a:latin typeface="Arial"/>
                <a:ea typeface="Arial"/>
                <a:cs typeface="Arial"/>
              </a:rPr>
              <a:t> del </a:t>
            </a:r>
            <a:r>
              <a:rPr sz="2025" b="0" dirty="0" err="1">
                <a:solidFill>
                  <a:srgbClr val="172F42"/>
                </a:solidFill>
                <a:latin typeface="Arial"/>
                <a:ea typeface="Arial"/>
                <a:cs typeface="Arial"/>
              </a:rPr>
              <a:t>curso</a:t>
            </a:r>
            <a:r>
              <a:rPr sz="2025" b="0" dirty="0">
                <a:solidFill>
                  <a:srgbClr val="172F42"/>
                </a:solidFill>
                <a:latin typeface="Arial"/>
                <a:ea typeface="Arial"/>
                <a:cs typeface="Arial"/>
              </a:rPr>
              <a:t>.</a:t>
            </a:r>
          </a:p>
          <a:p>
            <a:pPr>
              <a:defRPr sz="2025" b="0">
                <a:solidFill>
                  <a:srgbClr val="172F42"/>
                </a:solidFill>
                <a:latin typeface="Arial"/>
                <a:ea typeface="Arial"/>
                <a:cs typeface="Arial"/>
              </a:defRPr>
            </a:pPr>
            <a:r>
              <a:rPr sz="2025" b="0" dirty="0" err="1">
                <a:solidFill>
                  <a:srgbClr val="172F42"/>
                </a:solidFill>
                <a:latin typeface="Arial"/>
                <a:ea typeface="Arial"/>
                <a:cs typeface="Arial"/>
              </a:rPr>
              <a:t>Repositorio</a:t>
            </a:r>
            <a:r>
              <a:rPr sz="2025" b="0" dirty="0">
                <a:solidFill>
                  <a:srgbClr val="172F42"/>
                </a:solidFill>
                <a:latin typeface="Arial"/>
                <a:ea typeface="Arial"/>
                <a:cs typeface="Arial"/>
              </a:rPr>
              <a:t> </a:t>
            </a:r>
            <a:r>
              <a:rPr sz="2025" b="0" dirty="0" err="1">
                <a:solidFill>
                  <a:srgbClr val="172F42"/>
                </a:solidFill>
                <a:latin typeface="Arial"/>
                <a:ea typeface="Arial"/>
                <a:cs typeface="Arial"/>
              </a:rPr>
              <a:t>público</a:t>
            </a:r>
            <a:r>
              <a:rPr sz="2025" b="0" dirty="0">
                <a:solidFill>
                  <a:srgbClr val="172F42"/>
                </a:solidFill>
                <a:latin typeface="Arial"/>
                <a:ea typeface="Arial"/>
                <a:cs typeface="Arial"/>
              </a:rPr>
              <a:t>: </a:t>
            </a:r>
            <a:r>
              <a:rPr lang="es-CO" sz="2025" dirty="0">
                <a:solidFill>
                  <a:srgbClr val="172F42"/>
                </a:solidFill>
                <a:latin typeface="Arial"/>
                <a:ea typeface="Arial"/>
                <a:cs typeface="Arial"/>
              </a:rPr>
              <a:t>ethramos74/BDML-PS01</a:t>
            </a:r>
          </a:p>
          <a:p>
            <a:pPr>
              <a:defRPr sz="2025" b="0">
                <a:solidFill>
                  <a:srgbClr val="172F42"/>
                </a:solidFill>
                <a:latin typeface="Arial"/>
                <a:ea typeface="Arial"/>
                <a:cs typeface="Arial"/>
              </a:defRPr>
            </a:pPr>
            <a:r>
              <a:rPr sz="2025" b="0" dirty="0" err="1">
                <a:solidFill>
                  <a:srgbClr val="172F42"/>
                </a:solidFill>
                <a:latin typeface="Arial"/>
                <a:ea typeface="Arial"/>
                <a:cs typeface="Arial"/>
              </a:rPr>
              <a:t>Cifras</a:t>
            </a:r>
            <a:r>
              <a:rPr sz="2025" b="0" dirty="0">
                <a:solidFill>
                  <a:srgbClr val="172F42"/>
                </a:solidFill>
                <a:latin typeface="Arial"/>
                <a:ea typeface="Arial"/>
                <a:cs typeface="Arial"/>
              </a:rPr>
              <a:t> y </a:t>
            </a:r>
            <a:r>
              <a:rPr sz="2025" b="0" dirty="0" err="1">
                <a:solidFill>
                  <a:srgbClr val="172F42"/>
                </a:solidFill>
                <a:latin typeface="Arial"/>
                <a:ea typeface="Arial"/>
                <a:cs typeface="Arial"/>
              </a:rPr>
              <a:t>ecuaciones</a:t>
            </a:r>
            <a:r>
              <a:rPr sz="2025" b="0" dirty="0">
                <a:solidFill>
                  <a:srgbClr val="172F42"/>
                </a:solidFill>
                <a:latin typeface="Arial"/>
                <a:ea typeface="Arial"/>
                <a:cs typeface="Arial"/>
              </a:rPr>
              <a:t> </a:t>
            </a:r>
            <a:r>
              <a:rPr sz="2025" b="0" dirty="0" err="1">
                <a:solidFill>
                  <a:srgbClr val="172F42"/>
                </a:solidFill>
                <a:latin typeface="Arial"/>
                <a:ea typeface="Arial"/>
                <a:cs typeface="Arial"/>
              </a:rPr>
              <a:t>reproducibles</a:t>
            </a:r>
            <a:r>
              <a:rPr sz="2025" b="0" dirty="0">
                <a:solidFill>
                  <a:srgbClr val="172F42"/>
                </a:solidFill>
                <a:latin typeface="Arial"/>
                <a:ea typeface="Arial"/>
                <a:cs typeface="Arial"/>
              </a:rPr>
              <a:t> </a:t>
            </a:r>
            <a:r>
              <a:rPr sz="2025" b="0" dirty="0" err="1">
                <a:solidFill>
                  <a:srgbClr val="172F42"/>
                </a:solidFill>
                <a:latin typeface="Arial"/>
                <a:ea typeface="Arial"/>
                <a:cs typeface="Arial"/>
              </a:rPr>
              <a:t>en</a:t>
            </a:r>
            <a:r>
              <a:rPr sz="2025" b="0" dirty="0">
                <a:solidFill>
                  <a:srgbClr val="172F42"/>
                </a:solidFill>
                <a:latin typeface="Arial"/>
                <a:ea typeface="Arial"/>
                <a:cs typeface="Arial"/>
              </a:rPr>
              <a:t> el </a:t>
            </a:r>
            <a:r>
              <a:rPr sz="2025" b="0" dirty="0" err="1">
                <a:solidFill>
                  <a:srgbClr val="172F42"/>
                </a:solidFill>
                <a:latin typeface="Arial"/>
                <a:ea typeface="Arial"/>
                <a:cs typeface="Arial"/>
              </a:rPr>
              <a:t>cuaderno</a:t>
            </a:r>
            <a:r>
              <a:rPr sz="2025" b="0" dirty="0">
                <a:solidFill>
                  <a:srgbClr val="172F42"/>
                </a:solidFill>
                <a:latin typeface="Arial"/>
                <a:ea typeface="Arial"/>
                <a:cs typeface="Arial"/>
              </a:rPr>
              <a:t> del punto 3.</a:t>
            </a:r>
          </a:p>
        </p:txBody>
      </p:sp>
      <p:sp>
        <p:nvSpPr>
          <p:cNvPr id="19" name="Rectángulo 18">
            <a:extLst>
              <a:ext uri="{FF2B5EF4-FFF2-40B4-BE49-F238E27FC236}">
                <a16:creationId xmlns:a16="http://schemas.microsoft.com/office/drawing/2014/main" id="{7AD89F91-9821-F44E-DF39-93853FE863E3}"/>
              </a:ext>
            </a:extLst>
          </p:cNvPr>
          <p:cNvSpPr>
            <a:spLocks noGrp="1"/>
          </p:cNvSpPr>
          <p:nvPr/>
        </p:nvSpPr>
        <p:spPr>
          <a:xfrm>
            <a:off x="685800" y="3286125"/>
            <a:ext cx="8096250" cy="400050"/>
          </a:xfrm>
          <a:prstGeom prst="rect">
            <a:avLst/>
          </a:prstGeom>
          <a:noFill/>
          <a:ln w="0">
            <a:noFill/>
          </a:ln>
        </p:spPr>
        <p:txBody>
          <a:bodyPr>
            <a:noAutofit/>
          </a:bodyPr>
          <a:lstStyle/>
          <a:p>
            <a:pPr>
              <a:defRPr sz="1800" b="0">
                <a:solidFill>
                  <a:srgbClr val="172F42"/>
                </a:solidFill>
                <a:latin typeface="Arial"/>
                <a:ea typeface="Arial"/>
                <a:cs typeface="Arial"/>
              </a:defRPr>
            </a:pPr>
            <a:r>
              <a:rPr sz="1800" b="0" dirty="0" err="1">
                <a:solidFill>
                  <a:srgbClr val="172F42"/>
                </a:solidFill>
                <a:latin typeface="Arial"/>
                <a:ea typeface="Arial"/>
                <a:cs typeface="Arial"/>
              </a:rPr>
              <a:t>Integrante</a:t>
            </a:r>
            <a:r>
              <a:rPr sz="1800" b="0" dirty="0">
                <a:solidFill>
                  <a:srgbClr val="172F42"/>
                </a:solidFill>
                <a:latin typeface="Arial"/>
                <a:ea typeface="Arial"/>
                <a:cs typeface="Arial"/>
              </a:rPr>
              <a:t> 1: </a:t>
            </a:r>
            <a:r>
              <a:rPr lang="es-CO" sz="1800" b="0" dirty="0">
                <a:solidFill>
                  <a:srgbClr val="172F42"/>
                </a:solidFill>
                <a:latin typeface="Arial"/>
                <a:ea typeface="Arial"/>
                <a:cs typeface="Arial"/>
              </a:rPr>
              <a:t>Jhon Sebastián Vela Salcedo.</a:t>
            </a:r>
            <a:endParaRPr sz="1800" b="0" dirty="0">
              <a:solidFill>
                <a:srgbClr val="172F42"/>
              </a:solidFill>
              <a:latin typeface="Arial"/>
              <a:ea typeface="Arial"/>
              <a:cs typeface="Arial"/>
            </a:endParaRPr>
          </a:p>
        </p:txBody>
      </p:sp>
      <p:sp>
        <p:nvSpPr>
          <p:cNvPr id="21" name="Rectángulo 20">
            <a:extLst>
              <a:ext uri="{FF2B5EF4-FFF2-40B4-BE49-F238E27FC236}">
                <a16:creationId xmlns:a16="http://schemas.microsoft.com/office/drawing/2014/main" id="{853128C9-E9BA-2859-2431-278F63794B48}"/>
              </a:ext>
            </a:extLst>
          </p:cNvPr>
          <p:cNvSpPr>
            <a:spLocks noGrp="1"/>
          </p:cNvSpPr>
          <p:nvPr/>
        </p:nvSpPr>
        <p:spPr>
          <a:xfrm>
            <a:off x="685800" y="3743325"/>
            <a:ext cx="8096250" cy="400050"/>
          </a:xfrm>
          <a:prstGeom prst="rect">
            <a:avLst/>
          </a:prstGeom>
          <a:noFill/>
          <a:ln w="0">
            <a:noFill/>
          </a:ln>
        </p:spPr>
        <p:txBody>
          <a:bodyPr>
            <a:noAutofit/>
          </a:bodyPr>
          <a:lstStyle/>
          <a:p>
            <a:pPr>
              <a:defRPr sz="1800" b="0">
                <a:solidFill>
                  <a:srgbClr val="172F42"/>
                </a:solidFill>
                <a:latin typeface="Arial"/>
                <a:ea typeface="Arial"/>
                <a:cs typeface="Arial"/>
              </a:defRPr>
            </a:pPr>
            <a:r>
              <a:rPr sz="1800" b="0" dirty="0" err="1">
                <a:solidFill>
                  <a:srgbClr val="172F42"/>
                </a:solidFill>
                <a:latin typeface="Arial"/>
                <a:ea typeface="Arial"/>
                <a:cs typeface="Arial"/>
              </a:rPr>
              <a:t>Integrante</a:t>
            </a:r>
            <a:r>
              <a:rPr sz="1800" b="0" dirty="0">
                <a:solidFill>
                  <a:srgbClr val="172F42"/>
                </a:solidFill>
                <a:latin typeface="Arial"/>
                <a:ea typeface="Arial"/>
                <a:cs typeface="Arial"/>
              </a:rPr>
              <a:t> 2: </a:t>
            </a:r>
            <a:r>
              <a:rPr lang="es-CO" sz="1800" b="0" dirty="0">
                <a:solidFill>
                  <a:srgbClr val="172F42"/>
                </a:solidFill>
                <a:latin typeface="Arial"/>
                <a:ea typeface="Arial"/>
                <a:cs typeface="Arial"/>
              </a:rPr>
              <a:t>Ethan Arturo Ramos Benitez.</a:t>
            </a:r>
            <a:endParaRPr sz="1800" b="0" dirty="0">
              <a:solidFill>
                <a:srgbClr val="172F42"/>
              </a:solidFill>
              <a:latin typeface="Arial"/>
              <a:ea typeface="Arial"/>
              <a:cs typeface="Arial"/>
            </a:endParaRPr>
          </a:p>
        </p:txBody>
      </p:sp>
      <p:sp>
        <p:nvSpPr>
          <p:cNvPr id="23" name="Rectángulo 22">
            <a:extLst>
              <a:ext uri="{FF2B5EF4-FFF2-40B4-BE49-F238E27FC236}">
                <a16:creationId xmlns:a16="http://schemas.microsoft.com/office/drawing/2014/main" id="{BDB42E4F-C5B3-6E7D-9E44-99346B163D5B}"/>
              </a:ext>
            </a:extLst>
          </p:cNvPr>
          <p:cNvSpPr>
            <a:spLocks noGrp="1"/>
          </p:cNvSpPr>
          <p:nvPr/>
        </p:nvSpPr>
        <p:spPr>
          <a:xfrm>
            <a:off x="685800" y="4200525"/>
            <a:ext cx="8096250" cy="400050"/>
          </a:xfrm>
          <a:prstGeom prst="rect">
            <a:avLst/>
          </a:prstGeom>
          <a:noFill/>
          <a:ln w="0">
            <a:noFill/>
          </a:ln>
        </p:spPr>
        <p:txBody>
          <a:bodyPr>
            <a:noAutofit/>
          </a:bodyPr>
          <a:lstStyle/>
          <a:p>
            <a:pPr>
              <a:defRPr sz="1800" b="0">
                <a:solidFill>
                  <a:srgbClr val="172F42"/>
                </a:solidFill>
                <a:latin typeface="Arial"/>
                <a:ea typeface="Arial"/>
                <a:cs typeface="Arial"/>
              </a:defRPr>
            </a:pPr>
            <a:r>
              <a:rPr sz="1800" b="0" dirty="0" err="1">
                <a:solidFill>
                  <a:srgbClr val="172F42"/>
                </a:solidFill>
                <a:latin typeface="Arial"/>
                <a:ea typeface="Arial"/>
                <a:cs typeface="Arial"/>
              </a:rPr>
              <a:t>Integrante</a:t>
            </a:r>
            <a:r>
              <a:rPr sz="1800" b="0" dirty="0">
                <a:solidFill>
                  <a:srgbClr val="172F42"/>
                </a:solidFill>
                <a:latin typeface="Arial"/>
                <a:ea typeface="Arial"/>
                <a:cs typeface="Arial"/>
              </a:rPr>
              <a:t> 3: </a:t>
            </a:r>
            <a:r>
              <a:rPr lang="es-CO" sz="1800" b="0" dirty="0">
                <a:solidFill>
                  <a:srgbClr val="172F42"/>
                </a:solidFill>
                <a:latin typeface="Arial"/>
                <a:ea typeface="Arial"/>
                <a:cs typeface="Arial"/>
              </a:rPr>
              <a:t>Harold Santiago Aguilera </a:t>
            </a:r>
            <a:r>
              <a:rPr lang="es-CO" sz="1800" b="0" dirty="0" err="1">
                <a:solidFill>
                  <a:srgbClr val="172F42"/>
                </a:solidFill>
                <a:latin typeface="Arial"/>
                <a:ea typeface="Arial"/>
                <a:cs typeface="Arial"/>
              </a:rPr>
              <a:t>Mulfo</a:t>
            </a:r>
            <a:r>
              <a:rPr lang="es-CO" sz="1800" b="0" dirty="0">
                <a:solidFill>
                  <a:srgbClr val="172F42"/>
                </a:solidFill>
                <a:latin typeface="Arial"/>
                <a:ea typeface="Arial"/>
                <a:cs typeface="Arial"/>
              </a:rPr>
              <a:t>.</a:t>
            </a:r>
            <a:endParaRPr sz="1800" b="0" dirty="0">
              <a:solidFill>
                <a:srgbClr val="172F42"/>
              </a:solidFill>
              <a:latin typeface="Arial"/>
              <a:ea typeface="Arial"/>
              <a:cs typeface="Arial"/>
            </a:endParaRPr>
          </a:p>
        </p:txBody>
      </p:sp>
      <p:sp>
        <p:nvSpPr>
          <p:cNvPr id="25" name="Rectángulo 24">
            <a:extLst>
              <a:ext uri="{FF2B5EF4-FFF2-40B4-BE49-F238E27FC236}">
                <a16:creationId xmlns:a16="http://schemas.microsoft.com/office/drawing/2014/main" id="{D3C02CC9-1364-DF17-8DCE-7264C79C3C6D}"/>
              </a:ext>
            </a:extLst>
          </p:cNvPr>
          <p:cNvSpPr>
            <a:spLocks noGrp="1"/>
          </p:cNvSpPr>
          <p:nvPr/>
        </p:nvSpPr>
        <p:spPr>
          <a:xfrm>
            <a:off x="685800" y="4657725"/>
            <a:ext cx="8096250" cy="400050"/>
          </a:xfrm>
          <a:prstGeom prst="rect">
            <a:avLst/>
          </a:prstGeom>
          <a:noFill/>
          <a:ln w="0">
            <a:noFill/>
          </a:ln>
        </p:spPr>
        <p:txBody>
          <a:bodyPr>
            <a:noAutofit/>
          </a:bodyPr>
          <a:lstStyle/>
          <a:p>
            <a:pPr>
              <a:defRPr sz="1800" b="0">
                <a:solidFill>
                  <a:srgbClr val="172F42"/>
                </a:solidFill>
                <a:latin typeface="Arial"/>
                <a:ea typeface="Arial"/>
                <a:cs typeface="Arial"/>
              </a:defRPr>
            </a:pPr>
            <a:r>
              <a:rPr sz="1800" b="0" dirty="0" err="1">
                <a:solidFill>
                  <a:srgbClr val="172F42"/>
                </a:solidFill>
                <a:latin typeface="Arial"/>
                <a:ea typeface="Arial"/>
                <a:cs typeface="Arial"/>
              </a:rPr>
              <a:t>Integrante</a:t>
            </a:r>
            <a:r>
              <a:rPr sz="1800" b="0" dirty="0">
                <a:solidFill>
                  <a:srgbClr val="172F42"/>
                </a:solidFill>
                <a:latin typeface="Arial"/>
                <a:ea typeface="Arial"/>
                <a:cs typeface="Arial"/>
              </a:rPr>
              <a:t> 4: </a:t>
            </a:r>
            <a:r>
              <a:rPr lang="es-CO" sz="1800" b="0" dirty="0">
                <a:solidFill>
                  <a:srgbClr val="172F42"/>
                </a:solidFill>
                <a:latin typeface="Arial"/>
                <a:ea typeface="Arial"/>
                <a:cs typeface="Arial"/>
              </a:rPr>
              <a:t>Cesar Augusto Vallejo Quiroga.</a:t>
            </a:r>
            <a:endParaRPr sz="1800" b="0" dirty="0">
              <a:solidFill>
                <a:srgbClr val="172F42"/>
              </a:solidFill>
              <a:latin typeface="Arial"/>
              <a:ea typeface="Arial"/>
              <a:cs typeface="Arial"/>
            </a:endParaRPr>
          </a:p>
        </p:txBody>
      </p:sp>
    </p:spTree>
    <p:extLst>
      <p:ext uri="{BB962C8B-B14F-4D97-AF65-F5344CB8AC3E}">
        <p14:creationId xmlns:p14="http://schemas.microsoft.com/office/powerpoint/2010/main" val="138862464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TotalTime>
  <Words>3934</Words>
  <Application>Microsoft Office PowerPoint</Application>
  <DocSecurity>0</DocSecurity>
  <PresentationFormat>Panorámica</PresentationFormat>
  <Paragraphs>420</Paragraphs>
  <Slides>19</Slides>
  <Notes>17</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19</vt:i4>
      </vt:variant>
    </vt:vector>
  </HeadingPairs>
  <TitlesOfParts>
    <vt:vector size="23" baseType="lpstr">
      <vt:lpstr>Arial</vt:lpstr>
      <vt:lpstr>Calibri</vt:lpstr>
      <vt:lpstr>Cambria Math</vt:lpstr>
      <vt:lpstr>ChatGPT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Jhon Sebastian Vela Salcedo</cp:lastModifiedBy>
  <cp:revision>2</cp:revision>
  <dcterms:created xsi:type="dcterms:W3CDTF">2026-09-08T21:14:00Z</dcterms:created>
  <dcterms:modified xsi:type="dcterms:W3CDTF">2026-09-09T22:22:59Z</dcterms:modified>
</cp:coreProperties>
</file>